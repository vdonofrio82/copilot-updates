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biggest architectural shifts for Copilot cloud agent this spring. Previously the agent only worked through pull requests. Now you can work on a branch directly and only open a PR when satisfied. The planning mode is a real productivity multiplier: ask Copilot to lay out a plan first, review it, then let it execute. This avoids the classic "AI went off in the wrong direction for 20 commits" problem. The deep research mode is great for onboarding and legacy code exploration. All commits are now signed as Verified. There's a prompt-injection firewall built in. For a great demo, pick a well-known open source repo, ask Copilot to research a subsystem, review the plan, then watch it implement on a branch.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significant unlock for enterprises with strict data sovereignty or air-gap requirements. Copilot CLI can now be pointed at any OpenAI-compatible endpoint — including Azure OpenAI, Anthropic, or a locally running Ollama instance — by setting a few environment variables. Setting COPILOT_OFFLINE=true fully disables telemetry, making it suitable for classified or regulated environments. GitHub auth is optional in BYOK mode. Sub-agents like "explore" and "task" automatically inherit the provider config. If something's misconfigured, the CLI gives you an actionable error rather than silently degrading. For a demo, show setting up Copilot CLI with a local Ollama model and running a code review session entirely offline. This resonates strongly with financial services, government, and defense customers.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residency has been one of the most requested enterprise features for Copilot, and it's now live for US and EU customers. Every part of the Copilot experience routes exclusively through data-resident infrastructure. This is a huge unlock for regulated industries like finance, healthcare, and public sector. EU customers get coverage aligned with the Microsoft EU Data Boundary, and US government customers get FedRAMP Moderate compliance. Note the 10% model multiplier — for regulated customers this is simply the cost of compliance. Admins enable it in Copilot settings; it's off by default. Gemini models aren't yet supported because Google Cloud doesn't offer data-resident inference. Japan and Australia regions are coming later this year. Good demo angle: show the admin toggle in settings and the model availability matrix in the docs.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MCP usage grows, controlling which MCP servers can be invoked is a critical security concern — especially in regulated industries. This update closes a gap by extending the MCP allowlist policy to the terminal. Admins configure a custom registry URL in the Copilot policies settings, and the CLI enforces it at runtime. If a developer tries to call an unlisted MCP server, it's blocked. Public preview available today for Copilot Business and Enterprise. Good demo: show the admin policy configuration, then demonstrate an attempt to connect to a non-allowlisted server getting blocked versus an allowlisted one succeeding.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this, managing agent skills meant manually copying folders and files to different locations for each AI agent — error-prone and non-reproducible. The `gh skill` command brings npm-style package management to agent skills. You can search for skills across GitHub, install them with version pinning, update them when content changes, and publish your own. The spec is open, so skills work across Copilot, Claude Code, Cursor, Codex, and Gemini CLI. Version pinning and SHA tracking are critical for supply chain security since skills can execute code. Great demo: run `gh skill search` to find a documentation-writing skill, install it pinned to a version, then show it working in Copilot.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 model selection is now GA in Copilot CLI. Instead of manually picking a model for every session, the CLI automatically routes to the best model for your request — whether that's GPT-5.4, Codex, or a Claude model — while staying within your organization's policy constraints. It also mitigates rate limit friction by routing around congestion. Transparency is built in: the CLI tells you exactly which model handled each request. There's even a 10% billing discount when using auto mode. Admins don't need to do anything — it respects existing policies. Good demo angle: run a few complex coding tasks in auto mode and show the model selection output.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BYOK in VS Code is now generally available for Copilot Business and Enterprise. This lets teams plug in their own API keys for models from Anthropic, OpenAI, Azure, Gemini, and even local models via Ollama. The key differentiator: usage goes directly through the provider and doesn't touch your Copilot request quotas. This is a strong value proposition for organizations with existing enterprise agreements with model providers or that need to use specific models for compliance reasons. It's scoped to VS Code Chat — completions aren't affected. A great demo: show installing a third-party language model extension, connecting your own Anthropic key, and using Claude models in VS Code Chat alongside regular Copilot features.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is notoriously difficult for AI coding tools because of its complexity — macros, templates, include hierarchies, and build dependencies all conspire to make naive text-search approaches unreliable. This update brings the Microsoft C++ Language Server — the same engine powering IntelliSense in Visual Studio and VS Code — to the Copilot CLI. The CLI can now answer questions about symbol definitions, call hierarchies, and type information with real semantic accuracy. The key requirement is a compile_commands.json file. For a great demo, take a large open-source C++ project like LLVM or OpenCV, load it in the CLI, and show precise go-to-definition and refactoring suggestions. This is a big win for embedded systems, game dev, and high-performance computing teams.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GPT-5.5 is generally available in GitHub Copilot as of April 24, 2026. This is OpenAI's latest flagship model, showing its biggest gains on complex, agentic, multi-step coding tasks. For lighter autocomplete, the improvement may be less noticeable, but for deep refactors, long sessions with many tool calls, and challenging algorithmic problems, GPT-5.5 is a clear step up. The 7.5x premium request multiplier is significant — budget-sensitive organizations should test it on high-value tasks to determine ROI. Admins on Business and Enterprise need to explicitly enable the GPT-5.5 policy before users can access it. For a strong demo, take a complex multi-file refactoring task and compare GPT-5.5 results side-by-side with an earlier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JetBrains users have been waiting for inline agent mode, and it's now in public preview. The big workflow change: instead of switching to the chat panel to run agentic tasks, you can invoke agent mode directly inline in the editor. This keeps developers in the flow. Next Edit Suggestions now show as inline inlay previews so you can see the proposed change in context, and gutter indicators help jump to off-screen suggestions. The global auto-approve option should be flagged carefully — it approves all tool calls including destructive ones. Enterprise customers with admins need to enable "Editor preview features." Good demo: show the inline agent mode workflow for a complex refactoring task entirely within the code editor, then demonstrate jumping between Next Edit Suggestions using gutter indicators.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reporting quality-of-life improvement that matters for engineering leaders trying to understand total Copilot ROI. Previously, CLI usage was siloed in a separate totals_by_cli section, so top-level adoption metrics understated actual usage for teams relying heavily on the CLI. Now CLI is counted alongside IDE usage in all the main fields. It shows up as a distinct feature (copilot_cli) in the feature breakdowns, so you can still isolate it if needed. The important heads-up: dashboards treating these top-level fields as IDE-only will see higher numbers — that's expected, not a bug. Admins should review thresholds before the next reporting cycle.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and Codex agent users can now pick which specific model drives their session on github.com. For Claude, you can choose between Opus 4.x and Sonnet 4.x variants based on whether you need maximum capability or faster throughput. For Codex, GPT-5.2-Codex through GPT-5.4 are available. This is included in existing subscriptions — you just need the feature enabled by an admin if on Business or Enterprise. Good demo: show switching between Claude Sonnet and Opus on the same complex task and compare quality vs. speed tradeoffs.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Previously, enabling the Copilot cloud agent was a global switch. Now admins can use custom properties to target specific organizations, or use new REST API endpoints to manage access programmatically. The UI gets a new "Enabled for selected organizations" option in the AI Controls settings. One important nuance: property-based access is only evaluated at configuration time — if an org's properties change later, the access doesn't update automatically. This is a key enterprise governance feature for Copilot cloud agent adoption. Good demo: show the AI Controls settings page with the per-org toggle and a quick REST API call to add an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reporting improvement matters for engineering leaders making data-driven decisions about Copilot code review rollout. Previous metrics didn't distinguish between developers actively choosing to use Copilot code review versus those whose reviews were triggered automatically by policy. Now there are six new fields covering daily, weekly, and monthly breakdowns of both active and passive users. Active users deliberately requested a review or applied a suggestion; passive users had reviews triggered by policy but didn't engage. If you're both, you're only counted as active. This lets teams see true adoption curves separate from policy enforcement numbers. The fields appear automatically in existing reports, so no migration work is needed.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Copilot for Jira is growing into a real workflow automation layer. The five new features all target the same goal: making the Copilot cloud agent a configurable, policy-aware participant in Jira-driven delivery workflows. Custom agents let teams specify exactly which Copilot agent to use for different types of tickets. Custom field support means Copilot reads acceptance criteria and other structured fields, so implementations are more accurate from the start. Branch naming rule compliance is a big win for teams with naming conventions. Space-level instructions cut the overhead of configuring each session. And review notifications close the loop by posting a comment when Copilot opens a PR. Good demo: create a Jira ticket with acceptance criteria, trigger the Copilot agent, and show the resulting branch name, PR, and Jira notification.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infrastructure migration that primarily affects enterprise customers with firewall or proxy allowlists. The download URLs for Copilot usage metrics reports are moving from volatile Azure Front Door URLs to stable, GitHub-owned domains on May 20, 2026. For github.com customers the new domain is copilot-reports.github.com. For ghe.com customers it's copilot-reports.*.ghe.com. If your org uses automated report downloads or has strict firewall rules, update your allowlists before May 20 to avoid disruptions. There's also a potential fallback to Azure Blob Storage URLs — it's worth adding *.blob.core.windows.net as well for full resilience. The old domains continue to work through the transition period.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 trace debugging is one of the most common developer pain points — you paste an error into a chat assistant and get a generic explanation. This update changes that. Copilot Chat on the web now recognizes stack traces reliably and responds with a structured six-part analysis: what failed and where, why it failed, the most likely root cause, evidence from your actual codebase, a confidence level, and suggested next steps. The confidence scoring is useful — it tells you how certain Copilot is so you know whether to trust it immediately or investigate further. Available now for anyone using Copilot on github.com. Great demo: take a real stack trace from a known bug, paste it into Copilot Chat on the web with the repo as context, and walk through the structured response.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Copilot Chat's pull request capabilities have taken a significant step forward. Previously, asking about a PR gave limited context — now it uses all available data: comments, file changes, commits, and reviews. Three new headline capabilities: PR understanding, PR review with structured feedback, and PR summary. Available for all Copilot subscribers through global Copilot navigation on any github.com page. The diff-level Copilot button for asking questions inline is in public preview. Great demo: open a non-trivial PR with multiple commits and file changes, ask Copilot to summarize it and then review it, and show how it references the actual diff context.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naming migration that aligns the metrics API with the product rebrand from "Copilot coding agent" to "Copilot cloud agent." A new boolean field — used_copilot_cloud_agent — now appears in user-level reports alongside the old used_copilot_coding_agent field. Both return the same value during the transition period, which runs until August 1, 2026. After that date, the old field will be deprecated. This is mainly important for teams that have built dashboards, reports, or automations against the metrics API — they need to update to the new field name before the deadline. The migration itself is simple (just a field rename). Good demo: show a side-by-side API response with both fields, then show an updated dashboard using the new field name.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update treats AI agents as first-class collaborators in GitHub's project management surfaces. Instead of navigating to a separate view to check on Copilot, you now see a session pill right in the issue header showing whether an agent is queued, working, waiting for review, or done. Clicking the session opens a side panel with full logs and the ability to steer the agent. In GitHub Projects, agent sessions are visible by default on all boards and tables. This works for Copilot, Claude, Codex, and future third-party agents. Good demo: assign a complex issue to Copilot, then walk through the issue header pill, the session side panel with live logs, and the Projects board showing the session progress alongside other issues.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second major cold-start improvement for Copilot cloud agent in two months — March brought a 50% reduction, and now April adds another 20%+. The mechanism is straightforward: the runner environment is now prebuilt as a custom GitHub Actions image rather than being set up from scratch on each invocation. For teams running many agent sessions per day, the cumulative time savings are meaningful. This also deepens the Copilot-Actions integration story. The improvement is fully automatic — no configuration needed. Good demo: trigger a cloud agent session and show the startup time, referencing the March/April improvement timeline to show the trajectory of investment in this area.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important heads-up for all Copilot customers using code review. Starting June 1 2026, Copilot code review in private repos will consume both AI credits and GitHub Actions minutes. The reason is that the code review agent has moved to a full agentic architecture that runs on GitHub Actions runners to access broader repository context. Public repos are unaffected. Customers should check their current Actions usage and set spending limits now to avoid surprises. Budget-sensitive organizations may want to review how frequently code review is triggered — auto-triggered reviews on every push could add up quickly for high-volume repos. The good news is the enhanced architecture should mean better review quality. Good demo: show the billing settings page with spending limit controls and explain the code review architecture change.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has paused new sign-ups for Copilot Pro, Pro+, and Student plans, citing increased compute costs from the growing adoption of agentic workflows. Copilot Free remains open. Existing subscribers can still use their plans. Opus-class models have been removed from Copilot Pro entirely, and Opus 4.5 and 4.6 will be removed from Pro+ soon. Usage limits are also tighter on all individual plans. The refund window closes May 20, so subscribers who want to exit should act quickly. GitHub has described these as temporary measures to protect service quality. For enterprise customers, this doesn't apply — it's individual plan-specific. Position this as GitHub investing in sustainability so that the quality of the agentic experience isn't degraded for all customers.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is pausing new self-serve signups for Copilot Business on GitHub Free and Team plans. This specifically targets new organizations signing up for the first time — existing Copilot Business customers are completely unaffected and can still add seats. The reason is infrastructure capacity: the rapid growth of agentic workflows has driven up compute demand significantly, and GitHub is managing this to protect service quality for current customers. GitHub Enterprise customers are not affected at all. The timing of resumption hasn't been announced, but GitHub has committed to communicating when signups reopen. Position this as GitHub managing responsible growth of the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914400" y="1828800"/>
            <a:ext cx="10362895" cy="1371600"/>
          </a:xfrm>
          <a:prstGeom prst="rect">
            <a:avLst/>
          </a:prstGeom>
          <a:noFill/>
        </p:spPr>
        <p:txBody>
          <a:bodyPr wrap="square">
            <a:spAutoFit/>
          </a:bodyPr>
          <a:lstStyle/>
          <a:p>
            <a:pPr algn="ctr">
              <a:defRPr sz="4400" b="1">
                <a:solidFill>
                  <a:srgbClr val="4493F8"/>
                </a:solidFill>
                <a:latin typeface="Mona Sans"/>
              </a:defRPr>
            </a:pPr>
            <a:r>
              <a:t>GitHub Copilot Updates</a:t>
            </a:r>
          </a:p>
        </p:txBody>
      </p:sp>
      <p:sp>
        <p:nvSpPr>
          <p:cNvPr id="3" name="TextBox 2"/>
          <p:cNvSpPr txBox="1"/>
          <p:nvPr/>
        </p:nvSpPr>
        <p:spPr>
          <a:xfrm>
            <a:off x="914400" y="3474720"/>
            <a:ext cx="10362895" cy="914400"/>
          </a:xfrm>
          <a:prstGeom prst="rect">
            <a:avLst/>
          </a:prstGeom>
          <a:noFill/>
        </p:spPr>
        <p:txBody>
          <a:bodyPr wrap="square">
            <a:spAutoFit/>
          </a:bodyPr>
          <a:lstStyle/>
          <a:p>
            <a:pPr algn="ctr">
              <a:defRPr sz="2400" b="0">
                <a:solidFill>
                  <a:srgbClr val="C9D1D9"/>
                </a:solidFill>
                <a:latin typeface="Mona Sans"/>
              </a:defRPr>
            </a:pPr>
            <a:r>
              <a:t>2026-04-01  →  2026-04-27</a:t>
            </a:r>
          </a:p>
        </p:txBody>
      </p:sp>
      <p:sp>
        <p:nvSpPr>
          <p:cNvPr id="4" name="TextBox 3"/>
          <p:cNvSpPr txBox="1"/>
          <p:nvPr/>
        </p:nvSpPr>
        <p:spPr>
          <a:xfrm>
            <a:off x="914400" y="4389120"/>
            <a:ext cx="10362895" cy="548640"/>
          </a:xfrm>
          <a:prstGeom prst="rect">
            <a:avLst/>
          </a:prstGeom>
          <a:noFill/>
        </p:spPr>
        <p:txBody>
          <a:bodyPr wrap="square">
            <a:spAutoFit/>
          </a:bodyPr>
          <a:lstStyle/>
          <a:p>
            <a:pPr algn="ctr">
              <a:defRPr sz="1400" b="0">
                <a:solidFill>
                  <a:srgbClr val="848D97"/>
                </a:solidFill>
                <a:latin typeface="Mona Sans"/>
              </a:defRPr>
            </a:pPr>
            <a:r>
              <a:t>Labels: Copilot</a:t>
            </a:r>
          </a:p>
        </p:txBody>
      </p:sp>
      <p:sp>
        <p:nvSpPr>
          <p:cNvPr id="5" name="TextBox 4"/>
          <p:cNvSpPr txBox="1"/>
          <p:nvPr/>
        </p:nvSpPr>
        <p:spPr>
          <a:xfrm>
            <a:off x="914400" y="5029200"/>
            <a:ext cx="10362895" cy="548640"/>
          </a:xfrm>
          <a:prstGeom prst="rect">
            <a:avLst/>
          </a:prstGeom>
          <a:noFill/>
        </p:spPr>
        <p:txBody>
          <a:bodyPr wrap="square">
            <a:spAutoFit/>
          </a:bodyPr>
          <a:lstStyle/>
          <a:p>
            <a:pPr algn="ctr">
              <a:defRPr sz="1400" b="0">
                <a:solidFill>
                  <a:srgbClr val="848D97"/>
                </a:solidFill>
                <a:latin typeface="Mona Sans"/>
              </a:defRPr>
            </a:pPr>
            <a:r>
              <a:t>Source: github.blog/changelog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914400" y="2286000"/>
            <a:ext cx="10362895" cy="1371600"/>
          </a:xfrm>
          <a:prstGeom prst="rect">
            <a:avLst/>
          </a:prstGeom>
          <a:noFill/>
        </p:spPr>
        <p:txBody>
          <a:bodyPr wrap="square">
            <a:spAutoFit/>
          </a:bodyPr>
          <a:lstStyle/>
          <a:p>
            <a:pPr algn="ctr">
              <a:defRPr sz="4000" b="1">
                <a:solidFill>
                  <a:srgbClr val="3FB950"/>
                </a:solidFill>
                <a:latin typeface="Mona Sans"/>
              </a:defRPr>
            </a:pPr>
            <a:r>
              <a:t>🚀  New Releases</a:t>
            </a:r>
          </a:p>
        </p:txBody>
      </p:sp>
      <p:sp>
        <p:nvSpPr>
          <p:cNvPr id="3" name="TextBox 2"/>
          <p:cNvSpPr txBox="1"/>
          <p:nvPr/>
        </p:nvSpPr>
        <p:spPr>
          <a:xfrm>
            <a:off x="914400" y="3840480"/>
            <a:ext cx="10362895" cy="731520"/>
          </a:xfrm>
          <a:prstGeom prst="rect">
            <a:avLst/>
          </a:prstGeom>
          <a:noFill/>
        </p:spPr>
        <p:txBody>
          <a:bodyPr wrap="square">
            <a:spAutoFit/>
          </a:bodyPr>
          <a:lstStyle/>
          <a:p>
            <a:pPr algn="ctr">
              <a:defRPr sz="2000" b="0">
                <a:solidFill>
                  <a:srgbClr val="848D97"/>
                </a:solidFill>
                <a:latin typeface="Mona Sans"/>
              </a:defRPr>
            </a:pPr>
            <a:r>
              <a:t>10 updates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2026-04-01</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Research, plan, and code with Copilot cloud agent</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Research, plan, and code with Copilot cloud agent</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2026-04-01</a:t>
            </a:r>
          </a:p>
        </p:txBody>
      </p:sp>
      <p:sp>
        <p:nvSpPr>
          <p:cNvPr id="5" name="TextBox 4"/>
          <p:cNvSpPr txBox="1"/>
          <p:nvPr/>
        </p:nvSpPr>
        <p:spPr>
          <a:xfrm>
            <a:off x="731520" y="1005840"/>
            <a:ext cx="10515600" cy="4749800"/>
          </a:xfrm>
          <a:prstGeom prst="rect">
            <a:avLst/>
          </a:prstGeom>
          <a:noFill/>
        </p:spPr>
        <p:txBody>
          <a:bodyPr wrap="square">
            <a:spAutoFit/>
          </a:bodyPr>
          <a:lstStyle/>
          <a:p>
            <a:pPr>
              <a:spcBef>
                <a:spcPts val="500"/>
              </a:spcBef>
              <a:spcAft>
                <a:spcPts val="400"/>
              </a:spcAft>
            </a:pPr>
            <a:r>
              <a:rPr sz="1300" b="1">
                <a:solidFill>
                  <a:srgbClr val="E6EDF3"/>
                </a:solidFill>
                <a:latin typeface="Mona Sans"/>
              </a:rPr>
              <a:t>What's new</a:t>
            </a:r>
          </a:p>
          <a:p>
            <a:pPr>
              <a:spcAft>
                <a:spcPts val="500"/>
              </a:spcAft>
            </a:pPr>
            <a:r>
              <a:rPr sz="1100" b="1">
                <a:solidFill>
                  <a:srgbClr val="E6EDF3"/>
                </a:solidFill>
                <a:latin typeface="Mona Sans"/>
              </a:rPr>
              <a:t>Copilot cloud agent</a:t>
            </a:r>
            <a:r>
              <a:rPr sz="1100">
                <a:solidFill>
                  <a:srgbClr val="C9D1D9"/>
                </a:solidFill>
                <a:latin typeface="Mona Sans"/>
              </a:rPr>
              <a:t> now supports branch-based workflows, </a:t>
            </a:r>
            <a:r>
              <a:rPr sz="1100" b="1">
                <a:solidFill>
                  <a:srgbClr val="E6EDF3"/>
                </a:solidFill>
                <a:latin typeface="Mona Sans"/>
              </a:rPr>
              <a:t>implementation planning</a:t>
            </a:r>
            <a:r>
              <a:rPr sz="1100">
                <a:solidFill>
                  <a:srgbClr val="C9D1D9"/>
                </a:solidFill>
                <a:latin typeface="Mona Sans"/>
              </a:rPr>
              <a:t>, and </a:t>
            </a:r>
            <a:r>
              <a:rPr sz="1100" b="1">
                <a:solidFill>
                  <a:srgbClr val="E6EDF3"/>
                </a:solidFill>
                <a:latin typeface="Mona Sans"/>
              </a:rPr>
              <a:t>deep research sessions</a:t>
            </a:r>
            <a:r>
              <a:rPr sz="1100">
                <a:solidFill>
                  <a:srgbClr val="C9D1D9"/>
                </a:solidFill>
                <a:latin typeface="Mona Sans"/>
              </a:rPr>
              <a:t> — no pull request required to get started.</a:t>
            </a:r>
          </a:p>
          <a:p>
            <a:pPr>
              <a:spcBef>
                <a:spcPts val="900"/>
              </a:spcBef>
              <a:spcAft>
                <a:spcPts val="200"/>
              </a:spcAft>
            </a:pPr>
            <a:r>
              <a:rPr sz="900" b="1">
                <a:solidFill>
                  <a:srgbClr val="3FB950"/>
                </a:solidFill>
                <a:latin typeface="Mona Sans"/>
              </a:rPr>
              <a:t>WHY IT MATTERS</a:t>
            </a:r>
          </a:p>
          <a:p>
            <a:pPr>
              <a:spcAft>
                <a:spcPts val="200"/>
              </a:spcAft>
            </a:pPr>
            <a:r>
              <a:rPr sz="1100">
                <a:solidFill>
                  <a:srgbClr val="3FB950"/>
                </a:solidFill>
                <a:latin typeface="Mona Sans"/>
              </a:rPr>
              <a:t>•  </a:t>
            </a:r>
            <a:r>
              <a:rPr sz="1100" b="1">
                <a:solidFill>
                  <a:srgbClr val="E6EDF3"/>
                </a:solidFill>
                <a:latin typeface="Mona Sans"/>
              </a:rPr>
              <a:t>Branch-first workflows</a:t>
            </a:r>
            <a:r>
              <a:rPr sz="1100">
                <a:solidFill>
                  <a:srgbClr val="C9D1D9"/>
                </a:solidFill>
                <a:latin typeface="Mona Sans"/>
              </a:rPr>
              <a:t> — work directly on a branch and open a PR only when ready, removing forced PR overhead</a:t>
            </a:r>
          </a:p>
          <a:p>
            <a:pPr>
              <a:spcAft>
                <a:spcPts val="200"/>
              </a:spcAft>
            </a:pPr>
            <a:r>
              <a:rPr sz="1100">
                <a:solidFill>
                  <a:srgbClr val="3FB950"/>
                </a:solidFill>
                <a:latin typeface="Mona Sans"/>
              </a:rPr>
              <a:t>•  </a:t>
            </a:r>
            <a:r>
              <a:rPr sz="1100" b="1">
                <a:solidFill>
                  <a:srgbClr val="E6EDF3"/>
                </a:solidFill>
                <a:latin typeface="Mona Sans"/>
              </a:rPr>
              <a:t>Plan before code</a:t>
            </a:r>
            <a:r>
              <a:rPr sz="1100">
                <a:solidFill>
                  <a:srgbClr val="C9D1D9"/>
                </a:solidFill>
                <a:latin typeface="Mona Sans"/>
              </a:rPr>
              <a:t> — review and approve an implementation plan before Copilot writes a single line, reducing wasted effort</a:t>
            </a:r>
          </a:p>
          <a:p>
            <a:pPr>
              <a:spcAft>
                <a:spcPts val="200"/>
              </a:spcAft>
            </a:pPr>
            <a:r>
              <a:rPr sz="1100">
                <a:solidFill>
                  <a:srgbClr val="3FB950"/>
                </a:solidFill>
                <a:latin typeface="Mona Sans"/>
              </a:rPr>
              <a:t>•  </a:t>
            </a:r>
            <a:r>
              <a:rPr sz="1100" b="1">
                <a:solidFill>
                  <a:srgbClr val="E6EDF3"/>
                </a:solidFill>
                <a:latin typeface="Mona Sans"/>
              </a:rPr>
              <a:t>Deep research</a:t>
            </a:r>
            <a:r>
              <a:rPr sz="1100">
                <a:solidFill>
                  <a:srgbClr val="C9D1D9"/>
                </a:solidFill>
                <a:latin typeface="Mona Sans"/>
              </a:rPr>
              <a:t> — ask high-level questions about your repo and get context-aware answers grounded in real code</a:t>
            </a:r>
          </a:p>
          <a:p>
            <a:pPr>
              <a:spcAft>
                <a:spcPts val="200"/>
              </a:spcAft>
            </a:pPr>
            <a:r>
              <a:rPr sz="1100">
                <a:solidFill>
                  <a:srgbClr val="3FB950"/>
                </a:solidFill>
                <a:latin typeface="Mona Sans"/>
              </a:rPr>
              <a:t>•  </a:t>
            </a:r>
            <a:r>
              <a:rPr sz="1100" b="1">
                <a:solidFill>
                  <a:srgbClr val="E6EDF3"/>
                </a:solidFill>
                <a:latin typeface="Mona Sans"/>
              </a:rPr>
              <a:t>Verified commits</a:t>
            </a:r>
            <a:r>
              <a:rPr sz="1100">
                <a:solidFill>
                  <a:srgbClr val="C9D1D9"/>
                </a:solidFill>
                <a:latin typeface="Mona Sans"/>
              </a:rPr>
              <a:t> — every Copilot commit is now cryptographically signed as "Verified" for audit trail integrity</a:t>
            </a:r>
          </a:p>
          <a:p>
            <a:pPr>
              <a:spcAft>
                <a:spcPts val="200"/>
              </a:spcAft>
            </a:pPr>
            <a:r>
              <a:rPr sz="1100">
                <a:solidFill>
                  <a:srgbClr val="3FB950"/>
                </a:solidFill>
                <a:latin typeface="Mona Sans"/>
              </a:rPr>
              <a:t>•  </a:t>
            </a:r>
            <a:r>
              <a:rPr sz="1100" b="1">
                <a:solidFill>
                  <a:srgbClr val="E6EDF3"/>
                </a:solidFill>
                <a:latin typeface="Mona Sans"/>
              </a:rPr>
              <a:t>Built-in security</a:t>
            </a:r>
            <a:r>
              <a:rPr sz="1100">
                <a:solidFill>
                  <a:srgbClr val="C9D1D9"/>
                </a:solidFill>
                <a:latin typeface="Mona Sans"/>
              </a:rPr>
              <a:t> — a prompt-injection firewall prevents data leaks from malicious inputs</a:t>
            </a:r>
          </a:p>
          <a:p>
            <a:pPr>
              <a:spcBef>
                <a:spcPts val="900"/>
              </a:spcBef>
              <a:spcAft>
                <a:spcPts val="200"/>
              </a:spcAft>
            </a:pPr>
            <a:r>
              <a:rPr sz="900" b="1">
                <a:solidFill>
                  <a:srgbClr val="3FB950"/>
                </a:solidFill>
                <a:latin typeface="Mona Sans"/>
              </a:rPr>
              <a:t>WHERE YOU CAN USE IT</a:t>
            </a:r>
          </a:p>
          <a:p>
            <a:pPr>
              <a:spcAft>
                <a:spcPts val="200"/>
              </a:spcAft>
            </a:pPr>
            <a:r>
              <a:rPr sz="1100">
                <a:solidFill>
                  <a:srgbClr val="3FB950"/>
                </a:solidFill>
                <a:latin typeface="Mona Sans"/>
              </a:rPr>
              <a:t>•  </a:t>
            </a:r>
            <a:r>
              <a:rPr sz="1100" b="1">
                <a:solidFill>
                  <a:srgbClr val="E6EDF3"/>
                </a:solidFill>
                <a:latin typeface="Mona Sans"/>
              </a:rPr>
              <a:t>github.com Agents tab</a:t>
            </a:r>
            <a:r>
              <a:rPr sz="1100">
                <a:solidFill>
                  <a:srgbClr val="C9D1D9"/>
                </a:solidFill>
                <a:latin typeface="Mona Sans"/>
              </a:rPr>
              <a:t> — start research and coding sessions directly from any repository</a:t>
            </a:r>
          </a:p>
          <a:p>
            <a:pPr>
              <a:spcAft>
                <a:spcPts val="200"/>
              </a:spcAft>
            </a:pPr>
            <a:r>
              <a:rPr sz="1100">
                <a:solidFill>
                  <a:srgbClr val="3FB950"/>
                </a:solidFill>
                <a:latin typeface="Mona Sans"/>
              </a:rPr>
              <a:t>•  </a:t>
            </a:r>
            <a:r>
              <a:rPr sz="1100" b="1">
                <a:solidFill>
                  <a:srgbClr val="E6EDF3"/>
                </a:solidFill>
                <a:latin typeface="Mona Sans"/>
              </a:rPr>
              <a:t>Copilot Chat</a:t>
            </a:r>
            <a:r>
              <a:rPr sz="1100">
                <a:solidFill>
                  <a:srgbClr val="C9D1D9"/>
                </a:solidFill>
                <a:latin typeface="Mona Sans"/>
              </a:rPr>
              <a:t> — trigger research sessions inline from the chat interface</a:t>
            </a:r>
          </a:p>
          <a:p>
            <a:pPr>
              <a:spcAft>
                <a:spcPts val="200"/>
              </a:spcAft>
            </a:pPr>
            <a:r>
              <a:rPr sz="1100">
                <a:solidFill>
                  <a:srgbClr val="3FB950"/>
                </a:solidFill>
                <a:latin typeface="Mona Sans"/>
              </a:rPr>
              <a:t>•  </a:t>
            </a:r>
            <a:r>
              <a:rPr sz="1100" b="1">
                <a:solidFill>
                  <a:srgbClr val="E6EDF3"/>
                </a:solidFill>
                <a:latin typeface="Mona Sans"/>
              </a:rPr>
              <a:t>Issues and PRs</a:t>
            </a:r>
            <a:r>
              <a:rPr sz="1100">
                <a:solidFill>
                  <a:srgbClr val="C9D1D9"/>
                </a:solidFill>
                <a:latin typeface="Mona Sans"/>
              </a:rPr>
              <a:t> — assign issues or mention @copilot to kick off branch-based agent tasks</a:t>
            </a:r>
          </a:p>
          <a:p>
            <a:pPr>
              <a:spcBef>
                <a:spcPts val="900"/>
              </a:spcBef>
              <a:spcAft>
                <a:spcPts val="200"/>
              </a:spcAft>
            </a:pPr>
            <a:r>
              <a:rPr sz="900" b="1">
                <a:solidFill>
                  <a:srgbClr val="3FB950"/>
                </a:solidFill>
                <a:latin typeface="Mona Sans"/>
              </a:rPr>
              <a:t>WHO GETS IT</a:t>
            </a:r>
          </a:p>
          <a:p>
            <a:pPr>
              <a:spcAft>
                <a:spcPts val="200"/>
              </a:spcAft>
            </a:pPr>
            <a:r>
              <a:rPr sz="1100">
                <a:solidFill>
                  <a:srgbClr val="3FB950"/>
                </a:solidFill>
                <a:latin typeface="Mona Sans"/>
              </a:rPr>
              <a:t>•  </a:t>
            </a:r>
            <a:r>
              <a:rPr sz="1100" b="1">
                <a:solidFill>
                  <a:srgbClr val="E6EDF3"/>
                </a:solidFill>
                <a:latin typeface="Mona Sans"/>
              </a:rPr>
              <a:t>All paid Copilot plans</a:t>
            </a:r>
            <a:r>
              <a:rPr sz="1100">
                <a:solidFill>
                  <a:srgbClr val="C9D1D9"/>
                </a:solidFill>
                <a:latin typeface="Mona Sans"/>
              </a:rPr>
              <a:t> — included for Copilot Pro, Pro+, Business, and Enterprise</a:t>
            </a:r>
          </a:p>
          <a:p>
            <a:pPr>
              <a:spcAft>
                <a:spcPts val="200"/>
              </a:spcAft>
            </a:pPr>
            <a:r>
              <a:rPr sz="1100">
                <a:solidFill>
                  <a:srgbClr val="3FB950"/>
                </a:solidFill>
                <a:latin typeface="Mona Sans"/>
              </a:rPr>
              <a:t>•  </a:t>
            </a:r>
            <a:r>
              <a:rPr sz="1100" b="1">
                <a:solidFill>
                  <a:srgbClr val="E6EDF3"/>
                </a:solidFill>
                <a:latin typeface="Mona Sans"/>
              </a:rPr>
              <a:t>Business / Enterprise</a:t>
            </a:r>
            <a:r>
              <a:rPr sz="1100">
                <a:solidFill>
                  <a:srgbClr val="C9D1D9"/>
                </a:solidFill>
                <a:latin typeface="Mona Sans"/>
              </a:rPr>
              <a:t> — admins must enable the Copilot cloud agent policy before users can access it</a:t>
            </a:r>
          </a:p>
          <a:p>
            <a:pPr>
              <a:spcAft>
                <a:spcPts val="200"/>
              </a:spcAft>
            </a:pPr>
            <a:r>
              <a:rPr sz="1100">
                <a:solidFill>
                  <a:srgbClr val="3FB950"/>
                </a:solidFill>
                <a:latin typeface="Mona Sans"/>
              </a:rPr>
              <a:t>•  </a:t>
            </a:r>
            <a:r>
              <a:rPr sz="1100" b="1">
                <a:solidFill>
                  <a:srgbClr val="E6EDF3"/>
                </a:solidFill>
                <a:latin typeface="Mona Sans"/>
              </a:rPr>
              <a:t>Available now</a:t>
            </a:r>
            <a:r>
              <a:rPr sz="1100">
                <a:solidFill>
                  <a:srgbClr val="C9D1D9"/>
                </a:solidFill>
                <a:latin typeface="Mona Sans"/>
              </a:rPr>
              <a:t> — all features live as of April 1, 2026</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https://github.blog/changelog/2026-04-01-research-plan-and-code-with-copilot-cloud-agent/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2026-04-07</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Copilot CLI now supports BYOK and local models</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Copilot CLI now supports BYOK and local models</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2026-04-07</a:t>
            </a:r>
          </a:p>
        </p:txBody>
      </p:sp>
      <p:sp>
        <p:nvSpPr>
          <p:cNvPr id="5" name="TextBox 4"/>
          <p:cNvSpPr txBox="1"/>
          <p:nvPr/>
        </p:nvSpPr>
        <p:spPr>
          <a:xfrm>
            <a:off x="731520" y="1005840"/>
            <a:ext cx="10515600" cy="4635500"/>
          </a:xfrm>
          <a:prstGeom prst="rect">
            <a:avLst/>
          </a:prstGeom>
          <a:noFill/>
        </p:spPr>
        <p:txBody>
          <a:bodyPr wrap="square">
            <a:spAutoFit/>
          </a:bodyPr>
          <a:lstStyle/>
          <a:p>
            <a:pPr>
              <a:spcBef>
                <a:spcPts val="500"/>
              </a:spcBef>
              <a:spcAft>
                <a:spcPts val="400"/>
              </a:spcAft>
            </a:pPr>
            <a:r>
              <a:rPr sz="1300" b="1">
                <a:solidFill>
                  <a:srgbClr val="E6EDF3"/>
                </a:solidFill>
                <a:latin typeface="Mona Sans"/>
              </a:rPr>
              <a:t>What's new</a:t>
            </a:r>
          </a:p>
          <a:p>
            <a:pPr>
              <a:spcAft>
                <a:spcPts val="500"/>
              </a:spcAft>
            </a:pPr>
            <a:r>
              <a:rPr sz="1000" b="1">
                <a:solidFill>
                  <a:srgbClr val="E6EDF3"/>
                </a:solidFill>
                <a:latin typeface="Mona Sans"/>
              </a:rPr>
              <a:t>GitHub Copilot CLI</a:t>
            </a:r>
            <a:r>
              <a:rPr sz="1000">
                <a:solidFill>
                  <a:srgbClr val="C9D1D9"/>
                </a:solidFill>
                <a:latin typeface="Mona Sans"/>
              </a:rPr>
              <a:t> now supports </a:t>
            </a:r>
            <a:r>
              <a:rPr sz="1000" b="1">
                <a:solidFill>
                  <a:srgbClr val="E6EDF3"/>
                </a:solidFill>
                <a:latin typeface="Mona Sans"/>
              </a:rPr>
              <a:t>Bring Your Own Key (BYOK)</a:t>
            </a:r>
            <a:r>
              <a:rPr sz="1000">
                <a:solidFill>
                  <a:srgbClr val="C9D1D9"/>
                </a:solidFill>
                <a:latin typeface="Mona Sans"/>
              </a:rPr>
              <a:t> and </a:t>
            </a:r>
            <a:r>
              <a:rPr sz="1000" b="1">
                <a:solidFill>
                  <a:srgbClr val="E6EDF3"/>
                </a:solidFill>
                <a:latin typeface="Mona Sans"/>
              </a:rPr>
              <a:t>local model</a:t>
            </a:r>
            <a:r>
              <a:rPr sz="1000">
                <a:solidFill>
                  <a:srgbClr val="C9D1D9"/>
                </a:solidFill>
                <a:latin typeface="Mona Sans"/>
              </a:rPr>
              <a:t> connections, enabling fully air-gapped and provider-independent terminal workflows.</a:t>
            </a:r>
          </a:p>
          <a:p>
            <a:pPr>
              <a:spcBef>
                <a:spcPts val="900"/>
              </a:spcBef>
              <a:spcAft>
                <a:spcPts val="200"/>
              </a:spcAft>
            </a:pPr>
            <a:r>
              <a:rPr sz="900" b="1">
                <a:solidFill>
                  <a:srgbClr val="3FB950"/>
                </a:solidFill>
                <a:latin typeface="Mona Sans"/>
              </a:rPr>
              <a:t>WHY IT MATTERS</a:t>
            </a:r>
          </a:p>
          <a:p>
            <a:pPr>
              <a:spcAft>
                <a:spcPts val="200"/>
              </a:spcAft>
            </a:pPr>
            <a:r>
              <a:rPr sz="1000">
                <a:solidFill>
                  <a:srgbClr val="3FB950"/>
                </a:solidFill>
                <a:latin typeface="Mona Sans"/>
              </a:rPr>
              <a:t>•  </a:t>
            </a:r>
            <a:r>
              <a:rPr sz="1000" b="1">
                <a:solidFill>
                  <a:srgbClr val="E6EDF3"/>
                </a:solidFill>
                <a:latin typeface="Mona Sans"/>
              </a:rPr>
              <a:t>Provider flexibility</a:t>
            </a:r>
            <a:r>
              <a:rPr sz="1000">
                <a:solidFill>
                  <a:srgbClr val="C9D1D9"/>
                </a:solidFill>
                <a:latin typeface="Mona Sans"/>
              </a:rPr>
              <a:t> — connect to Azure OpenAI, Anthropic, or any OpenAI-compatible API or local models (Ollama, vLLM, Foundry Local) via environment variables</a:t>
            </a:r>
          </a:p>
          <a:p>
            <a:pPr>
              <a:spcAft>
                <a:spcPts val="200"/>
              </a:spcAft>
            </a:pPr>
            <a:r>
              <a:rPr sz="1000">
                <a:solidFill>
                  <a:srgbClr val="3FB950"/>
                </a:solidFill>
                <a:latin typeface="Mona Sans"/>
              </a:rPr>
              <a:t>•  </a:t>
            </a:r>
            <a:r>
              <a:rPr sz="1000" b="1">
                <a:solidFill>
                  <a:srgbClr val="E6EDF3"/>
                </a:solidFill>
                <a:latin typeface="Mona Sans"/>
              </a:rPr>
              <a:t>Air-gapped mode</a:t>
            </a:r>
            <a:r>
              <a:rPr sz="1000">
                <a:solidFill>
                  <a:srgbClr val="C9D1D9"/>
                </a:solidFill>
                <a:latin typeface="Mona Sans"/>
              </a:rPr>
              <a:t> — set `COPILOT_OFFLINE=true` to disable all telemetry and restrict traffic to your own provider</a:t>
            </a:r>
          </a:p>
          <a:p>
            <a:pPr>
              <a:spcAft>
                <a:spcPts val="200"/>
              </a:spcAft>
            </a:pPr>
            <a:r>
              <a:rPr sz="1000">
                <a:solidFill>
                  <a:srgbClr val="3FB950"/>
                </a:solidFill>
                <a:latin typeface="Mona Sans"/>
              </a:rPr>
              <a:t>•  </a:t>
            </a:r>
            <a:r>
              <a:rPr sz="1000" b="1">
                <a:solidFill>
                  <a:srgbClr val="E6EDF3"/>
                </a:solidFill>
                <a:latin typeface="Mona Sans"/>
              </a:rPr>
              <a:t>No forced GitHub auth</a:t>
            </a:r>
            <a:r>
              <a:rPr sz="1000">
                <a:solidFill>
                  <a:srgbClr val="C9D1D9"/>
                </a:solidFill>
                <a:latin typeface="Mona Sans"/>
              </a:rPr>
              <a:t> — use the CLI with only your provider credentials; GitHub login is optional</a:t>
            </a:r>
          </a:p>
          <a:p>
            <a:pPr>
              <a:spcAft>
                <a:spcPts val="200"/>
              </a:spcAft>
            </a:pPr>
            <a:r>
              <a:rPr sz="1000">
                <a:solidFill>
                  <a:srgbClr val="3FB950"/>
                </a:solidFill>
                <a:latin typeface="Mona Sans"/>
              </a:rPr>
              <a:t>•  </a:t>
            </a:r>
            <a:r>
              <a:rPr sz="1000" b="1">
                <a:solidFill>
                  <a:srgbClr val="E6EDF3"/>
                </a:solidFill>
                <a:latin typeface="Mona Sans"/>
              </a:rPr>
              <a:t>Sub-agent inheritance</a:t>
            </a:r>
            <a:r>
              <a:rPr sz="1000">
                <a:solidFill>
                  <a:srgbClr val="C9D1D9"/>
                </a:solidFill>
                <a:latin typeface="Mona Sans"/>
              </a:rPr>
              <a:t> — built-in sub-agents (explore, task, code-review) inherit your provider configuration automatically</a:t>
            </a:r>
          </a:p>
          <a:p>
            <a:pPr>
              <a:spcAft>
                <a:spcPts val="200"/>
              </a:spcAft>
            </a:pPr>
            <a:r>
              <a:rPr sz="1000">
                <a:solidFill>
                  <a:srgbClr val="3FB950"/>
                </a:solidFill>
                <a:latin typeface="Mona Sans"/>
              </a:rPr>
              <a:t>•  </a:t>
            </a:r>
            <a:r>
              <a:rPr sz="1000" b="1">
                <a:solidFill>
                  <a:srgbClr val="E6EDF3"/>
                </a:solidFill>
                <a:latin typeface="Mona Sans"/>
              </a:rPr>
              <a:t>Transparent errors</a:t>
            </a:r>
            <a:r>
              <a:rPr sz="1000">
                <a:solidFill>
                  <a:srgbClr val="C9D1D9"/>
                </a:solidFill>
                <a:latin typeface="Mona Sans"/>
              </a:rPr>
              <a:t> — misconfigured providers show actionable messages; the CLI never silently falls back to GitHub-hosted models</a:t>
            </a:r>
          </a:p>
          <a:p>
            <a:pPr>
              <a:spcBef>
                <a:spcPts val="900"/>
              </a:spcBef>
              <a:spcAft>
                <a:spcPts val="200"/>
              </a:spcAft>
            </a:pPr>
            <a:r>
              <a:rPr sz="900" b="1">
                <a:solidFill>
                  <a:srgbClr val="3FB950"/>
                </a:solidFill>
                <a:latin typeface="Mona Sans"/>
              </a:rPr>
              <a:t>WHERE YOU CAN USE IT</a:t>
            </a:r>
          </a:p>
          <a:p>
            <a:pPr>
              <a:spcAft>
                <a:spcPts val="200"/>
              </a:spcAft>
            </a:pPr>
            <a:r>
              <a:rPr sz="1000">
                <a:solidFill>
                  <a:srgbClr val="3FB950"/>
                </a:solidFill>
                <a:latin typeface="Mona Sans"/>
              </a:rPr>
              <a:t>•  </a:t>
            </a:r>
            <a:r>
              <a:rPr sz="1000" b="1">
                <a:solidFill>
                  <a:srgbClr val="E6EDF3"/>
                </a:solidFill>
                <a:latin typeface="Mona Sans"/>
              </a:rPr>
              <a:t>Terminal / shell</a:t>
            </a:r>
            <a:r>
              <a:rPr sz="1000">
                <a:solidFill>
                  <a:srgbClr val="C9D1D9"/>
                </a:solidFill>
                <a:latin typeface="Mona Sans"/>
              </a:rPr>
              <a:t> — any environment where GitHub Copilot CLI is installed</a:t>
            </a:r>
          </a:p>
          <a:p>
            <a:pPr>
              <a:spcAft>
                <a:spcPts val="200"/>
              </a:spcAft>
            </a:pPr>
            <a:r>
              <a:rPr sz="1000">
                <a:solidFill>
                  <a:srgbClr val="3FB950"/>
                </a:solidFill>
                <a:latin typeface="Mona Sans"/>
              </a:rPr>
              <a:t>•  </a:t>
            </a:r>
            <a:r>
              <a:rPr sz="1000" b="1">
                <a:solidFill>
                  <a:srgbClr val="E6EDF3"/>
                </a:solidFill>
                <a:latin typeface="Mona Sans"/>
              </a:rPr>
              <a:t>Air-gapped environments</a:t>
            </a:r>
            <a:r>
              <a:rPr sz="1000">
                <a:solidFill>
                  <a:srgbClr val="C9D1D9"/>
                </a:solidFill>
                <a:latin typeface="Mona Sans"/>
              </a:rPr>
              <a:t> — organizations with strict network egress policies</a:t>
            </a:r>
          </a:p>
          <a:p>
            <a:pPr>
              <a:spcAft>
                <a:spcPts val="200"/>
              </a:spcAft>
            </a:pPr>
            <a:r>
              <a:rPr sz="1000">
                <a:solidFill>
                  <a:srgbClr val="3FB950"/>
                </a:solidFill>
                <a:latin typeface="Mona Sans"/>
              </a:rPr>
              <a:t>•  </a:t>
            </a:r>
            <a:r>
              <a:rPr sz="1000" b="1">
                <a:solidFill>
                  <a:srgbClr val="E6EDF3"/>
                </a:solidFill>
                <a:latin typeface="Mona Sans"/>
              </a:rPr>
              <a:t>Local model setups</a:t>
            </a:r>
            <a:r>
              <a:rPr sz="1000">
                <a:solidFill>
                  <a:srgbClr val="C9D1D9"/>
                </a:solidFill>
                <a:latin typeface="Mona Sans"/>
              </a:rPr>
              <a:t> — developer machines running Ollama, vLLM, or Microsoft Foundry Local</a:t>
            </a:r>
          </a:p>
          <a:p>
            <a:pPr>
              <a:spcBef>
                <a:spcPts val="900"/>
              </a:spcBef>
              <a:spcAft>
                <a:spcPts val="200"/>
              </a:spcAft>
            </a:pPr>
            <a:r>
              <a:rPr sz="900" b="1">
                <a:solidFill>
                  <a:srgbClr val="3FB950"/>
                </a:solidFill>
                <a:latin typeface="Mona Sans"/>
              </a:rPr>
              <a:t>WHO GETS IT</a:t>
            </a:r>
          </a:p>
          <a:p>
            <a:pPr>
              <a:spcAft>
                <a:spcPts val="200"/>
              </a:spcAft>
            </a:pPr>
            <a:r>
              <a:rPr sz="1000">
                <a:solidFill>
                  <a:srgbClr val="3FB950"/>
                </a:solidFill>
                <a:latin typeface="Mona Sans"/>
              </a:rPr>
              <a:t>•  </a:t>
            </a:r>
            <a:r>
              <a:rPr sz="1000" b="1">
                <a:solidFill>
                  <a:srgbClr val="E6EDF3"/>
                </a:solidFill>
                <a:latin typeface="Mona Sans"/>
              </a:rPr>
              <a:t>All Copilot plans</a:t>
            </a:r>
            <a:r>
              <a:rPr sz="1000">
                <a:solidFill>
                  <a:srgbClr val="C9D1D9"/>
                </a:solidFill>
                <a:latin typeface="Mona Sans"/>
              </a:rPr>
              <a:t> — BYOK is available to all subscribers</a:t>
            </a:r>
          </a:p>
          <a:p>
            <a:pPr>
              <a:spcAft>
                <a:spcPts val="200"/>
              </a:spcAft>
            </a:pPr>
            <a:r>
              <a:rPr sz="1000">
                <a:solidFill>
                  <a:srgbClr val="3FB950"/>
                </a:solidFill>
                <a:latin typeface="Mona Sans"/>
              </a:rPr>
              <a:t>•  </a:t>
            </a:r>
            <a:r>
              <a:rPr sz="1000" b="1">
                <a:solidFill>
                  <a:srgbClr val="E6EDF3"/>
                </a:solidFill>
                <a:latin typeface="Mona Sans"/>
              </a:rPr>
              <a:t>Minimum model requirements</a:t>
            </a:r>
            <a:r>
              <a:rPr sz="1000">
                <a:solidFill>
                  <a:srgbClr val="C9D1D9"/>
                </a:solidFill>
                <a:latin typeface="Mona Sans"/>
              </a:rPr>
              <a:t> — tool calling + streaming support and ≥128k context window recommended</a:t>
            </a:r>
          </a:p>
          <a:p>
            <a:pPr>
              <a:spcAft>
                <a:spcPts val="200"/>
              </a:spcAft>
            </a:pPr>
            <a:r>
              <a:rPr sz="1000">
                <a:solidFill>
                  <a:srgbClr val="3FB950"/>
                </a:solidFill>
                <a:latin typeface="Mona Sans"/>
              </a:rPr>
              <a:t>•  </a:t>
            </a:r>
            <a:r>
              <a:rPr sz="1000" b="1">
                <a:solidFill>
                  <a:srgbClr val="E6EDF3"/>
                </a:solidFill>
                <a:latin typeface="Mona Sans"/>
              </a:rPr>
              <a:t>Available now</a:t>
            </a:r>
            <a:r>
              <a:rPr sz="1000">
                <a:solidFill>
                  <a:srgbClr val="C9D1D9"/>
                </a:solidFill>
                <a:latin typeface="Mona Sans"/>
              </a:rPr>
              <a:t> — configure with `copilot help providers`</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https://github.blog/changelog/2026-04-07-copilot-cli-now-supports-byok-and-local-models/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2026-04-13</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Copilot data residency in US + EU and FedRAMP compliance now available</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Copilot data residency in US + EU and FedRAMP compliance now available</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2026-04-13</a:t>
            </a:r>
          </a:p>
        </p:txBody>
      </p:sp>
      <p:sp>
        <p:nvSpPr>
          <p:cNvPr id="5" name="TextBox 4"/>
          <p:cNvSpPr txBox="1"/>
          <p:nvPr/>
        </p:nvSpPr>
        <p:spPr>
          <a:xfrm>
            <a:off x="731520" y="1005840"/>
            <a:ext cx="10515600" cy="4699000"/>
          </a:xfrm>
          <a:prstGeom prst="rect">
            <a:avLst/>
          </a:prstGeom>
          <a:noFill/>
        </p:spPr>
        <p:txBody>
          <a:bodyPr wrap="square">
            <a:spAutoFit/>
          </a:bodyPr>
          <a:lstStyle/>
          <a:p>
            <a:pPr>
              <a:spcBef>
                <a:spcPts val="500"/>
              </a:spcBef>
              <a:spcAft>
                <a:spcPts val="400"/>
              </a:spcAft>
            </a:pPr>
            <a:r>
              <a:rPr sz="1300" b="1">
                <a:solidFill>
                  <a:srgbClr val="E6EDF3"/>
                </a:solidFill>
                <a:latin typeface="Mona Sans"/>
              </a:rPr>
              <a:t>What's new</a:t>
            </a:r>
          </a:p>
          <a:p>
            <a:pPr>
              <a:spcAft>
                <a:spcPts val="500"/>
              </a:spcAft>
            </a:pPr>
            <a:r>
              <a:rPr sz="1100" b="1">
                <a:solidFill>
                  <a:srgbClr val="E6EDF3"/>
                </a:solidFill>
                <a:latin typeface="Mona Sans"/>
              </a:rPr>
              <a:t>GitHub Copilot</a:t>
            </a:r>
            <a:r>
              <a:rPr sz="1100">
                <a:solidFill>
                  <a:srgbClr val="C9D1D9"/>
                </a:solidFill>
                <a:latin typeface="Mona Sans"/>
              </a:rPr>
              <a:t> now offers </a:t>
            </a:r>
            <a:r>
              <a:rPr sz="1100" b="1">
                <a:solidFill>
                  <a:srgbClr val="E6EDF3"/>
                </a:solidFill>
                <a:latin typeface="Mona Sans"/>
              </a:rPr>
              <a:t>data residency</a:t>
            </a:r>
            <a:r>
              <a:rPr sz="1100">
                <a:solidFill>
                  <a:srgbClr val="C9D1D9"/>
                </a:solidFill>
                <a:latin typeface="Mona Sans"/>
              </a:rPr>
              <a:t> for US and EU regions and </a:t>
            </a:r>
            <a:r>
              <a:rPr sz="1100" b="1">
                <a:solidFill>
                  <a:srgbClr val="E6EDF3"/>
                </a:solidFill>
                <a:latin typeface="Mona Sans"/>
              </a:rPr>
              <a:t>FedRAMP Moderate</a:t>
            </a:r>
            <a:r>
              <a:rPr sz="1100">
                <a:solidFill>
                  <a:srgbClr val="C9D1D9"/>
                </a:solidFill>
                <a:latin typeface="Mona Sans"/>
              </a:rPr>
              <a:t> compliance for US government customers, ensuring all AI inference stays within your designated geography.</a:t>
            </a:r>
          </a:p>
          <a:p>
            <a:pPr>
              <a:spcBef>
                <a:spcPts val="900"/>
              </a:spcBef>
              <a:spcAft>
                <a:spcPts val="200"/>
              </a:spcAft>
            </a:pPr>
            <a:r>
              <a:rPr sz="900" b="1">
                <a:solidFill>
                  <a:srgbClr val="3FB950"/>
                </a:solidFill>
                <a:latin typeface="Mona Sans"/>
              </a:rPr>
              <a:t>WHY IT MATTERS</a:t>
            </a:r>
          </a:p>
          <a:p>
            <a:pPr>
              <a:spcAft>
                <a:spcPts val="200"/>
              </a:spcAft>
            </a:pPr>
            <a:r>
              <a:rPr sz="1100">
                <a:solidFill>
                  <a:srgbClr val="3FB950"/>
                </a:solidFill>
                <a:latin typeface="Mona Sans"/>
              </a:rPr>
              <a:t>•  </a:t>
            </a:r>
            <a:r>
              <a:rPr sz="1100" b="1">
                <a:solidFill>
                  <a:srgbClr val="E6EDF3"/>
                </a:solidFill>
                <a:latin typeface="Mona Sans"/>
              </a:rPr>
              <a:t>Full feature parity</a:t>
            </a:r>
            <a:r>
              <a:rPr sz="1100">
                <a:solidFill>
                  <a:srgbClr val="C9D1D9"/>
                </a:solidFill>
                <a:latin typeface="Mona Sans"/>
              </a:rPr>
              <a:t> — agent mode, inline suggestions, chat, cloud agent, code review, PR summaries, and CLI all route through data-resident endpoints</a:t>
            </a:r>
          </a:p>
          <a:p>
            <a:pPr>
              <a:spcAft>
                <a:spcPts val="200"/>
              </a:spcAft>
            </a:pPr>
            <a:r>
              <a:rPr sz="1100">
                <a:solidFill>
                  <a:srgbClr val="3FB950"/>
                </a:solidFill>
                <a:latin typeface="Mona Sans"/>
              </a:rPr>
              <a:t>•  </a:t>
            </a:r>
            <a:r>
              <a:rPr sz="1100" b="1">
                <a:solidFill>
                  <a:srgbClr val="E6EDF3"/>
                </a:solidFill>
                <a:latin typeface="Mona Sans"/>
              </a:rPr>
              <a:t>EU Data Boundary alignment</a:t>
            </a:r>
            <a:r>
              <a:rPr sz="1100">
                <a:solidFill>
                  <a:srgbClr val="C9D1D9"/>
                </a:solidFill>
                <a:latin typeface="Mona Sans"/>
              </a:rPr>
              <a:t> — covers all EU member states plus EFTA countries (Iceland, Liechtenstein, Norway, Switzerland) as of May 1, 2026</a:t>
            </a:r>
          </a:p>
          <a:p>
            <a:pPr>
              <a:spcAft>
                <a:spcPts val="200"/>
              </a:spcAft>
            </a:pPr>
            <a:r>
              <a:rPr sz="1100">
                <a:solidFill>
                  <a:srgbClr val="3FB950"/>
                </a:solidFill>
                <a:latin typeface="Mona Sans"/>
              </a:rPr>
              <a:t>•  </a:t>
            </a:r>
            <a:r>
              <a:rPr sz="1100" b="1">
                <a:solidFill>
                  <a:srgbClr val="E6EDF3"/>
                </a:solidFill>
                <a:latin typeface="Mona Sans"/>
              </a:rPr>
              <a:t>FedRAMP Moderate</a:t>
            </a:r>
            <a:r>
              <a:rPr sz="1100">
                <a:solidFill>
                  <a:srgbClr val="C9D1D9"/>
                </a:solidFill>
                <a:latin typeface="Mona Sans"/>
              </a:rPr>
              <a:t> — US government customers get inference routed through federally authorized model infrastructure</a:t>
            </a:r>
          </a:p>
          <a:p>
            <a:pPr>
              <a:spcAft>
                <a:spcPts val="200"/>
              </a:spcAft>
            </a:pPr>
            <a:r>
              <a:rPr sz="1100">
                <a:solidFill>
                  <a:srgbClr val="3FB950"/>
                </a:solidFill>
                <a:latin typeface="Mona Sans"/>
              </a:rPr>
              <a:t>•  </a:t>
            </a:r>
            <a:r>
              <a:rPr sz="1100" b="1">
                <a:solidFill>
                  <a:srgbClr val="E6EDF3"/>
                </a:solidFill>
                <a:latin typeface="Mona Sans"/>
              </a:rPr>
              <a:t>Broad model support</a:t>
            </a:r>
            <a:r>
              <a:rPr sz="1100">
                <a:solidFill>
                  <a:srgbClr val="C9D1D9"/>
                </a:solidFill>
                <a:latin typeface="Mona Sans"/>
              </a:rPr>
              <a:t> — GPT-5.4, Claude Sonnet 4.6, Claude Opus 4.6, and more at launch</a:t>
            </a:r>
          </a:p>
          <a:p>
            <a:pPr>
              <a:spcAft>
                <a:spcPts val="200"/>
              </a:spcAft>
            </a:pPr>
            <a:r>
              <a:rPr sz="1100">
                <a:solidFill>
                  <a:srgbClr val="3FB950"/>
                </a:solidFill>
                <a:latin typeface="Mona Sans"/>
              </a:rPr>
              <a:t>•  </a:t>
            </a:r>
            <a:r>
              <a:rPr sz="1100" b="1">
                <a:solidFill>
                  <a:srgbClr val="E6EDF3"/>
                </a:solidFill>
                <a:latin typeface="Mona Sans"/>
              </a:rPr>
              <a:t>More regions coming</a:t>
            </a:r>
            <a:r>
              <a:rPr sz="1100">
                <a:solidFill>
                  <a:srgbClr val="C9D1D9"/>
                </a:solidFill>
                <a:latin typeface="Mona Sans"/>
              </a:rPr>
              <a:t> — Japan and Australia on the roadmap for later in 2026</a:t>
            </a:r>
          </a:p>
          <a:p>
            <a:pPr>
              <a:spcBef>
                <a:spcPts val="900"/>
              </a:spcBef>
              <a:spcAft>
                <a:spcPts val="200"/>
              </a:spcAft>
            </a:pPr>
            <a:r>
              <a:rPr sz="900" b="1">
                <a:solidFill>
                  <a:srgbClr val="3FB950"/>
                </a:solidFill>
                <a:latin typeface="Mona Sans"/>
              </a:rPr>
              <a:t>WHERE YOU CAN USE IT</a:t>
            </a:r>
          </a:p>
          <a:p>
            <a:pPr>
              <a:spcAft>
                <a:spcPts val="200"/>
              </a:spcAft>
            </a:pPr>
            <a:r>
              <a:rPr sz="1100">
                <a:solidFill>
                  <a:srgbClr val="3FB950"/>
                </a:solidFill>
                <a:latin typeface="Mona Sans"/>
              </a:rPr>
              <a:t>•  </a:t>
            </a:r>
            <a:r>
              <a:rPr sz="1100" b="1">
                <a:solidFill>
                  <a:srgbClr val="E6EDF3"/>
                </a:solidFill>
                <a:latin typeface="Mona Sans"/>
              </a:rPr>
              <a:t>GitHub Enterprise Cloud</a:t>
            </a:r>
            <a:r>
              <a:rPr sz="1100">
                <a:solidFill>
                  <a:srgbClr val="C9D1D9"/>
                </a:solidFill>
                <a:latin typeface="Mona Sans"/>
              </a:rPr>
              <a:t> — enterprise and organization admins enable via Copilot settings</a:t>
            </a:r>
          </a:p>
          <a:p>
            <a:pPr>
              <a:spcAft>
                <a:spcPts val="200"/>
              </a:spcAft>
            </a:pPr>
            <a:r>
              <a:rPr sz="1100">
                <a:solidFill>
                  <a:srgbClr val="3FB950"/>
                </a:solidFill>
                <a:latin typeface="Mona Sans"/>
              </a:rPr>
              <a:t>•  </a:t>
            </a:r>
            <a:r>
              <a:rPr sz="1100" b="1">
                <a:solidFill>
                  <a:srgbClr val="E6EDF3"/>
                </a:solidFill>
                <a:latin typeface="Mona Sans"/>
              </a:rPr>
              <a:t>All Copilot surfaces</a:t>
            </a:r>
            <a:r>
              <a:rPr sz="1100">
                <a:solidFill>
                  <a:srgbClr val="C9D1D9"/>
                </a:solidFill>
                <a:latin typeface="Mona Sans"/>
              </a:rPr>
              <a:t> — IDE, CLI, cloud agent, web chat, and mobile all respect residency routing</a:t>
            </a:r>
          </a:p>
          <a:p>
            <a:pPr>
              <a:spcBef>
                <a:spcPts val="900"/>
              </a:spcBef>
              <a:spcAft>
                <a:spcPts val="200"/>
              </a:spcAft>
            </a:pPr>
            <a:r>
              <a:rPr sz="900" b="1">
                <a:solidFill>
                  <a:srgbClr val="3FB950"/>
                </a:solidFill>
                <a:latin typeface="Mona Sans"/>
              </a:rPr>
              <a:t>WHO GETS IT</a:t>
            </a:r>
          </a:p>
          <a:p>
            <a:pPr>
              <a:spcAft>
                <a:spcPts val="200"/>
              </a:spcAft>
            </a:pPr>
            <a:r>
              <a:rPr sz="1100">
                <a:solidFill>
                  <a:srgbClr val="3FB950"/>
                </a:solidFill>
                <a:latin typeface="Mona Sans"/>
              </a:rPr>
              <a:t>•  </a:t>
            </a:r>
            <a:r>
              <a:rPr sz="1100" b="1">
                <a:solidFill>
                  <a:srgbClr val="E6EDF3"/>
                </a:solidFill>
                <a:latin typeface="Mona Sans"/>
              </a:rPr>
              <a:t>Copilot Business and Enterprise</a:t>
            </a:r>
            <a:r>
              <a:rPr sz="1100">
                <a:solidFill>
                  <a:srgbClr val="C9D1D9"/>
                </a:solidFill>
                <a:latin typeface="Mona Sans"/>
              </a:rPr>
              <a:t> — admin opt-in required; off by default</a:t>
            </a:r>
          </a:p>
          <a:p>
            <a:pPr>
              <a:spcAft>
                <a:spcPts val="200"/>
              </a:spcAft>
            </a:pPr>
            <a:r>
              <a:rPr sz="1100">
                <a:solidFill>
                  <a:srgbClr val="3FB950"/>
                </a:solidFill>
                <a:latin typeface="Mona Sans"/>
              </a:rPr>
              <a:t>•  </a:t>
            </a:r>
            <a:r>
              <a:rPr sz="1100" b="1">
                <a:solidFill>
                  <a:srgbClr val="E6EDF3"/>
                </a:solidFill>
                <a:latin typeface="Mona Sans"/>
              </a:rPr>
              <a:t>Pricing note</a:t>
            </a:r>
            <a:r>
              <a:rPr sz="1100">
                <a:solidFill>
                  <a:srgbClr val="C9D1D9"/>
                </a:solidFill>
                <a:latin typeface="Mona Sans"/>
              </a:rPr>
              <a:t> — 10% model request multiplier premium applies</a:t>
            </a:r>
          </a:p>
          <a:p>
            <a:pPr>
              <a:spcAft>
                <a:spcPts val="200"/>
              </a:spcAft>
            </a:pPr>
            <a:r>
              <a:rPr sz="1100">
                <a:solidFill>
                  <a:srgbClr val="3FB950"/>
                </a:solidFill>
                <a:latin typeface="Mona Sans"/>
              </a:rPr>
              <a:t>•  </a:t>
            </a:r>
            <a:r>
              <a:rPr sz="1100" b="1">
                <a:solidFill>
                  <a:srgbClr val="E6EDF3"/>
                </a:solidFill>
                <a:latin typeface="Mona Sans"/>
              </a:rPr>
              <a:t>Gemini models excluded</a:t>
            </a:r>
            <a:r>
              <a:rPr sz="1100">
                <a:solidFill>
                  <a:srgbClr val="C9D1D9"/>
                </a:solidFill>
                <a:latin typeface="Mona Sans"/>
              </a:rPr>
              <a:t> — Google Cloud does not yet offer data-resident inference</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https://github.blog/changelog/2026-04-13-copilot-data-residency-in-us-eu-and-fedramp-compliance-now-available/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2026-04-16</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Copilot CLI supports custom registry based MCP allowlists</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200" b="1">
                <a:solidFill>
                  <a:srgbClr val="E6EDF3"/>
                </a:solidFill>
                <a:latin typeface="Mona Sans"/>
              </a:defRPr>
            </a:pPr>
            <a:r>
              <a:t>Copilot CLI supports custom registry based MCP allowlists</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2026-04-16</a:t>
            </a:r>
          </a:p>
        </p:txBody>
      </p:sp>
      <p:sp>
        <p:nvSpPr>
          <p:cNvPr id="5" name="TextBox 4"/>
          <p:cNvSpPr txBox="1"/>
          <p:nvPr/>
        </p:nvSpPr>
        <p:spPr>
          <a:xfrm>
            <a:off x="731520" y="1005840"/>
            <a:ext cx="10515600" cy="4635500"/>
          </a:xfrm>
          <a:prstGeom prst="rect">
            <a:avLst/>
          </a:prstGeom>
          <a:noFill/>
        </p:spPr>
        <p:txBody>
          <a:bodyPr wrap="square">
            <a:spAutoFit/>
          </a:bodyPr>
          <a:lstStyle/>
          <a:p>
            <a:pPr>
              <a:spcBef>
                <a:spcPts val="600"/>
              </a:spcBef>
              <a:spcAft>
                <a:spcPts val="400"/>
              </a:spcAft>
            </a:pPr>
            <a:r>
              <a:rPr sz="1500" b="1">
                <a:solidFill>
                  <a:srgbClr val="E6EDF3"/>
                </a:solidFill>
                <a:latin typeface="Mona Sans"/>
              </a:rPr>
              <a:t>What's new</a:t>
            </a:r>
          </a:p>
          <a:p>
            <a:pPr>
              <a:spcAft>
                <a:spcPts val="600"/>
              </a:spcAft>
            </a:pPr>
            <a:r>
              <a:rPr sz="1200" b="1">
                <a:solidFill>
                  <a:srgbClr val="E6EDF3"/>
                </a:solidFill>
                <a:latin typeface="Mona Sans"/>
              </a:rPr>
              <a:t>GitHub Copilot CLI</a:t>
            </a:r>
            <a:r>
              <a:rPr sz="1200">
                <a:solidFill>
                  <a:srgbClr val="C9D1D9"/>
                </a:solidFill>
                <a:latin typeface="Mona Sans"/>
              </a:rPr>
              <a:t> now supports </a:t>
            </a:r>
            <a:r>
              <a:rPr sz="1200" b="1">
                <a:solidFill>
                  <a:srgbClr val="E6EDF3"/>
                </a:solidFill>
                <a:latin typeface="Mona Sans"/>
              </a:rPr>
              <a:t>custom MCP registry allowlists</a:t>
            </a:r>
            <a:r>
              <a:rPr sz="1200">
                <a:solidFill>
                  <a:srgbClr val="C9D1D9"/>
                </a:solidFill>
                <a:latin typeface="Mona Sans"/>
              </a:rPr>
              <a:t>, letting enterprise admins specify exactly which Model Context Protocol servers can be used in terminal workflows — in </a:t>
            </a:r>
            <a:r>
              <a:rPr sz="1200" b="1">
                <a:solidFill>
                  <a:srgbClr val="E6EDF3"/>
                </a:solidFill>
                <a:latin typeface="Mona Sans"/>
              </a:rPr>
              <a:t>public preview</a:t>
            </a:r>
            <a:r>
              <a:rPr sz="1200">
                <a:solidFill>
                  <a:srgbClr val="C9D1D9"/>
                </a:solidFill>
                <a:latin typeface="Mona Sans"/>
              </a:rPr>
              <a:t>.</a:t>
            </a:r>
          </a:p>
          <a:p>
            <a:pPr>
              <a:spcBef>
                <a:spcPts val="1100"/>
              </a:spcBef>
              <a:spcAft>
                <a:spcPts val="300"/>
              </a:spcAft>
            </a:pPr>
            <a:r>
              <a:rPr sz="1000" b="1">
                <a:solidFill>
                  <a:srgbClr val="3FB950"/>
                </a:solidFill>
                <a:latin typeface="Mona Sans"/>
              </a:rPr>
              <a:t>WHY IT MATTERS</a:t>
            </a:r>
          </a:p>
          <a:p>
            <a:pPr>
              <a:spcAft>
                <a:spcPts val="300"/>
              </a:spcAft>
            </a:pPr>
            <a:r>
              <a:rPr sz="1200">
                <a:solidFill>
                  <a:srgbClr val="3FB950"/>
                </a:solidFill>
                <a:latin typeface="Mona Sans"/>
              </a:rPr>
              <a:t>•  </a:t>
            </a:r>
            <a:r>
              <a:rPr sz="1200" b="1">
                <a:solidFill>
                  <a:srgbClr val="E6EDF3"/>
                </a:solidFill>
                <a:latin typeface="Mona Sans"/>
              </a:rPr>
              <a:t>Governance at the CLI level</a:t>
            </a:r>
            <a:r>
              <a:rPr sz="1200">
                <a:solidFill>
                  <a:srgbClr val="C9D1D9"/>
                </a:solidFill>
                <a:latin typeface="Mona Sans"/>
              </a:rPr>
              <a:t> — MCP server allowlists enforced in the terminal, not just in IDEs or the web UI</a:t>
            </a:r>
          </a:p>
          <a:p>
            <a:pPr>
              <a:spcAft>
                <a:spcPts val="300"/>
              </a:spcAft>
            </a:pPr>
            <a:r>
              <a:rPr sz="1200">
                <a:solidFill>
                  <a:srgbClr val="3FB950"/>
                </a:solidFill>
                <a:latin typeface="Mona Sans"/>
              </a:rPr>
              <a:t>•  </a:t>
            </a:r>
            <a:r>
              <a:rPr sz="1200" b="1">
                <a:solidFill>
                  <a:srgbClr val="E6EDF3"/>
                </a:solidFill>
                <a:latin typeface="Mona Sans"/>
              </a:rPr>
              <a:t>Bring Your Own Registry (BYOR)</a:t>
            </a:r>
            <a:r>
              <a:rPr sz="1200">
                <a:solidFill>
                  <a:srgbClr val="C9D1D9"/>
                </a:solidFill>
                <a:latin typeface="Mona Sans"/>
              </a:rPr>
              <a:t> — admins point the CLI at an internal MCP registry URL; only listed servers are permitted</a:t>
            </a:r>
          </a:p>
          <a:p>
            <a:pPr>
              <a:spcAft>
                <a:spcPts val="300"/>
              </a:spcAft>
            </a:pPr>
            <a:r>
              <a:rPr sz="1200">
                <a:solidFill>
                  <a:srgbClr val="3FB950"/>
                </a:solidFill>
                <a:latin typeface="Mona Sans"/>
              </a:rPr>
              <a:t>•  </a:t>
            </a:r>
            <a:r>
              <a:rPr sz="1200" b="1">
                <a:solidFill>
                  <a:srgbClr val="E6EDF3"/>
                </a:solidFill>
                <a:latin typeface="Mona Sans"/>
              </a:rPr>
              <a:t>Runtime enforcement</a:t>
            </a:r>
            <a:r>
              <a:rPr sz="1200">
                <a:solidFill>
                  <a:srgbClr val="C9D1D9"/>
                </a:solidFill>
                <a:latin typeface="Mona Sans"/>
              </a:rPr>
              <a:t> — attempts to connect to unlisted MCP servers are blocked immediately</a:t>
            </a:r>
          </a:p>
          <a:p>
            <a:pPr>
              <a:spcAft>
                <a:spcPts val="300"/>
              </a:spcAft>
            </a:pPr>
            <a:r>
              <a:rPr sz="1200">
                <a:solidFill>
                  <a:srgbClr val="3FB950"/>
                </a:solidFill>
                <a:latin typeface="Mona Sans"/>
              </a:rPr>
              <a:t>•  </a:t>
            </a:r>
            <a:r>
              <a:rPr sz="1200" b="1">
                <a:solidFill>
                  <a:srgbClr val="E6EDF3"/>
                </a:solidFill>
                <a:latin typeface="Mona Sans"/>
              </a:rPr>
              <a:t>Unified policy coverage</a:t>
            </a:r>
            <a:r>
              <a:rPr sz="1200">
                <a:solidFill>
                  <a:srgbClr val="C9D1D9"/>
                </a:solidFill>
                <a:latin typeface="Mona Sans"/>
              </a:rPr>
              <a:t> — MCP governance now extends consistently across all Copilot surfaces</a:t>
            </a:r>
          </a:p>
          <a:p>
            <a:pPr>
              <a:spcBef>
                <a:spcPts val="1100"/>
              </a:spcBef>
              <a:spcAft>
                <a:spcPts val="300"/>
              </a:spcAft>
            </a:pPr>
            <a:r>
              <a:rPr sz="1000" b="1">
                <a:solidFill>
                  <a:srgbClr val="3FB950"/>
                </a:solidFill>
                <a:latin typeface="Mona Sans"/>
              </a:rPr>
              <a:t>WHERE YOU CAN USE IT</a:t>
            </a:r>
          </a:p>
          <a:p>
            <a:pPr>
              <a:spcAft>
                <a:spcPts val="300"/>
              </a:spcAft>
            </a:pPr>
            <a:r>
              <a:rPr sz="1200">
                <a:solidFill>
                  <a:srgbClr val="3FB950"/>
                </a:solidFill>
                <a:latin typeface="Mona Sans"/>
              </a:rPr>
              <a:t>•  </a:t>
            </a:r>
            <a:r>
              <a:rPr sz="1200" b="1">
                <a:solidFill>
                  <a:srgbClr val="E6EDF3"/>
                </a:solidFill>
                <a:latin typeface="Mona Sans"/>
              </a:rPr>
              <a:t>Terminal / shell</a:t>
            </a:r>
            <a:r>
              <a:rPr sz="1200">
                <a:solidFill>
                  <a:srgbClr val="C9D1D9"/>
                </a:solidFill>
                <a:latin typeface="Mona Sans"/>
              </a:rPr>
              <a:t> — any environment running GitHub Copilot CLI</a:t>
            </a:r>
          </a:p>
          <a:p>
            <a:pPr>
              <a:spcAft>
                <a:spcPts val="300"/>
              </a:spcAft>
            </a:pPr>
            <a:r>
              <a:rPr sz="1200">
                <a:solidFill>
                  <a:srgbClr val="3FB950"/>
                </a:solidFill>
                <a:latin typeface="Mona Sans"/>
              </a:rPr>
              <a:t>•  </a:t>
            </a:r>
            <a:r>
              <a:rPr sz="1200" b="1">
                <a:solidFill>
                  <a:srgbClr val="E6EDF3"/>
                </a:solidFill>
                <a:latin typeface="Mona Sans"/>
              </a:rPr>
              <a:t>Enterprise and organization policies page</a:t>
            </a:r>
            <a:r>
              <a:rPr sz="1200">
                <a:solidFill>
                  <a:srgbClr val="C9D1D9"/>
                </a:solidFill>
                <a:latin typeface="Mona Sans"/>
              </a:rPr>
              <a:t> — admins configure the registry URL from Copilot policies settings</a:t>
            </a:r>
          </a:p>
          <a:p>
            <a:pPr>
              <a:spcBef>
                <a:spcPts val="1100"/>
              </a:spcBef>
              <a:spcAft>
                <a:spcPts val="300"/>
              </a:spcAft>
            </a:pPr>
            <a:r>
              <a:rPr sz="1000" b="1">
                <a:solidFill>
                  <a:srgbClr val="3FB950"/>
                </a:solidFill>
                <a:latin typeface="Mona Sans"/>
              </a:rPr>
              <a:t>WHO GETS IT</a:t>
            </a:r>
          </a:p>
          <a:p>
            <a:pPr>
              <a:spcAft>
                <a:spcPts val="300"/>
              </a:spcAft>
            </a:pPr>
            <a:r>
              <a:rPr sz="1200">
                <a:solidFill>
                  <a:srgbClr val="3FB950"/>
                </a:solidFill>
                <a:latin typeface="Mona Sans"/>
              </a:rPr>
              <a:t>•  </a:t>
            </a:r>
            <a:r>
              <a:rPr sz="1200" b="1">
                <a:solidFill>
                  <a:srgbClr val="E6EDF3"/>
                </a:solidFill>
                <a:latin typeface="Mona Sans"/>
              </a:rPr>
              <a:t>Copilot Business and Enterprise</a:t>
            </a:r>
            <a:r>
              <a:rPr sz="1200">
                <a:solidFill>
                  <a:srgbClr val="C9D1D9"/>
                </a:solidFill>
                <a:latin typeface="Mona Sans"/>
              </a:rPr>
              <a:t> — public preview, available now</a:t>
            </a:r>
          </a:p>
          <a:p>
            <a:pPr>
              <a:spcAft>
                <a:spcPts val="300"/>
              </a:spcAft>
            </a:pPr>
            <a:r>
              <a:rPr sz="1200">
                <a:solidFill>
                  <a:srgbClr val="3FB950"/>
                </a:solidFill>
                <a:latin typeface="Mona Sans"/>
              </a:rPr>
              <a:t>•  </a:t>
            </a:r>
            <a:r>
              <a:rPr sz="1200" b="1">
                <a:solidFill>
                  <a:srgbClr val="E6EDF3"/>
                </a:solidFill>
                <a:latin typeface="Mona Sans"/>
              </a:rPr>
              <a:t>Setup</a:t>
            </a:r>
            <a:r>
              <a:rPr sz="1200">
                <a:solidFill>
                  <a:srgbClr val="C9D1D9"/>
                </a:solidFill>
                <a:latin typeface="Mona Sans"/>
              </a:rPr>
              <a:t> — admins configure the MCP registry URL per GitHub docs: "Configure an MCP registry for your organization or enterprise"</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https://github.blog/changelog/2026-04-16-copilot-cli-supports-custom-registry-based-mcp-allowlists/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2026-04-16</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Manage agent skills with GitHub CLI</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100" b="1">
                <a:solidFill>
                  <a:srgbClr val="E6EDF3"/>
                </a:solidFill>
                <a:latin typeface="Mona Sans"/>
              </a:defRPr>
            </a:pPr>
            <a:r>
              <a:t>Manage agent skills with GitHub CLI</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2026-04-16</a:t>
            </a:r>
          </a:p>
        </p:txBody>
      </p:sp>
      <p:sp>
        <p:nvSpPr>
          <p:cNvPr id="5" name="TextBox 4"/>
          <p:cNvSpPr txBox="1"/>
          <p:nvPr/>
        </p:nvSpPr>
        <p:spPr>
          <a:xfrm>
            <a:off x="731520" y="1005840"/>
            <a:ext cx="10515600" cy="4584700"/>
          </a:xfrm>
          <a:prstGeom prst="rect">
            <a:avLst/>
          </a:prstGeom>
          <a:noFill/>
        </p:spPr>
        <p:txBody>
          <a:bodyPr wrap="square">
            <a:spAutoFit/>
          </a:bodyPr>
          <a:lstStyle/>
          <a:p>
            <a:pPr>
              <a:spcBef>
                <a:spcPts val="600"/>
              </a:spcBef>
              <a:spcAft>
                <a:spcPts val="400"/>
              </a:spcAft>
            </a:pPr>
            <a:r>
              <a:rPr sz="1500" b="1">
                <a:solidFill>
                  <a:srgbClr val="E6EDF3"/>
                </a:solidFill>
                <a:latin typeface="Mona Sans"/>
              </a:rPr>
              <a:t>What's new</a:t>
            </a:r>
          </a:p>
          <a:p>
            <a:pPr>
              <a:spcAft>
                <a:spcPts val="600"/>
              </a:spcAft>
            </a:pPr>
            <a:r>
              <a:rPr sz="1200" b="1">
                <a:solidFill>
                  <a:srgbClr val="E6EDF3"/>
                </a:solidFill>
                <a:latin typeface="Mona Sans"/>
              </a:rPr>
              <a:t>GitHub CLI v2.90.0</a:t>
            </a:r>
            <a:r>
              <a:rPr sz="1200">
                <a:solidFill>
                  <a:srgbClr val="C9D1D9"/>
                </a:solidFill>
                <a:latin typeface="Mona Sans"/>
              </a:rPr>
              <a:t> introduces the `gh skill` command, a </a:t>
            </a:r>
            <a:r>
              <a:rPr sz="1200" b="1">
                <a:solidFill>
                  <a:srgbClr val="E6EDF3"/>
                </a:solidFill>
                <a:latin typeface="Mona Sans"/>
              </a:rPr>
              <a:t>package-manager-style</a:t>
            </a:r>
            <a:r>
              <a:rPr sz="1200">
                <a:solidFill>
                  <a:srgbClr val="C9D1D9"/>
                </a:solidFill>
                <a:latin typeface="Mona Sans"/>
              </a:rPr>
              <a:t> interface for discovering, installing, updating, and publishing </a:t>
            </a:r>
            <a:r>
              <a:rPr sz="1200" b="1">
                <a:solidFill>
                  <a:srgbClr val="E6EDF3"/>
                </a:solidFill>
                <a:latin typeface="Mona Sans"/>
              </a:rPr>
              <a:t>agent skills</a:t>
            </a:r>
            <a:r>
              <a:rPr sz="1200">
                <a:solidFill>
                  <a:srgbClr val="C9D1D9"/>
                </a:solidFill>
                <a:latin typeface="Mona Sans"/>
              </a:rPr>
              <a:t> across any AI coding agent.</a:t>
            </a:r>
          </a:p>
          <a:p>
            <a:pPr>
              <a:spcBef>
                <a:spcPts val="1000"/>
              </a:spcBef>
              <a:spcAft>
                <a:spcPts val="300"/>
              </a:spcAft>
            </a:pPr>
            <a:r>
              <a:rPr sz="900" b="1">
                <a:solidFill>
                  <a:srgbClr val="3FB950"/>
                </a:solidFill>
                <a:latin typeface="Mona Sans"/>
              </a:rPr>
              <a:t>WHY IT MATTERS</a:t>
            </a:r>
          </a:p>
          <a:p>
            <a:pPr>
              <a:spcAft>
                <a:spcPts val="300"/>
              </a:spcAft>
            </a:pPr>
            <a:r>
              <a:rPr sz="1200">
                <a:solidFill>
                  <a:srgbClr val="3FB950"/>
                </a:solidFill>
                <a:latin typeface="Mona Sans"/>
              </a:rPr>
              <a:t>•  </a:t>
            </a:r>
            <a:r>
              <a:rPr sz="1200" b="1">
                <a:solidFill>
                  <a:srgbClr val="E6EDF3"/>
                </a:solidFill>
                <a:latin typeface="Mona Sans"/>
              </a:rPr>
              <a:t>Universal agent support</a:t>
            </a:r>
            <a:r>
              <a:rPr sz="1200">
                <a:solidFill>
                  <a:srgbClr val="C9D1D9"/>
                </a:solidFill>
                <a:latin typeface="Mona Sans"/>
              </a:rPr>
              <a:t> — skills work with Copilot, Claude Code, Cursor, Codex, Gemini CLI, and any Agent Skills spec-compatible host</a:t>
            </a:r>
          </a:p>
          <a:p>
            <a:pPr>
              <a:spcAft>
                <a:spcPts val="300"/>
              </a:spcAft>
            </a:pPr>
            <a:r>
              <a:rPr sz="1200">
                <a:solidFill>
                  <a:srgbClr val="3FB950"/>
                </a:solidFill>
                <a:latin typeface="Mona Sans"/>
              </a:rPr>
              <a:t>•  </a:t>
            </a:r>
            <a:r>
              <a:rPr sz="1200" b="1">
                <a:solidFill>
                  <a:srgbClr val="E6EDF3"/>
                </a:solidFill>
                <a:latin typeface="Mona Sans"/>
              </a:rPr>
              <a:t>Reproducible installs</a:t>
            </a:r>
            <a:r>
              <a:rPr sz="1200">
                <a:solidFill>
                  <a:srgbClr val="C9D1D9"/>
                </a:solidFill>
                <a:latin typeface="Mona Sans"/>
              </a:rPr>
              <a:t> — skills are pinned by tag or commit SHA for supply chain integrity</a:t>
            </a:r>
          </a:p>
          <a:p>
            <a:pPr>
              <a:spcAft>
                <a:spcPts val="300"/>
              </a:spcAft>
            </a:pPr>
            <a:r>
              <a:rPr sz="1200">
                <a:solidFill>
                  <a:srgbClr val="3FB950"/>
                </a:solidFill>
                <a:latin typeface="Mona Sans"/>
              </a:rPr>
              <a:t>•  </a:t>
            </a:r>
            <a:r>
              <a:rPr sz="1200" b="1">
                <a:solidFill>
                  <a:srgbClr val="E6EDF3"/>
                </a:solidFill>
                <a:latin typeface="Mona Sans"/>
              </a:rPr>
              <a:t>Provenance tracking</a:t>
            </a:r>
            <a:r>
              <a:rPr sz="1200">
                <a:solidFill>
                  <a:srgbClr val="C9D1D9"/>
                </a:solidFill>
                <a:latin typeface="Mona Sans"/>
              </a:rPr>
              <a:t> — git tree SHAs and SKILL.md metadata recorded on every install</a:t>
            </a:r>
          </a:p>
          <a:p>
            <a:pPr>
              <a:spcAft>
                <a:spcPts val="300"/>
              </a:spcAft>
            </a:pPr>
            <a:r>
              <a:rPr sz="1200">
                <a:solidFill>
                  <a:srgbClr val="3FB950"/>
                </a:solidFill>
                <a:latin typeface="Mona Sans"/>
              </a:rPr>
              <a:t>•  </a:t>
            </a:r>
            <a:r>
              <a:rPr sz="1200" b="1">
                <a:solidFill>
                  <a:srgbClr val="E6EDF3"/>
                </a:solidFill>
                <a:latin typeface="Mona Sans"/>
              </a:rPr>
              <a:t>Discovery built-in</a:t>
            </a:r>
            <a:r>
              <a:rPr sz="1200">
                <a:solidFill>
                  <a:srgbClr val="C9D1D9"/>
                </a:solidFill>
                <a:latin typeface="Mona Sans"/>
              </a:rPr>
              <a:t> — `gh skill search &lt;keyword&gt;` finds available skills across GitHub repositories</a:t>
            </a:r>
          </a:p>
          <a:p>
            <a:pPr>
              <a:spcAft>
                <a:spcPts val="300"/>
              </a:spcAft>
            </a:pPr>
            <a:r>
              <a:rPr sz="1200">
                <a:solidFill>
                  <a:srgbClr val="3FB950"/>
                </a:solidFill>
                <a:latin typeface="Mona Sans"/>
              </a:rPr>
              <a:t>•  </a:t>
            </a:r>
            <a:r>
              <a:rPr sz="1200" b="1">
                <a:solidFill>
                  <a:srgbClr val="E6EDF3"/>
                </a:solidFill>
                <a:latin typeface="Mona Sans"/>
              </a:rPr>
              <a:t>Scoped installs</a:t>
            </a:r>
            <a:r>
              <a:rPr sz="1200">
                <a:solidFill>
                  <a:srgbClr val="C9D1D9"/>
                </a:solidFill>
                <a:latin typeface="Mona Sans"/>
              </a:rPr>
              <a:t> — target a specific agent and scope (user or repository) with flags</a:t>
            </a:r>
          </a:p>
          <a:p>
            <a:pPr>
              <a:spcBef>
                <a:spcPts val="1000"/>
              </a:spcBef>
              <a:spcAft>
                <a:spcPts val="300"/>
              </a:spcAft>
            </a:pPr>
            <a:r>
              <a:rPr sz="900" b="1">
                <a:solidFill>
                  <a:srgbClr val="3FB950"/>
                </a:solidFill>
                <a:latin typeface="Mona Sans"/>
              </a:rPr>
              <a:t>WHERE YOU CAN USE IT</a:t>
            </a:r>
          </a:p>
          <a:p>
            <a:pPr>
              <a:spcAft>
                <a:spcPts val="300"/>
              </a:spcAft>
            </a:pPr>
            <a:r>
              <a:rPr sz="1200">
                <a:solidFill>
                  <a:srgbClr val="3FB950"/>
                </a:solidFill>
                <a:latin typeface="Mona Sans"/>
              </a:rPr>
              <a:t>•  </a:t>
            </a:r>
            <a:r>
              <a:rPr sz="1200" b="1">
                <a:solidFill>
                  <a:srgbClr val="E6EDF3"/>
                </a:solidFill>
                <a:latin typeface="Mona Sans"/>
              </a:rPr>
              <a:t>Terminal</a:t>
            </a:r>
            <a:r>
              <a:rPr sz="1200">
                <a:solidFill>
                  <a:srgbClr val="C9D1D9"/>
                </a:solidFill>
                <a:latin typeface="Mona Sans"/>
              </a:rPr>
              <a:t> — available in GitHub CLI v2.90.0+</a:t>
            </a:r>
          </a:p>
          <a:p>
            <a:pPr>
              <a:spcAft>
                <a:spcPts val="300"/>
              </a:spcAft>
            </a:pPr>
            <a:r>
              <a:rPr sz="1200">
                <a:solidFill>
                  <a:srgbClr val="3FB950"/>
                </a:solidFill>
                <a:latin typeface="Mona Sans"/>
              </a:rPr>
              <a:t>•  </a:t>
            </a:r>
            <a:r>
              <a:rPr sz="1200" b="1">
                <a:solidFill>
                  <a:srgbClr val="E6EDF3"/>
                </a:solidFill>
                <a:latin typeface="Mona Sans"/>
              </a:rPr>
              <a:t>Any AI agent host</a:t>
            </a:r>
            <a:r>
              <a:rPr sz="1200">
                <a:solidFill>
                  <a:srgbClr val="C9D1D9"/>
                </a:solidFill>
                <a:latin typeface="Mona Sans"/>
              </a:rPr>
              <a:t> — skills install into the appropriate config for your chosen agent</a:t>
            </a:r>
          </a:p>
          <a:p>
            <a:pPr>
              <a:spcBef>
                <a:spcPts val="1000"/>
              </a:spcBef>
              <a:spcAft>
                <a:spcPts val="300"/>
              </a:spcAft>
            </a:pPr>
            <a:r>
              <a:rPr sz="900" b="1">
                <a:solidFill>
                  <a:srgbClr val="3FB950"/>
                </a:solidFill>
                <a:latin typeface="Mona Sans"/>
              </a:rPr>
              <a:t>WHO GETS IT</a:t>
            </a:r>
          </a:p>
          <a:p>
            <a:pPr>
              <a:spcAft>
                <a:spcPts val="300"/>
              </a:spcAft>
            </a:pPr>
            <a:r>
              <a:rPr sz="1200">
                <a:solidFill>
                  <a:srgbClr val="3FB950"/>
                </a:solidFill>
                <a:latin typeface="Mona Sans"/>
              </a:rPr>
              <a:t>•  </a:t>
            </a:r>
            <a:r>
              <a:rPr sz="1200" b="1">
                <a:solidFill>
                  <a:srgbClr val="E6EDF3"/>
                </a:solidFill>
                <a:latin typeface="Mona Sans"/>
              </a:rPr>
              <a:t>All GitHub users</a:t>
            </a:r>
            <a:r>
              <a:rPr sz="1200">
                <a:solidFill>
                  <a:srgbClr val="C9D1D9"/>
                </a:solidFill>
                <a:latin typeface="Mona Sans"/>
              </a:rPr>
              <a:t> — available with GitHub CLI v2.90.0 and any compatible AI coding agent subscription</a:t>
            </a:r>
          </a:p>
          <a:p>
            <a:pPr>
              <a:spcAft>
                <a:spcPts val="300"/>
              </a:spcAft>
            </a:pPr>
            <a:r>
              <a:rPr sz="1200">
                <a:solidFill>
                  <a:srgbClr val="3FB950"/>
                </a:solidFill>
                <a:latin typeface="Mona Sans"/>
              </a:rPr>
              <a:t>•  </a:t>
            </a:r>
            <a:r>
              <a:rPr sz="1200" b="1">
                <a:solidFill>
                  <a:srgbClr val="E6EDF3"/>
                </a:solidFill>
                <a:latin typeface="Mona Sans"/>
              </a:rPr>
              <a:t>Available now</a:t>
            </a:r>
            <a:r>
              <a:rPr sz="1200">
                <a:solidFill>
                  <a:srgbClr val="C9D1D9"/>
                </a:solidFill>
                <a:latin typeface="Mona Sans"/>
              </a:rPr>
              <a:t> — `gh skill install`, `gh skill search`, `gh skill update`, `gh skill publish`</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https://github.blog/changelog/2026-04-16-manage-agent-skills-with-github-cli/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2026-04-17</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GitHub Copilot CLI now supports Copilot auto model selection</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200" b="1">
                <a:solidFill>
                  <a:srgbClr val="E6EDF3"/>
                </a:solidFill>
                <a:latin typeface="Mona Sans"/>
              </a:defRPr>
            </a:pPr>
            <a:r>
              <a:t>GitHub Copilot CLI now supports Copilot auto model selection</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2026-04-17</a:t>
            </a:r>
          </a:p>
        </p:txBody>
      </p:sp>
      <p:sp>
        <p:nvSpPr>
          <p:cNvPr id="5" name="TextBox 4"/>
          <p:cNvSpPr txBox="1"/>
          <p:nvPr/>
        </p:nvSpPr>
        <p:spPr>
          <a:xfrm>
            <a:off x="731520" y="1005840"/>
            <a:ext cx="10515600" cy="4584700"/>
          </a:xfrm>
          <a:prstGeom prst="rect">
            <a:avLst/>
          </a:prstGeom>
          <a:noFill/>
        </p:spPr>
        <p:txBody>
          <a:bodyPr wrap="square">
            <a:spAutoFit/>
          </a:bodyPr>
          <a:lstStyle/>
          <a:p>
            <a:pPr>
              <a:spcBef>
                <a:spcPts val="600"/>
              </a:spcBef>
              <a:spcAft>
                <a:spcPts val="400"/>
              </a:spcAft>
            </a:pPr>
            <a:r>
              <a:rPr sz="1600" b="1">
                <a:solidFill>
                  <a:srgbClr val="E6EDF3"/>
                </a:solidFill>
                <a:latin typeface="Mona Sans"/>
              </a:rPr>
              <a:t>What's new</a:t>
            </a:r>
          </a:p>
          <a:p>
            <a:pPr>
              <a:spcAft>
                <a:spcPts val="600"/>
              </a:spcAft>
            </a:pPr>
            <a:r>
              <a:rPr sz="1300" b="1">
                <a:solidFill>
                  <a:srgbClr val="E6EDF3"/>
                </a:solidFill>
                <a:latin typeface="Mona Sans"/>
              </a:rPr>
              <a:t>GitHub Copilot CLI</a:t>
            </a:r>
            <a:r>
              <a:rPr sz="1300">
                <a:solidFill>
                  <a:srgbClr val="C9D1D9"/>
                </a:solidFill>
                <a:latin typeface="Mona Sans"/>
              </a:rPr>
              <a:t> now supports </a:t>
            </a:r>
            <a:r>
              <a:rPr sz="1300" b="1">
                <a:solidFill>
                  <a:srgbClr val="E6EDF3"/>
                </a:solidFill>
                <a:latin typeface="Mona Sans"/>
              </a:rPr>
              <a:t>auto model selection</a:t>
            </a:r>
            <a:r>
              <a:rPr sz="1300">
                <a:solidFill>
                  <a:srgbClr val="C9D1D9"/>
                </a:solidFill>
                <a:latin typeface="Mona Sans"/>
              </a:rPr>
              <a:t> (GA), dynamically routing each request to the most capable available model while respecting rate limits and organizational policies.</a:t>
            </a:r>
          </a:p>
          <a:p>
            <a:pPr>
              <a:spcBef>
                <a:spcPts val="1100"/>
              </a:spcBef>
              <a:spcAft>
                <a:spcPts val="300"/>
              </a:spcAft>
            </a:pPr>
            <a:r>
              <a:rPr sz="1000" b="1">
                <a:solidFill>
                  <a:srgbClr val="3FB950"/>
                </a:solidFill>
                <a:latin typeface="Mona Sans"/>
              </a:rPr>
              <a:t>WHY IT MATTERS</a:t>
            </a:r>
          </a:p>
          <a:p>
            <a:pPr>
              <a:spcAft>
                <a:spcPts val="300"/>
              </a:spcAft>
            </a:pPr>
            <a:r>
              <a:rPr sz="1300">
                <a:solidFill>
                  <a:srgbClr val="3FB950"/>
                </a:solidFill>
                <a:latin typeface="Mona Sans"/>
              </a:rPr>
              <a:t>•  </a:t>
            </a:r>
            <a:r>
              <a:rPr sz="1300" b="1">
                <a:solidFill>
                  <a:srgbClr val="E6EDF3"/>
                </a:solidFill>
                <a:latin typeface="Mona Sans"/>
              </a:rPr>
              <a:t>Smart routing</a:t>
            </a:r>
            <a:r>
              <a:rPr sz="1300">
                <a:solidFill>
                  <a:srgbClr val="C9D1D9"/>
                </a:solidFill>
                <a:latin typeface="Mona Sans"/>
              </a:rPr>
              <a:t> — automatically selects among GPT-5.4, GPT-5.3-Codex, Claude Sonnet 4.6, and Haiku 4.5 based on availability</a:t>
            </a:r>
          </a:p>
          <a:p>
            <a:pPr>
              <a:spcAft>
                <a:spcPts val="300"/>
              </a:spcAft>
            </a:pPr>
            <a:r>
              <a:rPr sz="1300">
                <a:solidFill>
                  <a:srgbClr val="3FB950"/>
                </a:solidFill>
                <a:latin typeface="Mona Sans"/>
              </a:rPr>
              <a:t>•  </a:t>
            </a:r>
            <a:r>
              <a:rPr sz="1300" b="1">
                <a:solidFill>
                  <a:srgbClr val="E6EDF3"/>
                </a:solidFill>
                <a:latin typeface="Mona Sans"/>
              </a:rPr>
              <a:t>Rate limit resilience</a:t>
            </a:r>
            <a:r>
              <a:rPr sz="1300">
                <a:solidFill>
                  <a:srgbClr val="C9D1D9"/>
                </a:solidFill>
                <a:latin typeface="Mona Sans"/>
              </a:rPr>
              <a:t> — routes around congestion or temporary provider unavailability</a:t>
            </a:r>
          </a:p>
          <a:p>
            <a:pPr>
              <a:spcAft>
                <a:spcPts val="300"/>
              </a:spcAft>
            </a:pPr>
            <a:r>
              <a:rPr sz="1300">
                <a:solidFill>
                  <a:srgbClr val="3FB950"/>
                </a:solidFill>
                <a:latin typeface="Mona Sans"/>
              </a:rPr>
              <a:t>•  </a:t>
            </a:r>
            <a:r>
              <a:rPr sz="1300" b="1">
                <a:solidFill>
                  <a:srgbClr val="E6EDF3"/>
                </a:solidFill>
                <a:latin typeface="Mona Sans"/>
              </a:rPr>
              <a:t>Transparent selection</a:t>
            </a:r>
            <a:r>
              <a:rPr sz="1300">
                <a:solidFill>
                  <a:srgbClr val="C9D1D9"/>
                </a:solidFill>
                <a:latin typeface="Mona Sans"/>
              </a:rPr>
              <a:t> — the CLI reports which model was selected for every request</a:t>
            </a:r>
          </a:p>
          <a:p>
            <a:pPr>
              <a:spcAft>
                <a:spcPts val="300"/>
              </a:spcAft>
            </a:pPr>
            <a:r>
              <a:rPr sz="1300">
                <a:solidFill>
                  <a:srgbClr val="3FB950"/>
                </a:solidFill>
                <a:latin typeface="Mona Sans"/>
              </a:rPr>
              <a:t>•  </a:t>
            </a:r>
            <a:r>
              <a:rPr sz="1300" b="1">
                <a:solidFill>
                  <a:srgbClr val="E6EDF3"/>
                </a:solidFill>
                <a:latin typeface="Mona Sans"/>
              </a:rPr>
              <a:t>Policy compliance</a:t>
            </a:r>
            <a:r>
              <a:rPr sz="1300">
                <a:solidFill>
                  <a:srgbClr val="C9D1D9"/>
                </a:solidFill>
                <a:latin typeface="Mona Sans"/>
              </a:rPr>
              <a:t> — strictly respects organization and admin model restrictions</a:t>
            </a:r>
          </a:p>
          <a:p>
            <a:pPr>
              <a:spcAft>
                <a:spcPts val="300"/>
              </a:spcAft>
            </a:pPr>
            <a:r>
              <a:rPr sz="1300">
                <a:solidFill>
                  <a:srgbClr val="3FB950"/>
                </a:solidFill>
                <a:latin typeface="Mona Sans"/>
              </a:rPr>
              <a:t>•  </a:t>
            </a:r>
            <a:r>
              <a:rPr sz="1300" b="1">
                <a:solidFill>
                  <a:srgbClr val="E6EDF3"/>
                </a:solidFill>
                <a:latin typeface="Mona Sans"/>
              </a:rPr>
              <a:t>10% billing discount</a:t>
            </a:r>
            <a:r>
              <a:rPr sz="1300">
                <a:solidFill>
                  <a:srgbClr val="C9D1D9"/>
                </a:solidFill>
                <a:latin typeface="Mona Sans"/>
              </a:rPr>
              <a:t> — paid subscribers using auto get a 10% discount on the premium request multiplier</a:t>
            </a:r>
          </a:p>
          <a:p>
            <a:pPr>
              <a:spcBef>
                <a:spcPts val="1100"/>
              </a:spcBef>
              <a:spcAft>
                <a:spcPts val="300"/>
              </a:spcAft>
            </a:pPr>
            <a:r>
              <a:rPr sz="1000" b="1">
                <a:solidFill>
                  <a:srgbClr val="3FB950"/>
                </a:solidFill>
                <a:latin typeface="Mona Sans"/>
              </a:rPr>
              <a:t>WHERE YOU CAN USE IT</a:t>
            </a:r>
          </a:p>
          <a:p>
            <a:pPr>
              <a:spcAft>
                <a:spcPts val="300"/>
              </a:spcAft>
            </a:pPr>
            <a:r>
              <a:rPr sz="1300">
                <a:solidFill>
                  <a:srgbClr val="3FB950"/>
                </a:solidFill>
                <a:latin typeface="Mona Sans"/>
              </a:rPr>
              <a:t>•  </a:t>
            </a:r>
            <a:r>
              <a:rPr sz="1300" b="1">
                <a:solidFill>
                  <a:srgbClr val="E6EDF3"/>
                </a:solidFill>
                <a:latin typeface="Mona Sans"/>
              </a:rPr>
              <a:t>GitHub Copilot CLI</a:t>
            </a:r>
            <a:r>
              <a:rPr sz="1300">
                <a:solidFill>
                  <a:srgbClr val="C9D1D9"/>
                </a:solidFill>
                <a:latin typeface="Mona Sans"/>
              </a:rPr>
              <a:t> — all platforms where CLI is installed</a:t>
            </a:r>
          </a:p>
          <a:p>
            <a:pPr>
              <a:spcBef>
                <a:spcPts val="1100"/>
              </a:spcBef>
              <a:spcAft>
                <a:spcPts val="300"/>
              </a:spcAft>
            </a:pPr>
            <a:r>
              <a:rPr sz="1000" b="1">
                <a:solidFill>
                  <a:srgbClr val="3FB950"/>
                </a:solidFill>
                <a:latin typeface="Mona Sans"/>
              </a:rPr>
              <a:t>WHO GETS IT</a:t>
            </a:r>
          </a:p>
          <a:p>
            <a:pPr>
              <a:spcAft>
                <a:spcPts val="300"/>
              </a:spcAft>
            </a:pPr>
            <a:r>
              <a:rPr sz="1300">
                <a:solidFill>
                  <a:srgbClr val="3FB950"/>
                </a:solidFill>
                <a:latin typeface="Mona Sans"/>
              </a:rPr>
              <a:t>•  </a:t>
            </a:r>
            <a:r>
              <a:rPr sz="1300" b="1">
                <a:solidFill>
                  <a:srgbClr val="E6EDF3"/>
                </a:solidFill>
                <a:latin typeface="Mona Sans"/>
              </a:rPr>
              <a:t>All paid Copilot plans</a:t>
            </a:r>
            <a:r>
              <a:rPr sz="1300">
                <a:solidFill>
                  <a:srgbClr val="C9D1D9"/>
                </a:solidFill>
                <a:latin typeface="Mona Sans"/>
              </a:rPr>
              <a:t> — generally available now</a:t>
            </a:r>
          </a:p>
          <a:p>
            <a:pPr>
              <a:spcAft>
                <a:spcPts val="300"/>
              </a:spcAft>
            </a:pPr>
            <a:r>
              <a:rPr sz="1300">
                <a:solidFill>
                  <a:srgbClr val="3FB950"/>
                </a:solidFill>
                <a:latin typeface="Mona Sans"/>
              </a:rPr>
              <a:t>•  </a:t>
            </a:r>
            <a:r>
              <a:rPr sz="1300" b="1">
                <a:solidFill>
                  <a:srgbClr val="E6EDF3"/>
                </a:solidFill>
                <a:latin typeface="Mona Sans"/>
              </a:rPr>
              <a:t>Toggle anytime</a:t>
            </a:r>
            <a:r>
              <a:rPr sz="1300">
                <a:solidFill>
                  <a:srgbClr val="C9D1D9"/>
                </a:solidFill>
                <a:latin typeface="Mona Sans"/>
              </a:rPr>
              <a:t> — switch between `auto` and a pinned model at any time</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https://github.blog/changelog/2026-04-17-github-copilot-cli-now-supports-copilot-auto-model-selection/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2026-04-22</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Bring your own language model key in VS Code now available</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Bring your own language model key in VS Code now available</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2026-04-22</a:t>
            </a:r>
          </a:p>
        </p:txBody>
      </p:sp>
      <p:sp>
        <p:nvSpPr>
          <p:cNvPr id="5" name="TextBox 4"/>
          <p:cNvSpPr txBox="1"/>
          <p:nvPr/>
        </p:nvSpPr>
        <p:spPr>
          <a:xfrm>
            <a:off x="731520" y="1005840"/>
            <a:ext cx="10515600" cy="4521200"/>
          </a:xfrm>
          <a:prstGeom prst="rect">
            <a:avLst/>
          </a:prstGeom>
          <a:noFill/>
        </p:spPr>
        <p:txBody>
          <a:bodyPr wrap="square">
            <a:spAutoFit/>
          </a:bodyPr>
          <a:lstStyle/>
          <a:p>
            <a:pPr>
              <a:spcBef>
                <a:spcPts val="500"/>
              </a:spcBef>
              <a:spcAft>
                <a:spcPts val="400"/>
              </a:spcAft>
            </a:pPr>
            <a:r>
              <a:rPr sz="1400" b="1">
                <a:solidFill>
                  <a:srgbClr val="E6EDF3"/>
                </a:solidFill>
                <a:latin typeface="Mona Sans"/>
              </a:rPr>
              <a:t>What's new</a:t>
            </a:r>
          </a:p>
          <a:p>
            <a:pPr>
              <a:spcAft>
                <a:spcPts val="500"/>
              </a:spcAft>
            </a:pPr>
            <a:r>
              <a:rPr sz="1100" b="1">
                <a:solidFill>
                  <a:srgbClr val="E6EDF3"/>
                </a:solidFill>
                <a:latin typeface="Mona Sans"/>
              </a:rPr>
              <a:t>GitHub Copilot Business and Enterprise</a:t>
            </a:r>
            <a:r>
              <a:rPr sz="1100">
                <a:solidFill>
                  <a:srgbClr val="C9D1D9"/>
                </a:solidFill>
                <a:latin typeface="Mona Sans"/>
              </a:rPr>
              <a:t> users can now use </a:t>
            </a:r>
            <a:r>
              <a:rPr sz="1100" b="1">
                <a:solidFill>
                  <a:srgbClr val="E6EDF3"/>
                </a:solidFill>
                <a:latin typeface="Mona Sans"/>
              </a:rPr>
              <a:t>Bring Your Own Key (BYOK)</a:t>
            </a:r>
            <a:r>
              <a:rPr sz="1100">
                <a:solidFill>
                  <a:srgbClr val="C9D1D9"/>
                </a:solidFill>
                <a:latin typeface="Mona Sans"/>
              </a:rPr>
              <a:t> in </a:t>
            </a:r>
            <a:r>
              <a:rPr sz="1100" b="1">
                <a:solidFill>
                  <a:srgbClr val="E6EDF3"/>
                </a:solidFill>
                <a:latin typeface="Mona Sans"/>
              </a:rPr>
              <a:t>VS Code</a:t>
            </a:r>
            <a:r>
              <a:rPr sz="1100">
                <a:solidFill>
                  <a:srgbClr val="C9D1D9"/>
                </a:solidFill>
                <a:latin typeface="Mona Sans"/>
              </a:rPr>
              <a:t>, connecting their own API keys for models from Anthropic, OpenAI, Azure, Google Gemini, OpenRouter, and local providers like Ollama.</a:t>
            </a:r>
          </a:p>
          <a:p>
            <a:pPr>
              <a:spcBef>
                <a:spcPts val="1000"/>
              </a:spcBef>
              <a:spcAft>
                <a:spcPts val="200"/>
              </a:spcAft>
            </a:pPr>
            <a:r>
              <a:rPr sz="900" b="1">
                <a:solidFill>
                  <a:srgbClr val="3FB950"/>
                </a:solidFill>
                <a:latin typeface="Mona Sans"/>
              </a:rPr>
              <a:t>WHY IT MATTERS</a:t>
            </a:r>
          </a:p>
          <a:p>
            <a:pPr>
              <a:spcAft>
                <a:spcPts val="200"/>
              </a:spcAft>
            </a:pPr>
            <a:r>
              <a:rPr sz="1100">
                <a:solidFill>
                  <a:srgbClr val="3FB950"/>
                </a:solidFill>
                <a:latin typeface="Mona Sans"/>
              </a:rPr>
              <a:t>•  </a:t>
            </a:r>
            <a:r>
              <a:rPr sz="1100" b="1">
                <a:solidFill>
                  <a:srgbClr val="E6EDF3"/>
                </a:solidFill>
                <a:latin typeface="Mona Sans"/>
              </a:rPr>
              <a:t>Provider freedom</a:t>
            </a:r>
            <a:r>
              <a:rPr sz="1100">
                <a:solidFill>
                  <a:srgbClr val="C9D1D9"/>
                </a:solidFill>
                <a:latin typeface="Mona Sans"/>
              </a:rPr>
              <a:t> — access models not included in the default Copilot offering, including local and air-gapped options</a:t>
            </a:r>
          </a:p>
          <a:p>
            <a:pPr>
              <a:spcAft>
                <a:spcPts val="200"/>
              </a:spcAft>
            </a:pPr>
            <a:r>
              <a:rPr sz="1100">
                <a:solidFill>
                  <a:srgbClr val="3FB950"/>
                </a:solidFill>
                <a:latin typeface="Mona Sans"/>
              </a:rPr>
              <a:t>•  </a:t>
            </a:r>
            <a:r>
              <a:rPr sz="1100" b="1">
                <a:solidFill>
                  <a:srgbClr val="E6EDF3"/>
                </a:solidFill>
                <a:latin typeface="Mona Sans"/>
              </a:rPr>
              <a:t>Independent billing</a:t>
            </a:r>
            <a:r>
              <a:rPr sz="1100">
                <a:solidFill>
                  <a:srgbClr val="C9D1D9"/>
                </a:solidFill>
                <a:latin typeface="Mona Sans"/>
              </a:rPr>
              <a:t> — BYOK usage is billed directly by the provider, not by GitHub, and does not count against Copilot request quotas</a:t>
            </a:r>
          </a:p>
          <a:p>
            <a:pPr>
              <a:spcAft>
                <a:spcPts val="200"/>
              </a:spcAft>
            </a:pPr>
            <a:r>
              <a:rPr sz="1100">
                <a:solidFill>
                  <a:srgbClr val="3FB950"/>
                </a:solidFill>
                <a:latin typeface="Mona Sans"/>
              </a:rPr>
              <a:t>•  </a:t>
            </a:r>
            <a:r>
              <a:rPr sz="1100" b="1">
                <a:solidFill>
                  <a:srgbClr val="E6EDF3"/>
                </a:solidFill>
                <a:latin typeface="Mona Sans"/>
              </a:rPr>
              <a:t>Compliance and cost control</a:t>
            </a:r>
            <a:r>
              <a:rPr sz="1100">
                <a:solidFill>
                  <a:srgbClr val="C9D1D9"/>
                </a:solidFill>
                <a:latin typeface="Mona Sans"/>
              </a:rPr>
              <a:t> — route to specific providers for regional or regulatory requirements</a:t>
            </a:r>
          </a:p>
          <a:p>
            <a:pPr>
              <a:spcAft>
                <a:spcPts val="200"/>
              </a:spcAft>
            </a:pPr>
            <a:r>
              <a:rPr sz="1100">
                <a:solidFill>
                  <a:srgbClr val="3FB950"/>
                </a:solidFill>
                <a:latin typeface="Mona Sans"/>
              </a:rPr>
              <a:t>•  </a:t>
            </a:r>
            <a:r>
              <a:rPr sz="1100" b="1">
                <a:solidFill>
                  <a:srgbClr val="E6EDF3"/>
                </a:solidFill>
                <a:latin typeface="Mona Sans"/>
              </a:rPr>
              <a:t>Admin governance</a:t>
            </a:r>
            <a:r>
              <a:rPr sz="1100">
                <a:solidFill>
                  <a:srgbClr val="C9D1D9"/>
                </a:solidFill>
                <a:latin typeface="Mona Sans"/>
              </a:rPr>
              <a:t> — BYOK policy is on by default; admins can disable per organization</a:t>
            </a:r>
          </a:p>
          <a:p>
            <a:pPr>
              <a:spcAft>
                <a:spcPts val="200"/>
              </a:spcAft>
            </a:pPr>
            <a:r>
              <a:rPr sz="1100">
                <a:solidFill>
                  <a:srgbClr val="3FB950"/>
                </a:solidFill>
                <a:latin typeface="Mona Sans"/>
              </a:rPr>
              <a:t>•  </a:t>
            </a:r>
            <a:r>
              <a:rPr sz="1100" b="1">
                <a:solidFill>
                  <a:srgbClr val="E6EDF3"/>
                </a:solidFill>
                <a:latin typeface="Mona Sans"/>
              </a:rPr>
              <a:t>Chat-scoped</a:t>
            </a:r>
            <a:r>
              <a:rPr sz="1100">
                <a:solidFill>
                  <a:srgbClr val="C9D1D9"/>
                </a:solidFill>
                <a:latin typeface="Mona Sans"/>
              </a:rPr>
              <a:t> — applies to VS Code Chat interface and custom agents; does not affect code completions</a:t>
            </a:r>
          </a:p>
          <a:p>
            <a:pPr>
              <a:spcBef>
                <a:spcPts val="1000"/>
              </a:spcBef>
              <a:spcAft>
                <a:spcPts val="200"/>
              </a:spcAft>
            </a:pPr>
            <a:r>
              <a:rPr sz="900" b="1">
                <a:solidFill>
                  <a:srgbClr val="3FB950"/>
                </a:solidFill>
                <a:latin typeface="Mona Sans"/>
              </a:rPr>
              <a:t>WHERE YOU CAN USE IT</a:t>
            </a:r>
          </a:p>
          <a:p>
            <a:pPr>
              <a:spcAft>
                <a:spcPts val="200"/>
              </a:spcAft>
            </a:pPr>
            <a:r>
              <a:rPr sz="1100">
                <a:solidFill>
                  <a:srgbClr val="3FB950"/>
                </a:solidFill>
                <a:latin typeface="Mona Sans"/>
              </a:rPr>
              <a:t>•  </a:t>
            </a:r>
            <a:r>
              <a:rPr sz="1100" b="1">
                <a:solidFill>
                  <a:srgbClr val="E6EDF3"/>
                </a:solidFill>
                <a:latin typeface="Mona Sans"/>
              </a:rPr>
              <a:t>Visual Studio Code</a:t>
            </a:r>
            <a:r>
              <a:rPr sz="1100">
                <a:solidFill>
                  <a:srgbClr val="C9D1D9"/>
                </a:solidFill>
                <a:latin typeface="Mona Sans"/>
              </a:rPr>
              <a:t> — all versions with the Copilot extension</a:t>
            </a:r>
          </a:p>
          <a:p>
            <a:pPr>
              <a:spcAft>
                <a:spcPts val="200"/>
              </a:spcAft>
            </a:pPr>
            <a:r>
              <a:rPr sz="1100">
                <a:solidFill>
                  <a:srgbClr val="3FB950"/>
                </a:solidFill>
                <a:latin typeface="Mona Sans"/>
              </a:rPr>
              <a:t>•  </a:t>
            </a:r>
            <a:r>
              <a:rPr sz="1100" b="1">
                <a:solidFill>
                  <a:srgbClr val="E6EDF3"/>
                </a:solidFill>
                <a:latin typeface="Mona Sans"/>
              </a:rPr>
              <a:t>VS Code Chat</a:t>
            </a:r>
            <a:r>
              <a:rPr sz="1100">
                <a:solidFill>
                  <a:srgbClr val="C9D1D9"/>
                </a:solidFill>
                <a:latin typeface="Mona Sans"/>
              </a:rPr>
              <a:t> — built-in chat and custom agent panels</a:t>
            </a:r>
          </a:p>
          <a:p>
            <a:pPr>
              <a:spcBef>
                <a:spcPts val="1000"/>
              </a:spcBef>
              <a:spcAft>
                <a:spcPts val="200"/>
              </a:spcAft>
            </a:pPr>
            <a:r>
              <a:rPr sz="900" b="1">
                <a:solidFill>
                  <a:srgbClr val="3FB950"/>
                </a:solidFill>
                <a:latin typeface="Mona Sans"/>
              </a:rPr>
              <a:t>WHO GETS IT</a:t>
            </a:r>
          </a:p>
          <a:p>
            <a:pPr>
              <a:spcAft>
                <a:spcPts val="200"/>
              </a:spcAft>
            </a:pPr>
            <a:r>
              <a:rPr sz="1100">
                <a:solidFill>
                  <a:srgbClr val="3FB950"/>
                </a:solidFill>
                <a:latin typeface="Mona Sans"/>
              </a:rPr>
              <a:t>•  </a:t>
            </a:r>
            <a:r>
              <a:rPr sz="1100" b="1">
                <a:solidFill>
                  <a:srgbClr val="E6EDF3"/>
                </a:solidFill>
                <a:latin typeface="Mona Sans"/>
              </a:rPr>
              <a:t>Copilot Business and Enterprise</a:t>
            </a:r>
            <a:r>
              <a:rPr sz="1100">
                <a:solidFill>
                  <a:srgbClr val="C9D1D9"/>
                </a:solidFill>
                <a:latin typeface="Mona Sans"/>
              </a:rPr>
              <a:t> — available now</a:t>
            </a:r>
          </a:p>
          <a:p>
            <a:pPr>
              <a:spcAft>
                <a:spcPts val="200"/>
              </a:spcAft>
            </a:pPr>
            <a:r>
              <a:rPr sz="1100">
                <a:solidFill>
                  <a:srgbClr val="3FB950"/>
                </a:solidFill>
                <a:latin typeface="Mona Sans"/>
              </a:rPr>
              <a:t>•  </a:t>
            </a:r>
            <a:r>
              <a:rPr sz="1100" b="1">
                <a:solidFill>
                  <a:srgbClr val="E6EDF3"/>
                </a:solidFill>
                <a:latin typeface="Mona Sans"/>
              </a:rPr>
              <a:t>Default state</a:t>
            </a:r>
            <a:r>
              <a:rPr sz="1100">
                <a:solidFill>
                  <a:srgbClr val="C9D1D9"/>
                </a:solidFill>
                <a:latin typeface="Mona Sans"/>
              </a:rPr>
              <a:t> — enabled for organizations by default; admins can disable via Settings → Copilot policies</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https://github.blog/changelog/2026-04-22-bring-your-own-language-model-key-in-vs-code-now-available/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2026-04-22</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C++ code intelligence for GitHub Copilot CLI in public preview</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C++ code intelligence for GitHub Copilot CLI in public preview</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2026-04-22</a:t>
            </a:r>
          </a:p>
        </p:txBody>
      </p:sp>
      <p:sp>
        <p:nvSpPr>
          <p:cNvPr id="5" name="TextBox 4"/>
          <p:cNvSpPr txBox="1"/>
          <p:nvPr/>
        </p:nvSpPr>
        <p:spPr>
          <a:xfrm>
            <a:off x="731520" y="1005840"/>
            <a:ext cx="10515600" cy="4546600"/>
          </a:xfrm>
          <a:prstGeom prst="rect">
            <a:avLst/>
          </a:prstGeom>
          <a:noFill/>
        </p:spPr>
        <p:txBody>
          <a:bodyPr wrap="square">
            <a:spAutoFit/>
          </a:bodyPr>
          <a:lstStyle/>
          <a:p>
            <a:pPr>
              <a:spcBef>
                <a:spcPts val="500"/>
              </a:spcBef>
              <a:spcAft>
                <a:spcPts val="400"/>
              </a:spcAft>
            </a:pPr>
            <a:r>
              <a:rPr sz="1300" b="1">
                <a:solidFill>
                  <a:srgbClr val="E6EDF3"/>
                </a:solidFill>
                <a:latin typeface="Mona Sans"/>
              </a:rPr>
              <a:t>What's new</a:t>
            </a:r>
          </a:p>
          <a:p>
            <a:pPr>
              <a:spcAft>
                <a:spcPts val="500"/>
              </a:spcAft>
            </a:pPr>
            <a:r>
              <a:rPr sz="1000" b="1">
                <a:solidFill>
                  <a:srgbClr val="E6EDF3"/>
                </a:solidFill>
                <a:latin typeface="Mona Sans"/>
              </a:rPr>
              <a:t>GitHub Copilot CLI</a:t>
            </a:r>
            <a:r>
              <a:rPr sz="1000">
                <a:solidFill>
                  <a:srgbClr val="C9D1D9"/>
                </a:solidFill>
                <a:latin typeface="Mona Sans"/>
              </a:rPr>
              <a:t> now offers </a:t>
            </a:r>
            <a:r>
              <a:rPr sz="1000" b="1">
                <a:solidFill>
                  <a:srgbClr val="E6EDF3"/>
                </a:solidFill>
                <a:latin typeface="Mona Sans"/>
              </a:rPr>
              <a:t>C++ code intelligence</a:t>
            </a:r>
            <a:r>
              <a:rPr sz="1000">
                <a:solidFill>
                  <a:srgbClr val="C9D1D9"/>
                </a:solidFill>
                <a:latin typeface="Mona Sans"/>
              </a:rPr>
              <a:t> via the Microsoft C++ Language Server — the same IntelliSense engine used in Visual Studio and VS Code — bringing precise symbol navigation and semantic analysis to the terminal in </a:t>
            </a:r>
            <a:r>
              <a:rPr sz="1000" b="1">
                <a:solidFill>
                  <a:srgbClr val="E6EDF3"/>
                </a:solidFill>
                <a:latin typeface="Mona Sans"/>
              </a:rPr>
              <a:t>public preview</a:t>
            </a:r>
            <a:r>
              <a:rPr sz="1000">
                <a:solidFill>
                  <a:srgbClr val="C9D1D9"/>
                </a:solidFill>
                <a:latin typeface="Mona Sans"/>
              </a:rPr>
              <a:t>.</a:t>
            </a:r>
          </a:p>
          <a:p>
            <a:pPr>
              <a:spcBef>
                <a:spcPts val="900"/>
              </a:spcBef>
              <a:spcAft>
                <a:spcPts val="200"/>
              </a:spcAft>
            </a:pPr>
            <a:r>
              <a:rPr sz="900" b="1">
                <a:solidFill>
                  <a:srgbClr val="3FB950"/>
                </a:solidFill>
                <a:latin typeface="Mona Sans"/>
              </a:rPr>
              <a:t>WHY IT MATTERS</a:t>
            </a:r>
          </a:p>
          <a:p>
            <a:pPr>
              <a:spcAft>
                <a:spcPts val="200"/>
              </a:spcAft>
            </a:pPr>
            <a:r>
              <a:rPr sz="1000">
                <a:solidFill>
                  <a:srgbClr val="3FB950"/>
                </a:solidFill>
                <a:latin typeface="Mona Sans"/>
              </a:rPr>
              <a:t>•  </a:t>
            </a:r>
            <a:r>
              <a:rPr sz="1000" b="1">
                <a:solidFill>
                  <a:srgbClr val="E6EDF3"/>
                </a:solidFill>
                <a:latin typeface="Mona Sans"/>
              </a:rPr>
              <a:t>Semantic precision</a:t>
            </a:r>
            <a:r>
              <a:rPr sz="1000">
                <a:solidFill>
                  <a:srgbClr val="C9D1D9"/>
                </a:solidFill>
                <a:latin typeface="Mona Sans"/>
              </a:rPr>
              <a:t> — go-to-definition, symbol search, call hierarchies, and type information via a real language server, not text matching</a:t>
            </a:r>
          </a:p>
          <a:p>
            <a:pPr>
              <a:spcAft>
                <a:spcPts val="200"/>
              </a:spcAft>
            </a:pPr>
            <a:r>
              <a:rPr sz="1000">
                <a:solidFill>
                  <a:srgbClr val="3FB950"/>
                </a:solidFill>
                <a:latin typeface="Mona Sans"/>
              </a:rPr>
              <a:t>•  </a:t>
            </a:r>
            <a:r>
              <a:rPr sz="1000" b="1">
                <a:solidFill>
                  <a:srgbClr val="E6EDF3"/>
                </a:solidFill>
                <a:latin typeface="Mona Sans"/>
              </a:rPr>
              <a:t>Handles C++ complexity</a:t>
            </a:r>
            <a:r>
              <a:rPr sz="1000">
                <a:solidFill>
                  <a:srgbClr val="C9D1D9"/>
                </a:solidFill>
                <a:latin typeface="Mona Sans"/>
              </a:rPr>
              <a:t> — accurately resolves complex include hierarchies, macros, templates, and build dependencies</a:t>
            </a:r>
          </a:p>
          <a:p>
            <a:pPr>
              <a:spcAft>
                <a:spcPts val="200"/>
              </a:spcAft>
            </a:pPr>
            <a:r>
              <a:rPr sz="1000">
                <a:solidFill>
                  <a:srgbClr val="3FB950"/>
                </a:solidFill>
                <a:latin typeface="Mona Sans"/>
              </a:rPr>
              <a:t>•  </a:t>
            </a:r>
            <a:r>
              <a:rPr sz="1000" b="1">
                <a:solidFill>
                  <a:srgbClr val="E6EDF3"/>
                </a:solidFill>
                <a:latin typeface="Mona Sans"/>
              </a:rPr>
              <a:t>Terminal-native</a:t>
            </a:r>
            <a:r>
              <a:rPr sz="1000">
                <a:solidFill>
                  <a:srgbClr val="C9D1D9"/>
                </a:solidFill>
                <a:latin typeface="Mona Sans"/>
              </a:rPr>
              <a:t> — brings IDE-quality C++ intelligence to shell-based workflows without a GUI editor</a:t>
            </a:r>
          </a:p>
          <a:p>
            <a:pPr>
              <a:spcAft>
                <a:spcPts val="200"/>
              </a:spcAft>
            </a:pPr>
            <a:r>
              <a:rPr sz="1000">
                <a:solidFill>
                  <a:srgbClr val="3FB950"/>
                </a:solidFill>
                <a:latin typeface="Mona Sans"/>
              </a:rPr>
              <a:t>•  </a:t>
            </a:r>
            <a:r>
              <a:rPr sz="1000" b="1">
                <a:solidFill>
                  <a:srgbClr val="E6EDF3"/>
                </a:solidFill>
                <a:latin typeface="Mona Sans"/>
              </a:rPr>
              <a:t>Cross-platform build support</a:t>
            </a:r>
            <a:r>
              <a:rPr sz="1000">
                <a:solidFill>
                  <a:srgbClr val="C9D1D9"/>
                </a:solidFill>
                <a:latin typeface="Mona Sans"/>
              </a:rPr>
              <a:t> — CMake and MSBuild both supported</a:t>
            </a:r>
          </a:p>
          <a:p>
            <a:pPr>
              <a:spcBef>
                <a:spcPts val="900"/>
              </a:spcBef>
              <a:spcAft>
                <a:spcPts val="200"/>
              </a:spcAft>
            </a:pPr>
            <a:r>
              <a:rPr sz="900" b="1">
                <a:solidFill>
                  <a:srgbClr val="3FB950"/>
                </a:solidFill>
                <a:latin typeface="Mona Sans"/>
              </a:rPr>
              <a:t>WHERE YOU CAN USE IT</a:t>
            </a:r>
          </a:p>
          <a:p>
            <a:pPr>
              <a:spcAft>
                <a:spcPts val="200"/>
              </a:spcAft>
            </a:pPr>
            <a:r>
              <a:rPr sz="1000">
                <a:solidFill>
                  <a:srgbClr val="3FB950"/>
                </a:solidFill>
                <a:latin typeface="Mona Sans"/>
              </a:rPr>
              <a:t>•  </a:t>
            </a:r>
            <a:r>
              <a:rPr sz="1000" b="1">
                <a:solidFill>
                  <a:srgbClr val="E6EDF3"/>
                </a:solidFill>
                <a:latin typeface="Mona Sans"/>
              </a:rPr>
              <a:t>GitHub Copilot CLI</a:t>
            </a:r>
            <a:r>
              <a:rPr sz="1000">
                <a:solidFill>
                  <a:srgbClr val="C9D1D9"/>
                </a:solidFill>
                <a:latin typeface="Mona Sans"/>
              </a:rPr>
              <a:t> — any platform where the CLI is installed with a `compile_commands.json` project</a:t>
            </a:r>
          </a:p>
          <a:p>
            <a:pPr>
              <a:spcAft>
                <a:spcPts val="200"/>
              </a:spcAft>
            </a:pPr>
            <a:r>
              <a:rPr sz="1000">
                <a:solidFill>
                  <a:srgbClr val="3FB950"/>
                </a:solidFill>
                <a:latin typeface="Mona Sans"/>
              </a:rPr>
              <a:t>•  </a:t>
            </a:r>
            <a:r>
              <a:rPr sz="1000" b="1">
                <a:solidFill>
                  <a:srgbClr val="E6EDF3"/>
                </a:solidFill>
                <a:latin typeface="Mona Sans"/>
              </a:rPr>
              <a:t>CMake projects</a:t>
            </a:r>
            <a:r>
              <a:rPr sz="1000">
                <a:solidFill>
                  <a:srgbClr val="C9D1D9"/>
                </a:solidFill>
                <a:latin typeface="Mona Sans"/>
              </a:rPr>
              <a:t> — automated setup via dedicated GitHub skill</a:t>
            </a:r>
          </a:p>
          <a:p>
            <a:pPr>
              <a:spcAft>
                <a:spcPts val="200"/>
              </a:spcAft>
            </a:pPr>
            <a:r>
              <a:rPr sz="1000">
                <a:solidFill>
                  <a:srgbClr val="3FB950"/>
                </a:solidFill>
                <a:latin typeface="Mona Sans"/>
              </a:rPr>
              <a:t>•  </a:t>
            </a:r>
            <a:r>
              <a:rPr sz="1000" b="1">
                <a:solidFill>
                  <a:srgbClr val="E6EDF3"/>
                </a:solidFill>
                <a:latin typeface="Mona Sans"/>
              </a:rPr>
              <a:t>MSBuild projects</a:t>
            </a:r>
            <a:r>
              <a:rPr sz="1000">
                <a:solidFill>
                  <a:srgbClr val="C9D1D9"/>
                </a:solidFill>
                <a:latin typeface="Mona Sans"/>
              </a:rPr>
              <a:t> — sample app available to extract metadata</a:t>
            </a:r>
          </a:p>
          <a:p>
            <a:pPr>
              <a:spcBef>
                <a:spcPts val="900"/>
              </a:spcBef>
              <a:spcAft>
                <a:spcPts val="200"/>
              </a:spcAft>
            </a:pPr>
            <a:r>
              <a:rPr sz="900" b="1">
                <a:solidFill>
                  <a:srgbClr val="3FB950"/>
                </a:solidFill>
                <a:latin typeface="Mona Sans"/>
              </a:rPr>
              <a:t>WHO GETS IT</a:t>
            </a:r>
          </a:p>
          <a:p>
            <a:pPr>
              <a:spcAft>
                <a:spcPts val="200"/>
              </a:spcAft>
            </a:pPr>
            <a:r>
              <a:rPr sz="1000">
                <a:solidFill>
                  <a:srgbClr val="3FB950"/>
                </a:solidFill>
                <a:latin typeface="Mona Sans"/>
              </a:rPr>
              <a:t>•  </a:t>
            </a:r>
            <a:r>
              <a:rPr sz="1000" b="1">
                <a:solidFill>
                  <a:srgbClr val="E6EDF3"/>
                </a:solidFill>
                <a:latin typeface="Mona Sans"/>
              </a:rPr>
              <a:t>Active Copilot subscribers</a:t>
            </a:r>
            <a:r>
              <a:rPr sz="1000">
                <a:solidFill>
                  <a:srgbClr val="C9D1D9"/>
                </a:solidFill>
                <a:latin typeface="Mona Sans"/>
              </a:rPr>
              <a:t> — public preview, available now</a:t>
            </a:r>
          </a:p>
          <a:p>
            <a:pPr>
              <a:spcAft>
                <a:spcPts val="200"/>
              </a:spcAft>
            </a:pPr>
            <a:r>
              <a:rPr sz="1000">
                <a:solidFill>
                  <a:srgbClr val="3FB950"/>
                </a:solidFill>
                <a:latin typeface="Mona Sans"/>
              </a:rPr>
              <a:t>•  </a:t>
            </a:r>
            <a:r>
              <a:rPr sz="1000" b="1">
                <a:solidFill>
                  <a:srgbClr val="E6EDF3"/>
                </a:solidFill>
                <a:latin typeface="Mona Sans"/>
              </a:rPr>
              <a:t>Setup steps</a:t>
            </a:r>
            <a:r>
              <a:rPr sz="1000">
                <a:solidFill>
                  <a:srgbClr val="C9D1D9"/>
                </a:solidFill>
                <a:latin typeface="Mona Sans"/>
              </a:rPr>
              <a:t> — authenticate with Copilot CLI, provide a `compile_commands.json`, install the Microsoft C++ Language Server npm package</a:t>
            </a:r>
          </a:p>
          <a:p>
            <a:pPr>
              <a:spcAft>
                <a:spcPts val="200"/>
              </a:spcAft>
            </a:pPr>
            <a:r>
              <a:rPr sz="1000">
                <a:solidFill>
                  <a:srgbClr val="3FB950"/>
                </a:solidFill>
                <a:latin typeface="Mona Sans"/>
              </a:rPr>
              <a:t>•  </a:t>
            </a:r>
            <a:r>
              <a:rPr sz="1000" b="1">
                <a:solidFill>
                  <a:srgbClr val="E6EDF3"/>
                </a:solidFill>
                <a:latin typeface="Mona Sans"/>
              </a:rPr>
              <a:t>Tip</a:t>
            </a:r>
            <a:r>
              <a:rPr sz="1000">
                <a:solidFill>
                  <a:srgbClr val="C9D1D9"/>
                </a:solidFill>
                <a:latin typeface="Mona Sans"/>
              </a:rPr>
              <a:t> — append "Use the C++ LSP" to queries for best results</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https://github.blog/changelog/2026-04-22-c-code-intelligence-for-github-copilot-cli-in-public-preview/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2026-04-24</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GPT-5.5 is generally available for GitHub Copilot</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GPT-5.5 is generally available for GitHub Copilot</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2026-04-24</a:t>
            </a:r>
          </a:p>
        </p:txBody>
      </p:sp>
      <p:sp>
        <p:nvSpPr>
          <p:cNvPr id="5" name="TextBox 4"/>
          <p:cNvSpPr txBox="1"/>
          <p:nvPr/>
        </p:nvSpPr>
        <p:spPr>
          <a:xfrm>
            <a:off x="731520" y="1005840"/>
            <a:ext cx="10515600" cy="4508500"/>
          </a:xfrm>
          <a:prstGeom prst="rect">
            <a:avLst/>
          </a:prstGeom>
          <a:noFill/>
        </p:spPr>
        <p:txBody>
          <a:bodyPr wrap="square">
            <a:spAutoFit/>
          </a:bodyPr>
          <a:lstStyle/>
          <a:p>
            <a:pPr>
              <a:spcBef>
                <a:spcPts val="500"/>
              </a:spcBef>
              <a:spcAft>
                <a:spcPts val="400"/>
              </a:spcAft>
            </a:pPr>
            <a:r>
              <a:rPr sz="1300" b="1">
                <a:solidFill>
                  <a:srgbClr val="E6EDF3"/>
                </a:solidFill>
                <a:latin typeface="Mona Sans"/>
              </a:rPr>
              <a:t>What's new</a:t>
            </a:r>
          </a:p>
          <a:p>
            <a:pPr>
              <a:spcAft>
                <a:spcPts val="500"/>
              </a:spcAft>
            </a:pPr>
            <a:r>
              <a:rPr sz="1000" b="1">
                <a:solidFill>
                  <a:srgbClr val="E6EDF3"/>
                </a:solidFill>
                <a:latin typeface="Mona Sans"/>
              </a:rPr>
              <a:t>GPT-5.5</a:t>
            </a:r>
            <a:r>
              <a:rPr sz="1000">
                <a:solidFill>
                  <a:srgbClr val="C9D1D9"/>
                </a:solidFill>
                <a:latin typeface="Mona Sans"/>
              </a:rPr>
              <a:t> by OpenAI is now </a:t>
            </a:r>
            <a:r>
              <a:rPr sz="1000" b="1">
                <a:solidFill>
                  <a:srgbClr val="E6EDF3"/>
                </a:solidFill>
                <a:latin typeface="Mona Sans"/>
              </a:rPr>
              <a:t>generally available</a:t>
            </a:r>
            <a:r>
              <a:rPr sz="1000">
                <a:solidFill>
                  <a:srgbClr val="C9D1D9"/>
                </a:solidFill>
                <a:latin typeface="Mona Sans"/>
              </a:rPr>
              <a:t> in GitHub Copilot, delivering the strongest performance yet on complex, multi-step agentic coding tasks with a </a:t>
            </a:r>
            <a:r>
              <a:rPr sz="1000" b="1">
                <a:solidFill>
                  <a:srgbClr val="E6EDF3"/>
                </a:solidFill>
                <a:latin typeface="Mona Sans"/>
              </a:rPr>
              <a:t>7.5× premium request multiplier</a:t>
            </a:r>
            <a:r>
              <a:rPr sz="1000">
                <a:solidFill>
                  <a:srgbClr val="C9D1D9"/>
                </a:solidFill>
                <a:latin typeface="Mona Sans"/>
              </a:rPr>
              <a:t>.</a:t>
            </a:r>
          </a:p>
          <a:p>
            <a:pPr>
              <a:spcBef>
                <a:spcPts val="900"/>
              </a:spcBef>
              <a:spcAft>
                <a:spcPts val="200"/>
              </a:spcAft>
            </a:pPr>
            <a:r>
              <a:rPr sz="900" b="1">
                <a:solidFill>
                  <a:srgbClr val="3FB950"/>
                </a:solidFill>
                <a:latin typeface="Mona Sans"/>
              </a:rPr>
              <a:t>WHY IT MATTERS</a:t>
            </a:r>
          </a:p>
          <a:p>
            <a:pPr>
              <a:spcAft>
                <a:spcPts val="200"/>
              </a:spcAft>
            </a:pPr>
            <a:r>
              <a:rPr sz="1000">
                <a:solidFill>
                  <a:srgbClr val="3FB950"/>
                </a:solidFill>
                <a:latin typeface="Mona Sans"/>
              </a:rPr>
              <a:t>•  </a:t>
            </a:r>
            <a:r>
              <a:rPr sz="1000" b="1">
                <a:solidFill>
                  <a:srgbClr val="E6EDF3"/>
                </a:solidFill>
                <a:latin typeface="Mona Sans"/>
              </a:rPr>
              <a:t>Best agentic performance</a:t>
            </a:r>
            <a:r>
              <a:rPr sz="1000">
                <a:solidFill>
                  <a:srgbClr val="C9D1D9"/>
                </a:solidFill>
                <a:latin typeface="Mona Sans"/>
              </a:rPr>
              <a:t> — GPT-5.5 excels at multi-file refactors, long tool-rich sessions, and real-world coding challenges previous GPT models couldn't solve</a:t>
            </a:r>
          </a:p>
          <a:p>
            <a:pPr>
              <a:spcAft>
                <a:spcPts val="200"/>
              </a:spcAft>
            </a:pPr>
            <a:r>
              <a:rPr sz="1000">
                <a:solidFill>
                  <a:srgbClr val="3FB950"/>
                </a:solidFill>
                <a:latin typeface="Mona Sans"/>
              </a:rPr>
              <a:t>•  </a:t>
            </a:r>
            <a:r>
              <a:rPr sz="1000" b="1">
                <a:solidFill>
                  <a:srgbClr val="E6EDF3"/>
                </a:solidFill>
                <a:latin typeface="Mona Sans"/>
              </a:rPr>
              <a:t>Multi-surface picker</a:t>
            </a:r>
            <a:r>
              <a:rPr sz="1000">
                <a:solidFill>
                  <a:srgbClr val="C9D1D9"/>
                </a:solidFill>
                <a:latin typeface="Mona Sans"/>
              </a:rPr>
              <a:t> — select GPT-5.5 from the model picker in VS Code, Visual Studio, Copilot CLI, github.com cloud agent, GitHub Mobile, JetBrains, Xcode, and Eclipse</a:t>
            </a:r>
          </a:p>
          <a:p>
            <a:pPr>
              <a:spcAft>
                <a:spcPts val="200"/>
              </a:spcAft>
            </a:pPr>
            <a:r>
              <a:rPr sz="1000">
                <a:solidFill>
                  <a:srgbClr val="3FB950"/>
                </a:solidFill>
                <a:latin typeface="Mona Sans"/>
              </a:rPr>
              <a:t>•  </a:t>
            </a:r>
            <a:r>
              <a:rPr sz="1000" b="1">
                <a:solidFill>
                  <a:srgbClr val="E6EDF3"/>
                </a:solidFill>
                <a:latin typeface="Mona Sans"/>
              </a:rPr>
              <a:t>Gradual rollout</a:t>
            </a:r>
            <a:r>
              <a:rPr sz="1000">
                <a:solidFill>
                  <a:srgbClr val="C9D1D9"/>
                </a:solidFill>
                <a:latin typeface="Mona Sans"/>
              </a:rPr>
              <a:t> — broad availability rolling out now; eligible plan users may need to check back if the model isn't visible yet</a:t>
            </a:r>
          </a:p>
          <a:p>
            <a:pPr>
              <a:spcBef>
                <a:spcPts val="900"/>
              </a:spcBef>
              <a:spcAft>
                <a:spcPts val="200"/>
              </a:spcAft>
            </a:pPr>
            <a:r>
              <a:rPr sz="900" b="1">
                <a:solidFill>
                  <a:srgbClr val="3FB950"/>
                </a:solidFill>
                <a:latin typeface="Mona Sans"/>
              </a:rPr>
              <a:t>WHERE YOU CAN USE IT</a:t>
            </a:r>
          </a:p>
          <a:p>
            <a:pPr>
              <a:spcAft>
                <a:spcPts val="200"/>
              </a:spcAft>
            </a:pPr>
            <a:r>
              <a:rPr sz="1000">
                <a:solidFill>
                  <a:srgbClr val="3FB950"/>
                </a:solidFill>
                <a:latin typeface="Mona Sans"/>
              </a:rPr>
              <a:t>•  </a:t>
            </a:r>
            <a:r>
              <a:rPr sz="1000" b="1">
                <a:solidFill>
                  <a:srgbClr val="E6EDF3"/>
                </a:solidFill>
                <a:latin typeface="Mona Sans"/>
              </a:rPr>
              <a:t>VS Code, Visual Studio, JetBrains, Xcode, Eclipse</a:t>
            </a:r>
            <a:r>
              <a:rPr sz="1000">
                <a:solidFill>
                  <a:srgbClr val="C9D1D9"/>
                </a:solidFill>
                <a:latin typeface="Mona Sans"/>
              </a:rPr>
              <a:t> — via the inline model picker</a:t>
            </a:r>
          </a:p>
          <a:p>
            <a:pPr>
              <a:spcAft>
                <a:spcPts val="200"/>
              </a:spcAft>
            </a:pPr>
            <a:r>
              <a:rPr sz="1000">
                <a:solidFill>
                  <a:srgbClr val="3FB950"/>
                </a:solidFill>
                <a:latin typeface="Mona Sans"/>
              </a:rPr>
              <a:t>•  </a:t>
            </a:r>
            <a:r>
              <a:rPr sz="1000" b="1">
                <a:solidFill>
                  <a:srgbClr val="E6EDF3"/>
                </a:solidFill>
                <a:latin typeface="Mona Sans"/>
              </a:rPr>
              <a:t>Copilot CLI</a:t>
            </a:r>
            <a:r>
              <a:rPr sz="1000">
                <a:solidFill>
                  <a:srgbClr val="C9D1D9"/>
                </a:solidFill>
                <a:latin typeface="Mona Sans"/>
              </a:rPr>
              <a:t> — select GPT-5.5 from the CLI model picker</a:t>
            </a:r>
          </a:p>
          <a:p>
            <a:pPr>
              <a:spcAft>
                <a:spcPts val="200"/>
              </a:spcAft>
            </a:pPr>
            <a:r>
              <a:rPr sz="1000">
                <a:solidFill>
                  <a:srgbClr val="3FB950"/>
                </a:solidFill>
                <a:latin typeface="Mona Sans"/>
              </a:rPr>
              <a:t>•  </a:t>
            </a:r>
            <a:r>
              <a:rPr sz="1000" b="1">
                <a:solidFill>
                  <a:srgbClr val="E6EDF3"/>
                </a:solidFill>
                <a:latin typeface="Mona Sans"/>
              </a:rPr>
              <a:t>github.com cloud agent</a:t>
            </a:r>
            <a:r>
              <a:rPr sz="1000">
                <a:solidFill>
                  <a:srgbClr val="C9D1D9"/>
                </a:solidFill>
                <a:latin typeface="Mona Sans"/>
              </a:rPr>
              <a:t> — for complex multi-step agentic tasks</a:t>
            </a:r>
          </a:p>
          <a:p>
            <a:pPr>
              <a:spcAft>
                <a:spcPts val="200"/>
              </a:spcAft>
            </a:pPr>
            <a:r>
              <a:rPr sz="1000">
                <a:solidFill>
                  <a:srgbClr val="3FB950"/>
                </a:solidFill>
                <a:latin typeface="Mona Sans"/>
              </a:rPr>
              <a:t>•  </a:t>
            </a:r>
            <a:r>
              <a:rPr sz="1000" b="1">
                <a:solidFill>
                  <a:srgbClr val="E6EDF3"/>
                </a:solidFill>
                <a:latin typeface="Mona Sans"/>
              </a:rPr>
              <a:t>GitHub Mobile</a:t>
            </a:r>
            <a:r>
              <a:rPr sz="1000">
                <a:solidFill>
                  <a:srgbClr val="C9D1D9"/>
                </a:solidFill>
                <a:latin typeface="Mona Sans"/>
              </a:rPr>
              <a:t> — iOS and Android</a:t>
            </a:r>
          </a:p>
          <a:p>
            <a:pPr>
              <a:spcBef>
                <a:spcPts val="900"/>
              </a:spcBef>
              <a:spcAft>
                <a:spcPts val="200"/>
              </a:spcAft>
            </a:pPr>
            <a:r>
              <a:rPr sz="900" b="1">
                <a:solidFill>
                  <a:srgbClr val="3FB950"/>
                </a:solidFill>
                <a:latin typeface="Mona Sans"/>
              </a:rPr>
              <a:t>WHO GETS IT</a:t>
            </a:r>
          </a:p>
          <a:p>
            <a:pPr>
              <a:spcAft>
                <a:spcPts val="200"/>
              </a:spcAft>
            </a:pPr>
            <a:r>
              <a:rPr sz="1000">
                <a:solidFill>
                  <a:srgbClr val="3FB950"/>
                </a:solidFill>
                <a:latin typeface="Mona Sans"/>
              </a:rPr>
              <a:t>•  </a:t>
            </a:r>
            <a:r>
              <a:rPr sz="1000" b="1">
                <a:solidFill>
                  <a:srgbClr val="E6EDF3"/>
                </a:solidFill>
                <a:latin typeface="Mona Sans"/>
              </a:rPr>
              <a:t>Copilot Pro+, Business, and Enterprise</a:t>
            </a:r>
            <a:r>
              <a:rPr sz="1000">
                <a:solidFill>
                  <a:srgbClr val="C9D1D9"/>
                </a:solidFill>
                <a:latin typeface="Mona Sans"/>
              </a:rPr>
              <a:t> — available now</a:t>
            </a:r>
          </a:p>
          <a:p>
            <a:pPr>
              <a:spcAft>
                <a:spcPts val="200"/>
              </a:spcAft>
            </a:pPr>
            <a:r>
              <a:rPr sz="1000">
                <a:solidFill>
                  <a:srgbClr val="3FB950"/>
                </a:solidFill>
                <a:latin typeface="Mona Sans"/>
              </a:rPr>
              <a:t>•  </a:t>
            </a:r>
            <a:r>
              <a:rPr sz="1000" b="1">
                <a:solidFill>
                  <a:srgbClr val="E6EDF3"/>
                </a:solidFill>
                <a:latin typeface="Mona Sans"/>
              </a:rPr>
              <a:t>Business / Enterprise</a:t>
            </a:r>
            <a:r>
              <a:rPr sz="1000">
                <a:solidFill>
                  <a:srgbClr val="C9D1D9"/>
                </a:solidFill>
                <a:latin typeface="Mona Sans"/>
              </a:rPr>
              <a:t> — plan administrators must enable the GPT-5.5 model policy in Copilot settings</a:t>
            </a:r>
          </a:p>
          <a:p>
            <a:pPr>
              <a:spcAft>
                <a:spcPts val="200"/>
              </a:spcAft>
            </a:pPr>
            <a:r>
              <a:rPr sz="1000">
                <a:solidFill>
                  <a:srgbClr val="3FB950"/>
                </a:solidFill>
                <a:latin typeface="Mona Sans"/>
              </a:rPr>
              <a:t>•  </a:t>
            </a:r>
            <a:r>
              <a:rPr sz="1000" b="1">
                <a:solidFill>
                  <a:srgbClr val="E6EDF3"/>
                </a:solidFill>
                <a:latin typeface="Mona Sans"/>
              </a:rPr>
              <a:t>Pricing</a:t>
            </a:r>
            <a:r>
              <a:rPr sz="1000">
                <a:solidFill>
                  <a:srgbClr val="C9D1D9"/>
                </a:solidFill>
                <a:latin typeface="Mona Sans"/>
              </a:rPr>
              <a:t> — 7.5× premium request multiplier applies</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https://github.blog/changelog/2026-04-24-gpt-5-5-is-generally-available-for-github-copilot/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2026-04-24</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Inline agent mode in preview and more in GitHub Copilot for JetBrains IDEs</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3FB950"/>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Inline agent mode in preview and more in GitHub Copilot for JetBrains IDEs</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2026-04-24</a:t>
            </a:r>
          </a:p>
        </p:txBody>
      </p:sp>
      <p:sp>
        <p:nvSpPr>
          <p:cNvPr id="5" name="TextBox 4"/>
          <p:cNvSpPr txBox="1"/>
          <p:nvPr/>
        </p:nvSpPr>
        <p:spPr>
          <a:xfrm>
            <a:off x="731520" y="1005840"/>
            <a:ext cx="10515600" cy="4813300"/>
          </a:xfrm>
          <a:prstGeom prst="rect">
            <a:avLst/>
          </a:prstGeom>
          <a:noFill/>
        </p:spPr>
        <p:txBody>
          <a:bodyPr wrap="square">
            <a:spAutoFit/>
          </a:bodyPr>
          <a:lstStyle/>
          <a:p>
            <a:pPr>
              <a:spcBef>
                <a:spcPts val="500"/>
              </a:spcBef>
              <a:spcAft>
                <a:spcPts val="400"/>
              </a:spcAft>
            </a:pPr>
            <a:r>
              <a:rPr sz="1400" b="1">
                <a:solidFill>
                  <a:srgbClr val="E6EDF3"/>
                </a:solidFill>
                <a:latin typeface="Mona Sans"/>
              </a:rPr>
              <a:t>What's new</a:t>
            </a:r>
          </a:p>
          <a:p>
            <a:pPr>
              <a:spcAft>
                <a:spcPts val="500"/>
              </a:spcAft>
            </a:pPr>
            <a:r>
              <a:rPr sz="1100" b="1">
                <a:solidFill>
                  <a:srgbClr val="E6EDF3"/>
                </a:solidFill>
                <a:latin typeface="Mona Sans"/>
              </a:rPr>
              <a:t>GitHub Copilot for JetBrains IDEs</a:t>
            </a:r>
            <a:r>
              <a:rPr sz="1100">
                <a:solidFill>
                  <a:srgbClr val="C9D1D9"/>
                </a:solidFill>
                <a:latin typeface="Mona Sans"/>
              </a:rPr>
              <a:t> now offers </a:t>
            </a:r>
            <a:r>
              <a:rPr sz="1100" b="1">
                <a:solidFill>
                  <a:srgbClr val="E6EDF3"/>
                </a:solidFill>
                <a:latin typeface="Mona Sans"/>
              </a:rPr>
              <a:t>inline agent mode</a:t>
            </a:r>
            <a:r>
              <a:rPr sz="1100">
                <a:solidFill>
                  <a:srgbClr val="C9D1D9"/>
                </a:solidFill>
                <a:latin typeface="Mona Sans"/>
              </a:rPr>
              <a:t> (public preview), enhanced </a:t>
            </a:r>
            <a:r>
              <a:rPr sz="1100" b="1">
                <a:solidFill>
                  <a:srgbClr val="E6EDF3"/>
                </a:solidFill>
                <a:latin typeface="Mona Sans"/>
              </a:rPr>
              <a:t>Next Edit Suggestions</a:t>
            </a:r>
            <a:r>
              <a:rPr sz="1100">
                <a:solidFill>
                  <a:srgbClr val="C9D1D9"/>
                </a:solidFill>
                <a:latin typeface="Mona Sans"/>
              </a:rPr>
              <a:t>, and new </a:t>
            </a:r>
            <a:r>
              <a:rPr sz="1100" b="1">
                <a:solidFill>
                  <a:srgbClr val="E6EDF3"/>
                </a:solidFill>
                <a:latin typeface="Mona Sans"/>
              </a:rPr>
              <a:t>global auto-approve controls</a:t>
            </a:r>
            <a:r>
              <a:rPr sz="1100">
                <a:solidFill>
                  <a:srgbClr val="C9D1D9"/>
                </a:solidFill>
                <a:latin typeface="Mona Sans"/>
              </a:rPr>
              <a:t> — bringing agentic assistance directly into the editor.</a:t>
            </a:r>
          </a:p>
          <a:p>
            <a:pPr>
              <a:spcBef>
                <a:spcPts val="900"/>
              </a:spcBef>
              <a:spcAft>
                <a:spcPts val="200"/>
              </a:spcAft>
            </a:pPr>
            <a:r>
              <a:rPr sz="900" b="1">
                <a:solidFill>
                  <a:srgbClr val="3FB950"/>
                </a:solidFill>
                <a:latin typeface="Mona Sans"/>
              </a:rPr>
              <a:t>WHY IT MATTERS</a:t>
            </a:r>
          </a:p>
          <a:p>
            <a:pPr>
              <a:spcAft>
                <a:spcPts val="200"/>
              </a:spcAft>
            </a:pPr>
            <a:r>
              <a:rPr sz="1100">
                <a:solidFill>
                  <a:srgbClr val="3FB950"/>
                </a:solidFill>
                <a:latin typeface="Mona Sans"/>
              </a:rPr>
              <a:t>•  </a:t>
            </a:r>
            <a:r>
              <a:rPr sz="1100" b="1">
                <a:solidFill>
                  <a:srgbClr val="E6EDF3"/>
                </a:solidFill>
                <a:latin typeface="Mona Sans"/>
              </a:rPr>
              <a:t>Inline agent mode</a:t>
            </a:r>
            <a:r>
              <a:rPr sz="1100">
                <a:solidFill>
                  <a:srgbClr val="C9D1D9"/>
                </a:solidFill>
                <a:latin typeface="Mona Sans"/>
              </a:rPr>
              <a:t> — invoke Copilot's full agent capabilities inside the code editor via Inline Chat (Shift+Ctrl+I / Shift+Cmd+I), without switching to a separate panel</a:t>
            </a:r>
          </a:p>
          <a:p>
            <a:pPr>
              <a:spcAft>
                <a:spcPts val="200"/>
              </a:spcAft>
            </a:pPr>
            <a:r>
              <a:rPr sz="1100">
                <a:solidFill>
                  <a:srgbClr val="3FB950"/>
                </a:solidFill>
                <a:latin typeface="Mona Sans"/>
              </a:rPr>
              <a:t>•  </a:t>
            </a:r>
            <a:r>
              <a:rPr sz="1100" b="1">
                <a:solidFill>
                  <a:srgbClr val="E6EDF3"/>
                </a:solidFill>
                <a:latin typeface="Mona Sans"/>
              </a:rPr>
              <a:t>Next Edit Suggestions with inlay previews</a:t>
            </a:r>
            <a:r>
              <a:rPr sz="1100">
                <a:solidFill>
                  <a:srgbClr val="C9D1D9"/>
                </a:solidFill>
                <a:latin typeface="Mona Sans"/>
              </a:rPr>
              <a:t> — see suggested edits inline as inlay text; gutter indicators navigate to off-screen suggestions</a:t>
            </a:r>
          </a:p>
          <a:p>
            <a:pPr>
              <a:spcAft>
                <a:spcPts val="200"/>
              </a:spcAft>
            </a:pPr>
            <a:r>
              <a:rPr sz="1100">
                <a:solidFill>
                  <a:srgbClr val="3FB950"/>
                </a:solidFill>
                <a:latin typeface="Mona Sans"/>
              </a:rPr>
              <a:t>•  </a:t>
            </a:r>
            <a:r>
              <a:rPr sz="1100" b="1">
                <a:solidFill>
                  <a:srgbClr val="E6EDF3"/>
                </a:solidFill>
                <a:latin typeface="Mona Sans"/>
              </a:rPr>
              <a:t>Global auto-approve</a:t>
            </a:r>
            <a:r>
              <a:rPr sz="1100">
                <a:solidFill>
                  <a:srgbClr val="C9D1D9"/>
                </a:solidFill>
                <a:latin typeface="Mona Sans"/>
              </a:rPr>
              <a:t> — optionally auto-approve all tool calls across workspaces including file edits and terminal commands (use with caution)</a:t>
            </a:r>
          </a:p>
          <a:p>
            <a:pPr>
              <a:spcAft>
                <a:spcPts val="200"/>
              </a:spcAft>
            </a:pPr>
            <a:r>
              <a:rPr sz="1100">
                <a:solidFill>
                  <a:srgbClr val="3FB950"/>
                </a:solidFill>
                <a:latin typeface="Mona Sans"/>
              </a:rPr>
              <a:t>•  </a:t>
            </a:r>
            <a:r>
              <a:rPr sz="1100" b="1">
                <a:solidFill>
                  <a:srgbClr val="E6EDF3"/>
                </a:solidFill>
                <a:latin typeface="Mona Sans"/>
              </a:rPr>
              <a:t>Granular approval defaults</a:t>
            </a:r>
            <a:r>
              <a:rPr sz="1100">
                <a:solidFill>
                  <a:srgbClr val="C9D1D9"/>
                </a:solidFill>
                <a:latin typeface="Mona Sans"/>
              </a:rPr>
              <a:t> — new fine-grained options to auto-approve specific categories independently</a:t>
            </a:r>
          </a:p>
          <a:p>
            <a:pPr>
              <a:spcBef>
                <a:spcPts val="900"/>
              </a:spcBef>
              <a:spcAft>
                <a:spcPts val="200"/>
              </a:spcAft>
            </a:pPr>
            <a:r>
              <a:rPr sz="900" b="1">
                <a:solidFill>
                  <a:srgbClr val="3FB950"/>
                </a:solidFill>
                <a:latin typeface="Mona Sans"/>
              </a:rPr>
              <a:t>WHERE YOU CAN USE IT</a:t>
            </a:r>
          </a:p>
          <a:p>
            <a:pPr>
              <a:spcAft>
                <a:spcPts val="200"/>
              </a:spcAft>
            </a:pPr>
            <a:r>
              <a:rPr sz="1100">
                <a:solidFill>
                  <a:srgbClr val="3FB950"/>
                </a:solidFill>
                <a:latin typeface="Mona Sans"/>
              </a:rPr>
              <a:t>•  </a:t>
            </a:r>
            <a:r>
              <a:rPr sz="1100" b="1">
                <a:solidFill>
                  <a:srgbClr val="E6EDF3"/>
                </a:solidFill>
                <a:latin typeface="Mona Sans"/>
              </a:rPr>
              <a:t>All JetBrains IDEs</a:t>
            </a:r>
            <a:r>
              <a:rPr sz="1100">
                <a:solidFill>
                  <a:srgbClr val="C9D1D9"/>
                </a:solidFill>
                <a:latin typeface="Mona Sans"/>
              </a:rPr>
              <a:t> — IntelliJ IDEA, PyCharm, WebStorm, GoLand, and other JetBrains products</a:t>
            </a:r>
          </a:p>
          <a:p>
            <a:pPr>
              <a:spcAft>
                <a:spcPts val="200"/>
              </a:spcAft>
            </a:pPr>
            <a:r>
              <a:rPr sz="1100">
                <a:solidFill>
                  <a:srgbClr val="3FB950"/>
                </a:solidFill>
                <a:latin typeface="Mona Sans"/>
              </a:rPr>
              <a:t>•  </a:t>
            </a:r>
            <a:r>
              <a:rPr sz="1100" b="1">
                <a:solidFill>
                  <a:srgbClr val="E6EDF3"/>
                </a:solidFill>
                <a:latin typeface="Mona Sans"/>
              </a:rPr>
              <a:t>Inline Chat</a:t>
            </a:r>
            <a:r>
              <a:rPr sz="1100">
                <a:solidFill>
                  <a:srgbClr val="C9D1D9"/>
                </a:solidFill>
                <a:latin typeface="Mona Sans"/>
              </a:rPr>
              <a:t> — Shift+Ctrl+I (Windows/Linux) or Shift+Cmd+I (Mac), then switch to agent mode</a:t>
            </a:r>
          </a:p>
          <a:p>
            <a:pPr>
              <a:spcBef>
                <a:spcPts val="900"/>
              </a:spcBef>
              <a:spcAft>
                <a:spcPts val="200"/>
              </a:spcAft>
            </a:pPr>
            <a:r>
              <a:rPr sz="900" b="1">
                <a:solidFill>
                  <a:srgbClr val="3FB950"/>
                </a:solidFill>
                <a:latin typeface="Mona Sans"/>
              </a:rPr>
              <a:t>WHO GETS IT</a:t>
            </a:r>
          </a:p>
          <a:p>
            <a:pPr>
              <a:spcAft>
                <a:spcPts val="200"/>
              </a:spcAft>
            </a:pPr>
            <a:r>
              <a:rPr sz="1100">
                <a:solidFill>
                  <a:srgbClr val="3FB950"/>
                </a:solidFill>
                <a:latin typeface="Mona Sans"/>
              </a:rPr>
              <a:t>•  </a:t>
            </a:r>
            <a:r>
              <a:rPr sz="1100" b="1">
                <a:solidFill>
                  <a:srgbClr val="E6EDF3"/>
                </a:solidFill>
                <a:latin typeface="Mona Sans"/>
              </a:rPr>
              <a:t>All Copilot subscribers</a:t>
            </a:r>
            <a:r>
              <a:rPr sz="1100">
                <a:solidFill>
                  <a:srgbClr val="C9D1D9"/>
                </a:solidFill>
                <a:latin typeface="Mona Sans"/>
              </a:rPr>
              <a:t> — JetBrains plugin with latest update</a:t>
            </a:r>
          </a:p>
          <a:p>
            <a:pPr>
              <a:spcAft>
                <a:spcPts val="200"/>
              </a:spcAft>
            </a:pPr>
            <a:r>
              <a:rPr sz="1100">
                <a:solidFill>
                  <a:srgbClr val="3FB950"/>
                </a:solidFill>
                <a:latin typeface="Mona Sans"/>
              </a:rPr>
              <a:t>•  </a:t>
            </a:r>
            <a:r>
              <a:rPr sz="1100" b="1">
                <a:solidFill>
                  <a:srgbClr val="E6EDF3"/>
                </a:solidFill>
                <a:latin typeface="Mona Sans"/>
              </a:rPr>
              <a:t>Business / Enterprise</a:t>
            </a:r>
            <a:r>
              <a:rPr sz="1100">
                <a:solidFill>
                  <a:srgbClr val="C9D1D9"/>
                </a:solidFill>
                <a:latin typeface="Mona Sans"/>
              </a:rPr>
              <a:t> — admins must enable "Editor preview features" for inline agent mode and Next Edit Suggestions</a:t>
            </a:r>
          </a:p>
          <a:p>
            <a:pPr>
              <a:spcAft>
                <a:spcPts val="200"/>
              </a:spcAft>
            </a:pPr>
            <a:r>
              <a:rPr sz="1100">
                <a:solidFill>
                  <a:srgbClr val="3FB950"/>
                </a:solidFill>
                <a:latin typeface="Mona Sans"/>
              </a:rPr>
              <a:t>•  </a:t>
            </a:r>
            <a:r>
              <a:rPr sz="1100" b="1">
                <a:solidFill>
                  <a:srgbClr val="E6EDF3"/>
                </a:solidFill>
                <a:latin typeface="Mona Sans"/>
              </a:rPr>
              <a:t>Auto-approve settings</a:t>
            </a:r>
            <a:r>
              <a:rPr sz="1100">
                <a:solidFill>
                  <a:srgbClr val="C9D1D9"/>
                </a:solidFill>
                <a:latin typeface="Mona Sans"/>
              </a:rPr>
              <a:t> — Settings → GitHub Copilot → Chat → Auto Approve</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https://github.blog/changelog/2026-04-24-inline-agent-mode-in-preview-and-more-in-github-copilot-for-jetbrains-ides/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914400" y="2286000"/>
            <a:ext cx="10362895" cy="1371600"/>
          </a:xfrm>
          <a:prstGeom prst="rect">
            <a:avLst/>
          </a:prstGeom>
          <a:noFill/>
        </p:spPr>
        <p:txBody>
          <a:bodyPr wrap="square">
            <a:spAutoFit/>
          </a:bodyPr>
          <a:lstStyle/>
          <a:p>
            <a:pPr algn="ctr">
              <a:defRPr sz="4000" b="1">
                <a:solidFill>
                  <a:srgbClr val="4493F8"/>
                </a:solidFill>
                <a:latin typeface="Mona Sans"/>
              </a:defRPr>
            </a:pPr>
            <a:r>
              <a:t>✨  Improvements</a:t>
            </a:r>
          </a:p>
        </p:txBody>
      </p:sp>
      <p:sp>
        <p:nvSpPr>
          <p:cNvPr id="3" name="TextBox 2"/>
          <p:cNvSpPr txBox="1"/>
          <p:nvPr/>
        </p:nvSpPr>
        <p:spPr>
          <a:xfrm>
            <a:off x="914400" y="3840480"/>
            <a:ext cx="10362895" cy="731520"/>
          </a:xfrm>
          <a:prstGeom prst="rect">
            <a:avLst/>
          </a:prstGeom>
          <a:noFill/>
        </p:spPr>
        <p:txBody>
          <a:bodyPr wrap="square">
            <a:spAutoFit/>
          </a:bodyPr>
          <a:lstStyle/>
          <a:p>
            <a:pPr algn="ctr">
              <a:defRPr sz="2000" b="0">
                <a:solidFill>
                  <a:srgbClr val="848D97"/>
                </a:solidFill>
                <a:latin typeface="Mona Sans"/>
              </a:defRPr>
            </a:pPr>
            <a:r>
              <a:t>12 updates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2026-04-10</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Copilot CLI activity now included in usage metrics totals and feature breakdowns</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Copilot CLI activity now included in usage metrics totals and feature breakdowns</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2026-04-10</a:t>
            </a:r>
          </a:p>
        </p:txBody>
      </p:sp>
      <p:sp>
        <p:nvSpPr>
          <p:cNvPr id="5" name="TextBox 4"/>
          <p:cNvSpPr txBox="1"/>
          <p:nvPr/>
        </p:nvSpPr>
        <p:spPr>
          <a:xfrm>
            <a:off x="731520" y="1005840"/>
            <a:ext cx="10515600" cy="4572000"/>
          </a:xfrm>
          <a:prstGeom prst="rect">
            <a:avLst/>
          </a:prstGeom>
          <a:noFill/>
        </p:spPr>
        <p:txBody>
          <a:bodyPr wrap="square">
            <a:spAutoFit/>
          </a:bodyPr>
          <a:lstStyle/>
          <a:p>
            <a:pPr>
              <a:spcBef>
                <a:spcPts val="500"/>
              </a:spcBef>
              <a:spcAft>
                <a:spcPts val="400"/>
              </a:spcAft>
            </a:pPr>
            <a:r>
              <a:rPr sz="1400" b="1">
                <a:solidFill>
                  <a:srgbClr val="E6EDF3"/>
                </a:solidFill>
                <a:latin typeface="Mona Sans"/>
              </a:rPr>
              <a:t>What changed</a:t>
            </a:r>
          </a:p>
          <a:p>
            <a:pPr>
              <a:spcAft>
                <a:spcPts val="500"/>
              </a:spcAft>
            </a:pPr>
            <a:r>
              <a:rPr sz="1100" b="1">
                <a:solidFill>
                  <a:srgbClr val="E6EDF3"/>
                </a:solidFill>
                <a:latin typeface="Mona Sans"/>
              </a:rPr>
              <a:t>Copilot CLI activity</a:t>
            </a:r>
            <a:r>
              <a:rPr sz="1100">
                <a:solidFill>
                  <a:srgbClr val="C9D1D9"/>
                </a:solidFill>
                <a:latin typeface="Mona Sans"/>
              </a:rPr>
              <a:t> is now </a:t>
            </a:r>
            <a:r>
              <a:rPr sz="1100" b="1">
                <a:solidFill>
                  <a:srgbClr val="E6EDF3"/>
                </a:solidFill>
                <a:latin typeface="Mona Sans"/>
              </a:rPr>
              <a:t>merged into top-level usage metrics totals</a:t>
            </a:r>
            <a:r>
              <a:rPr sz="1100">
                <a:solidFill>
                  <a:srgbClr val="C9D1D9"/>
                </a:solidFill>
                <a:latin typeface="Mona Sans"/>
              </a:rPr>
              <a:t>, giving organizations a unified view of all Copilot usage across IDE and CLI surfaces.</a:t>
            </a:r>
          </a:p>
          <a:p>
            <a:pPr>
              <a:spcBef>
                <a:spcPts val="1000"/>
              </a:spcBef>
              <a:spcAft>
                <a:spcPts val="200"/>
              </a:spcAft>
            </a:pPr>
            <a:r>
              <a:rPr sz="900" b="1">
                <a:solidFill>
                  <a:srgbClr val="4493F8"/>
                </a:solidFill>
                <a:latin typeface="Mona Sans"/>
              </a:rPr>
              <a:t>WHY IT MATTERS</a:t>
            </a:r>
          </a:p>
          <a:p>
            <a:pPr>
              <a:spcAft>
                <a:spcPts val="200"/>
              </a:spcAft>
            </a:pPr>
            <a:r>
              <a:rPr sz="1100">
                <a:solidFill>
                  <a:srgbClr val="4493F8"/>
                </a:solidFill>
                <a:latin typeface="Mona Sans"/>
              </a:rPr>
              <a:t>•  </a:t>
            </a:r>
            <a:r>
              <a:rPr sz="1100" b="1">
                <a:solidFill>
                  <a:srgbClr val="E6EDF3"/>
                </a:solidFill>
                <a:latin typeface="Mona Sans"/>
              </a:rPr>
              <a:t>Unified reporting</a:t>
            </a:r>
            <a:r>
              <a:rPr sz="1100">
                <a:solidFill>
                  <a:srgbClr val="C9D1D9"/>
                </a:solidFill>
                <a:latin typeface="Mona Sans"/>
              </a:rPr>
              <a:t> — IDE and CLI usage combined in top-level fields like `code_generation_activity_count` and `code_acceptance_activity_count`</a:t>
            </a:r>
          </a:p>
          <a:p>
            <a:pPr>
              <a:spcAft>
                <a:spcPts val="200"/>
              </a:spcAft>
            </a:pPr>
            <a:r>
              <a:rPr sz="1100">
                <a:solidFill>
                  <a:srgbClr val="4493F8"/>
                </a:solidFill>
                <a:latin typeface="Mona Sans"/>
              </a:rPr>
              <a:t>•  </a:t>
            </a:r>
            <a:r>
              <a:rPr sz="1100" b="1">
                <a:solidFill>
                  <a:srgbClr val="E6EDF3"/>
                </a:solidFill>
                <a:latin typeface="Mona Sans"/>
              </a:rPr>
              <a:t>Feature-level breakdown</a:t>
            </a:r>
            <a:r>
              <a:rPr sz="1100">
                <a:solidFill>
                  <a:srgbClr val="C9D1D9"/>
                </a:solidFill>
                <a:latin typeface="Mona Sans"/>
              </a:rPr>
              <a:t> — CLI appears as `feature=copilot_cli` in `totals_by_feature` and related breakdowns</a:t>
            </a:r>
          </a:p>
          <a:p>
            <a:pPr>
              <a:spcAft>
                <a:spcPts val="200"/>
              </a:spcAft>
            </a:pPr>
            <a:r>
              <a:rPr sz="1100">
                <a:solidFill>
                  <a:srgbClr val="4493F8"/>
                </a:solidFill>
                <a:latin typeface="Mona Sans"/>
              </a:rPr>
              <a:t>•  </a:t>
            </a:r>
            <a:r>
              <a:rPr sz="1100" b="1">
                <a:solidFill>
                  <a:srgbClr val="E6EDF3"/>
                </a:solidFill>
                <a:latin typeface="Mona Sans"/>
              </a:rPr>
              <a:t>No manual aggregation</a:t>
            </a:r>
            <a:r>
              <a:rPr sz="1100">
                <a:solidFill>
                  <a:srgbClr val="C9D1D9"/>
                </a:solidFill>
                <a:latin typeface="Mona Sans"/>
              </a:rPr>
              <a:t> — the API now handles combining CLI and IDE totals automatically</a:t>
            </a:r>
          </a:p>
          <a:p>
            <a:pPr>
              <a:spcAft>
                <a:spcPts val="200"/>
              </a:spcAft>
            </a:pPr>
            <a:r>
              <a:rPr sz="1100">
                <a:solidFill>
                  <a:srgbClr val="4493F8"/>
                </a:solidFill>
                <a:latin typeface="Mona Sans"/>
              </a:rPr>
              <a:t>•  </a:t>
            </a:r>
            <a:r>
              <a:rPr sz="1100" b="1">
                <a:solidFill>
                  <a:srgbClr val="E6EDF3"/>
                </a:solidFill>
                <a:latin typeface="Mona Sans"/>
              </a:rPr>
              <a:t>Backward compatible</a:t>
            </a:r>
            <a:r>
              <a:rPr sz="1100">
                <a:solidFill>
                  <a:srgbClr val="C9D1D9"/>
                </a:solidFill>
                <a:latin typeface="Mona Sans"/>
              </a:rPr>
              <a:t> — the standalone `totals_by_cli` section and per-user CLI fields remain</a:t>
            </a:r>
          </a:p>
          <a:p>
            <a:pPr>
              <a:spcBef>
                <a:spcPts val="1000"/>
              </a:spcBef>
              <a:spcAft>
                <a:spcPts val="200"/>
              </a:spcAft>
            </a:pPr>
            <a:r>
              <a:rPr sz="900" b="1">
                <a:solidFill>
                  <a:srgbClr val="4493F8"/>
                </a:solidFill>
                <a:latin typeface="Mona Sans"/>
              </a:rPr>
              <a:t>HOW TO GET STARTED</a:t>
            </a:r>
          </a:p>
          <a:p>
            <a:pPr>
              <a:spcAft>
                <a:spcPts val="200"/>
              </a:spcAft>
            </a:pPr>
            <a:r>
              <a:rPr sz="1100">
                <a:solidFill>
                  <a:srgbClr val="4493F8"/>
                </a:solidFill>
                <a:latin typeface="Mona Sans"/>
              </a:rPr>
              <a:t>•  </a:t>
            </a:r>
            <a:r>
              <a:rPr sz="1100">
                <a:solidFill>
                  <a:srgbClr val="C9D1D9"/>
                </a:solidFill>
                <a:latin typeface="Mona Sans"/>
              </a:rPr>
              <a:t>Review dashboards and alerts that use top-level metric fields — values will increase now that CLI is included</a:t>
            </a:r>
          </a:p>
          <a:p>
            <a:pPr>
              <a:spcAft>
                <a:spcPts val="200"/>
              </a:spcAft>
            </a:pPr>
            <a:r>
              <a:rPr sz="1100">
                <a:solidFill>
                  <a:srgbClr val="4493F8"/>
                </a:solidFill>
                <a:latin typeface="Mona Sans"/>
              </a:rPr>
              <a:t>•  </a:t>
            </a:r>
            <a:r>
              <a:rPr sz="1100">
                <a:solidFill>
                  <a:srgbClr val="C9D1D9"/>
                </a:solidFill>
                <a:latin typeface="Mona Sans"/>
              </a:rPr>
              <a:t>Update threshold-based alerting to reflect the new combined totals</a:t>
            </a:r>
          </a:p>
          <a:p>
            <a:pPr>
              <a:spcAft>
                <a:spcPts val="200"/>
              </a:spcAft>
            </a:pPr>
            <a:r>
              <a:rPr sz="1100">
                <a:solidFill>
                  <a:srgbClr val="4493F8"/>
                </a:solidFill>
                <a:latin typeface="Mona Sans"/>
              </a:rPr>
              <a:t>•  </a:t>
            </a:r>
            <a:r>
              <a:rPr sz="1100">
                <a:solidFill>
                  <a:srgbClr val="C9D1D9"/>
                </a:solidFill>
                <a:latin typeface="Mona Sans"/>
              </a:rPr>
              <a:t>Use `feature=copilot_cli` in `totals_by_feature` to isolate CLI-specific usage when needed</a:t>
            </a:r>
          </a:p>
          <a:p>
            <a:pPr>
              <a:spcAft>
                <a:spcPts val="200"/>
              </a:spcAft>
            </a:pPr>
            <a:r>
              <a:rPr sz="1100">
                <a:solidFill>
                  <a:srgbClr val="4493F8"/>
                </a:solidFill>
                <a:latin typeface="Mona Sans"/>
              </a:rPr>
              <a:t>•  </a:t>
            </a:r>
            <a:r>
              <a:rPr sz="1100">
                <a:solidFill>
                  <a:srgbClr val="C9D1D9"/>
                </a:solidFill>
                <a:latin typeface="Mona Sans"/>
              </a:rPr>
              <a:t>CLI activity is excluded from `totals_by_ide` to preserve IDE-only analysis</a:t>
            </a:r>
          </a:p>
          <a:p>
            <a:pPr>
              <a:spcBef>
                <a:spcPts val="1000"/>
              </a:spcBef>
              <a:spcAft>
                <a:spcPts val="200"/>
              </a:spcAft>
            </a:pPr>
            <a:r>
              <a:rPr sz="900" b="1">
                <a:solidFill>
                  <a:srgbClr val="4493F8"/>
                </a:solidFill>
                <a:latin typeface="Mona Sans"/>
              </a:rPr>
              <a:t>WHO GETS IT</a:t>
            </a:r>
          </a:p>
          <a:p>
            <a:pPr>
              <a:spcAft>
                <a:spcPts val="200"/>
              </a:spcAft>
            </a:pPr>
            <a:r>
              <a:rPr sz="1100">
                <a:solidFill>
                  <a:srgbClr val="4493F8"/>
                </a:solidFill>
                <a:latin typeface="Mona Sans"/>
              </a:rPr>
              <a:t>•  </a:t>
            </a:r>
            <a:r>
              <a:rPr sz="1100" b="1">
                <a:solidFill>
                  <a:srgbClr val="E6EDF3"/>
                </a:solidFill>
                <a:latin typeface="Mona Sans"/>
              </a:rPr>
              <a:t>All enterprise and organization admins</a:t>
            </a:r>
            <a:r>
              <a:rPr sz="1100">
                <a:solidFill>
                  <a:srgbClr val="C9D1D9"/>
                </a:solidFill>
                <a:latin typeface="Mona Sans"/>
              </a:rPr>
              <a:t> — available in single-day and 28-day reports via the Copilot usage metrics API</a:t>
            </a:r>
          </a:p>
          <a:p>
            <a:pPr>
              <a:spcAft>
                <a:spcPts val="200"/>
              </a:spcAft>
            </a:pPr>
            <a:r>
              <a:rPr sz="1100">
                <a:solidFill>
                  <a:srgbClr val="4493F8"/>
                </a:solidFill>
                <a:latin typeface="Mona Sans"/>
              </a:rPr>
              <a:t>•  </a:t>
            </a:r>
            <a:r>
              <a:rPr sz="1100" b="1">
                <a:solidFill>
                  <a:srgbClr val="E6EDF3"/>
                </a:solidFill>
                <a:latin typeface="Mona Sans"/>
              </a:rPr>
              <a:t>Available now</a:t>
            </a:r>
            <a:r>
              <a:rPr sz="1100">
                <a:solidFill>
                  <a:srgbClr val="C9D1D9"/>
                </a:solidFill>
                <a:latin typeface="Mona Sans"/>
              </a:rPr>
              <a:t> — update your dashboards before comparing to historical baselines</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https://github.blog/changelog/2026-04-10-copilot-cli-activity-now-included-in-usage-metrics-totals-and-feature-breakdowns/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2026-04-14</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Model selection for Claude and Codex agents on github.com</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Model selection for Claude and Codex agents on github.com</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2026-04-14</a:t>
            </a:r>
          </a:p>
        </p:txBody>
      </p:sp>
      <p:sp>
        <p:nvSpPr>
          <p:cNvPr id="5" name="TextBox 4"/>
          <p:cNvSpPr txBox="1"/>
          <p:nvPr/>
        </p:nvSpPr>
        <p:spPr>
          <a:xfrm>
            <a:off x="731520" y="1005840"/>
            <a:ext cx="10515600" cy="4343400"/>
          </a:xfrm>
          <a:prstGeom prst="rect">
            <a:avLst/>
          </a:prstGeom>
          <a:noFill/>
        </p:spPr>
        <p:txBody>
          <a:bodyPr wrap="square">
            <a:spAutoFit/>
          </a:bodyPr>
          <a:lstStyle/>
          <a:p>
            <a:pPr>
              <a:spcBef>
                <a:spcPts val="500"/>
              </a:spcBef>
              <a:spcAft>
                <a:spcPts val="400"/>
              </a:spcAft>
            </a:pPr>
            <a:r>
              <a:rPr sz="1400" b="1">
                <a:solidFill>
                  <a:srgbClr val="E6EDF3"/>
                </a:solidFill>
                <a:latin typeface="Mona Sans"/>
              </a:rPr>
              <a:t>What changed</a:t>
            </a:r>
          </a:p>
          <a:p>
            <a:pPr>
              <a:spcAft>
                <a:spcPts val="500"/>
              </a:spcAft>
            </a:pPr>
            <a:r>
              <a:rPr sz="1100" b="1">
                <a:solidFill>
                  <a:srgbClr val="E6EDF3"/>
                </a:solidFill>
                <a:latin typeface="Mona Sans"/>
              </a:rPr>
              <a:t>Claude and Codex third-party coding agents</a:t>
            </a:r>
            <a:r>
              <a:rPr sz="1100">
                <a:solidFill>
                  <a:srgbClr val="C9D1D9"/>
                </a:solidFill>
                <a:latin typeface="Mona Sans"/>
              </a:rPr>
              <a:t> on github.com now support </a:t>
            </a:r>
            <a:r>
              <a:rPr sz="1100" b="1">
                <a:solidFill>
                  <a:srgbClr val="E6EDF3"/>
                </a:solidFill>
                <a:latin typeface="Mona Sans"/>
              </a:rPr>
              <a:t>model selection</a:t>
            </a:r>
            <a:r>
              <a:rPr sz="1100">
                <a:solidFill>
                  <a:srgbClr val="C9D1D9"/>
                </a:solidFill>
                <a:latin typeface="Mona Sans"/>
              </a:rPr>
              <a:t>, letting developers choose the specific Anthropic or OpenAI model powering their agent tasks.</a:t>
            </a:r>
          </a:p>
          <a:p>
            <a:pPr>
              <a:spcBef>
                <a:spcPts val="1000"/>
              </a:spcBef>
              <a:spcAft>
                <a:spcPts val="200"/>
              </a:spcAft>
            </a:pPr>
            <a:r>
              <a:rPr sz="900" b="1">
                <a:solidFill>
                  <a:srgbClr val="4493F8"/>
                </a:solidFill>
                <a:latin typeface="Mona Sans"/>
              </a:rPr>
              <a:t>WHY IT MATTERS</a:t>
            </a:r>
          </a:p>
          <a:p>
            <a:pPr>
              <a:spcAft>
                <a:spcPts val="200"/>
              </a:spcAft>
            </a:pPr>
            <a:r>
              <a:rPr sz="1100">
                <a:solidFill>
                  <a:srgbClr val="4493F8"/>
                </a:solidFill>
                <a:latin typeface="Mona Sans"/>
              </a:rPr>
              <a:t>•  </a:t>
            </a:r>
            <a:r>
              <a:rPr sz="1100" b="1">
                <a:solidFill>
                  <a:srgbClr val="E6EDF3"/>
                </a:solidFill>
                <a:latin typeface="Mona Sans"/>
              </a:rPr>
              <a:t>Precise model control</a:t>
            </a:r>
            <a:r>
              <a:rPr sz="1100">
                <a:solidFill>
                  <a:srgbClr val="C9D1D9"/>
                </a:solidFill>
                <a:latin typeface="Mona Sans"/>
              </a:rPr>
              <a:t> — match the model to the task, balancing capability against cost</a:t>
            </a:r>
          </a:p>
          <a:p>
            <a:pPr>
              <a:spcAft>
                <a:spcPts val="200"/>
              </a:spcAft>
            </a:pPr>
            <a:r>
              <a:rPr sz="1100">
                <a:solidFill>
                  <a:srgbClr val="4493F8"/>
                </a:solidFill>
                <a:latin typeface="Mona Sans"/>
              </a:rPr>
              <a:t>•  </a:t>
            </a:r>
            <a:r>
              <a:rPr sz="1100" b="1">
                <a:solidFill>
                  <a:srgbClr val="E6EDF3"/>
                </a:solidFill>
                <a:latin typeface="Mona Sans"/>
              </a:rPr>
              <a:t>Broad Claude support</a:t>
            </a:r>
            <a:r>
              <a:rPr sz="1100">
                <a:solidFill>
                  <a:srgbClr val="C9D1D9"/>
                </a:solidFill>
                <a:latin typeface="Mona Sans"/>
              </a:rPr>
              <a:t> — Claude Sonnet 4.6, Claude Opus 4.6, Claude Sonnet 4.5, Claude Opus 4.5 available</a:t>
            </a:r>
          </a:p>
          <a:p>
            <a:pPr>
              <a:spcAft>
                <a:spcPts val="200"/>
              </a:spcAft>
            </a:pPr>
            <a:r>
              <a:rPr sz="1100">
                <a:solidFill>
                  <a:srgbClr val="4493F8"/>
                </a:solidFill>
                <a:latin typeface="Mona Sans"/>
              </a:rPr>
              <a:t>•  </a:t>
            </a:r>
            <a:r>
              <a:rPr sz="1100" b="1">
                <a:solidFill>
                  <a:srgbClr val="E6EDF3"/>
                </a:solidFill>
                <a:latin typeface="Mona Sans"/>
              </a:rPr>
              <a:t>Broad Codex support</a:t>
            </a:r>
            <a:r>
              <a:rPr sz="1100">
                <a:solidFill>
                  <a:srgbClr val="C9D1D9"/>
                </a:solidFill>
                <a:latin typeface="Mona Sans"/>
              </a:rPr>
              <a:t> — GPT-5.2-Codex, GPT-5.3-Codex, GPT-5.4 available</a:t>
            </a:r>
          </a:p>
          <a:p>
            <a:pPr>
              <a:spcAft>
                <a:spcPts val="200"/>
              </a:spcAft>
            </a:pPr>
            <a:r>
              <a:rPr sz="1100">
                <a:solidFill>
                  <a:srgbClr val="4493F8"/>
                </a:solidFill>
                <a:latin typeface="Mona Sans"/>
              </a:rPr>
              <a:t>•  </a:t>
            </a:r>
            <a:r>
              <a:rPr sz="1100" b="1">
                <a:solidFill>
                  <a:srgbClr val="E6EDF3"/>
                </a:solidFill>
                <a:latin typeface="Mona Sans"/>
              </a:rPr>
              <a:t>Included with existing subscriptions</a:t>
            </a:r>
            <a:r>
              <a:rPr sz="1100">
                <a:solidFill>
                  <a:srgbClr val="C9D1D9"/>
                </a:solidFill>
                <a:latin typeface="Mona Sans"/>
              </a:rPr>
              <a:t> — no additional cost for the model selection capability</a:t>
            </a:r>
          </a:p>
          <a:p>
            <a:pPr>
              <a:spcBef>
                <a:spcPts val="1000"/>
              </a:spcBef>
              <a:spcAft>
                <a:spcPts val="200"/>
              </a:spcAft>
            </a:pPr>
            <a:r>
              <a:rPr sz="900" b="1">
                <a:solidFill>
                  <a:srgbClr val="4493F8"/>
                </a:solidFill>
                <a:latin typeface="Mona Sans"/>
              </a:rPr>
              <a:t>HOW TO GET STARTED</a:t>
            </a:r>
          </a:p>
          <a:p>
            <a:pPr>
              <a:spcAft>
                <a:spcPts val="200"/>
              </a:spcAft>
            </a:pPr>
            <a:r>
              <a:rPr sz="1100">
                <a:solidFill>
                  <a:srgbClr val="4493F8"/>
                </a:solidFill>
                <a:latin typeface="Mona Sans"/>
              </a:rPr>
              <a:t>•  </a:t>
            </a:r>
            <a:r>
              <a:rPr sz="1100">
                <a:solidFill>
                  <a:srgbClr val="C9D1D9"/>
                </a:solidFill>
                <a:latin typeface="Mona Sans"/>
              </a:rPr>
              <a:t>Navigate to your repository's </a:t>
            </a:r>
            <a:r>
              <a:rPr sz="1100" b="1">
                <a:solidFill>
                  <a:srgbClr val="E6EDF3"/>
                </a:solidFill>
                <a:latin typeface="Mona Sans"/>
              </a:rPr>
              <a:t>Settings → Copilot → Cloud agent</a:t>
            </a:r>
          </a:p>
          <a:p>
            <a:pPr>
              <a:spcAft>
                <a:spcPts val="200"/>
              </a:spcAft>
            </a:pPr>
            <a:r>
              <a:rPr sz="1100">
                <a:solidFill>
                  <a:srgbClr val="4493F8"/>
                </a:solidFill>
                <a:latin typeface="Mona Sans"/>
              </a:rPr>
              <a:t>•  </a:t>
            </a:r>
            <a:r>
              <a:rPr sz="1100">
                <a:solidFill>
                  <a:srgbClr val="C9D1D9"/>
                </a:solidFill>
                <a:latin typeface="Mona Sans"/>
              </a:rPr>
              <a:t>Ensure the Claude or Codex agent is enabled for your repository</a:t>
            </a:r>
          </a:p>
          <a:p>
            <a:pPr>
              <a:spcAft>
                <a:spcPts val="200"/>
              </a:spcAft>
            </a:pPr>
            <a:r>
              <a:rPr sz="1100">
                <a:solidFill>
                  <a:srgbClr val="4493F8"/>
                </a:solidFill>
                <a:latin typeface="Mona Sans"/>
              </a:rPr>
              <a:t>•  </a:t>
            </a:r>
            <a:r>
              <a:rPr sz="1100">
                <a:solidFill>
                  <a:srgbClr val="C9D1D9"/>
                </a:solidFill>
                <a:latin typeface="Mona Sans"/>
              </a:rPr>
              <a:t>For </a:t>
            </a:r>
            <a:r>
              <a:rPr sz="1100" b="1">
                <a:solidFill>
                  <a:srgbClr val="E6EDF3"/>
                </a:solidFill>
                <a:latin typeface="Mona Sans"/>
              </a:rPr>
              <a:t>Business / Enterprise</a:t>
            </a:r>
            <a:r>
              <a:rPr sz="1100">
                <a:solidFill>
                  <a:srgbClr val="C9D1D9"/>
                </a:solidFill>
                <a:latin typeface="Mona Sans"/>
              </a:rPr>
              <a:t>: have your admin enable the Anthropic Claude or OpenAI Codex policy</a:t>
            </a:r>
          </a:p>
          <a:p>
            <a:pPr>
              <a:spcAft>
                <a:spcPts val="200"/>
              </a:spcAft>
            </a:pPr>
            <a:r>
              <a:rPr sz="1100">
                <a:solidFill>
                  <a:srgbClr val="4493F8"/>
                </a:solidFill>
                <a:latin typeface="Mona Sans"/>
              </a:rPr>
              <a:t>•  </a:t>
            </a:r>
            <a:r>
              <a:rPr sz="1100">
                <a:solidFill>
                  <a:srgbClr val="C9D1D9"/>
                </a:solidFill>
                <a:latin typeface="Mona Sans"/>
              </a:rPr>
              <a:t>Select your preferred model from the agent configuration</a:t>
            </a:r>
          </a:p>
          <a:p>
            <a:pPr>
              <a:spcBef>
                <a:spcPts val="1000"/>
              </a:spcBef>
              <a:spcAft>
                <a:spcPts val="200"/>
              </a:spcAft>
            </a:pPr>
            <a:r>
              <a:rPr sz="900" b="1">
                <a:solidFill>
                  <a:srgbClr val="4493F8"/>
                </a:solidFill>
                <a:latin typeface="Mona Sans"/>
              </a:rPr>
              <a:t>WHO GETS IT</a:t>
            </a:r>
          </a:p>
          <a:p>
            <a:pPr>
              <a:spcAft>
                <a:spcPts val="200"/>
              </a:spcAft>
            </a:pPr>
            <a:r>
              <a:rPr sz="1100">
                <a:solidFill>
                  <a:srgbClr val="4493F8"/>
                </a:solidFill>
                <a:latin typeface="Mona Sans"/>
              </a:rPr>
              <a:t>•  </a:t>
            </a:r>
            <a:r>
              <a:rPr sz="1100" b="1">
                <a:solidFill>
                  <a:srgbClr val="E6EDF3"/>
                </a:solidFill>
                <a:latin typeface="Mona Sans"/>
              </a:rPr>
              <a:t>All Copilot subscribers</a:t>
            </a:r>
            <a:r>
              <a:rPr sz="1100">
                <a:solidFill>
                  <a:srgbClr val="C9D1D9"/>
                </a:solidFill>
                <a:latin typeface="Mona Sans"/>
              </a:rPr>
              <a:t> with Claude or Codex agent access — available now</a:t>
            </a:r>
          </a:p>
          <a:p>
            <a:pPr>
              <a:spcAft>
                <a:spcPts val="200"/>
              </a:spcAft>
            </a:pPr>
            <a:r>
              <a:rPr sz="1100">
                <a:solidFill>
                  <a:srgbClr val="4493F8"/>
                </a:solidFill>
                <a:latin typeface="Mona Sans"/>
              </a:rPr>
              <a:t>•  </a:t>
            </a:r>
            <a:r>
              <a:rPr sz="1100" b="1">
                <a:solidFill>
                  <a:srgbClr val="E6EDF3"/>
                </a:solidFill>
                <a:latin typeface="Mona Sans"/>
              </a:rPr>
              <a:t>Business / Enterprise</a:t>
            </a:r>
            <a:r>
              <a:rPr sz="1100">
                <a:solidFill>
                  <a:srgbClr val="C9D1D9"/>
                </a:solidFill>
                <a:latin typeface="Mona Sans"/>
              </a:rPr>
              <a:t> — requires admin policy enablement for Claude and Codex agents</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https://github.blog/changelog/2026-04-14-model-selection-for-claude-and-codex-agents-on-github-com/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2026-04-15</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Enable Copilot cloud agent via custom properties</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100" b="1">
                <a:solidFill>
                  <a:srgbClr val="E6EDF3"/>
                </a:solidFill>
                <a:latin typeface="Mona Sans"/>
              </a:defRPr>
            </a:pPr>
            <a:r>
              <a:t>Enable Copilot cloud agent via custom properties</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2026-04-15</a:t>
            </a:r>
          </a:p>
        </p:txBody>
      </p:sp>
      <p:sp>
        <p:nvSpPr>
          <p:cNvPr id="5" name="TextBox 4"/>
          <p:cNvSpPr txBox="1"/>
          <p:nvPr/>
        </p:nvSpPr>
        <p:spPr>
          <a:xfrm>
            <a:off x="731520" y="1005840"/>
            <a:ext cx="10515600" cy="4610100"/>
          </a:xfrm>
          <a:prstGeom prst="rect">
            <a:avLst/>
          </a:prstGeom>
          <a:noFill/>
        </p:spPr>
        <p:txBody>
          <a:bodyPr wrap="square">
            <a:spAutoFit/>
          </a:bodyPr>
          <a:lstStyle/>
          <a:p>
            <a:pPr>
              <a:spcBef>
                <a:spcPts val="600"/>
              </a:spcBef>
              <a:spcAft>
                <a:spcPts val="400"/>
              </a:spcAft>
            </a:pPr>
            <a:r>
              <a:rPr sz="1500" b="1">
                <a:solidFill>
                  <a:srgbClr val="E6EDF3"/>
                </a:solidFill>
                <a:latin typeface="Mona Sans"/>
              </a:rPr>
              <a:t>What changed</a:t>
            </a:r>
          </a:p>
          <a:p>
            <a:pPr>
              <a:spcAft>
                <a:spcPts val="600"/>
              </a:spcAft>
            </a:pPr>
            <a:r>
              <a:rPr sz="1200">
                <a:solidFill>
                  <a:srgbClr val="C9D1D9"/>
                </a:solidFill>
                <a:latin typeface="Mona Sans"/>
              </a:rPr>
              <a:t>Enterprise admins can now </a:t>
            </a:r>
            <a:r>
              <a:rPr sz="1200" b="1">
                <a:solidFill>
                  <a:srgbClr val="E6EDF3"/>
                </a:solidFill>
                <a:latin typeface="Mona Sans"/>
              </a:rPr>
              <a:t>selectively enable the Copilot cloud agent</a:t>
            </a:r>
            <a:r>
              <a:rPr sz="1200">
                <a:solidFill>
                  <a:srgbClr val="C9D1D9"/>
                </a:solidFill>
                <a:latin typeface="Mona Sans"/>
              </a:rPr>
              <a:t> on a per-organization basis using </a:t>
            </a:r>
            <a:r>
              <a:rPr sz="1200" b="1">
                <a:solidFill>
                  <a:srgbClr val="E6EDF3"/>
                </a:solidFill>
                <a:latin typeface="Mona Sans"/>
              </a:rPr>
              <a:t>custom properties</a:t>
            </a:r>
            <a:r>
              <a:rPr sz="1200">
                <a:solidFill>
                  <a:srgbClr val="C9D1D9"/>
                </a:solidFill>
                <a:latin typeface="Mona Sans"/>
              </a:rPr>
              <a:t> and new REST API endpoints, replacing the previous all-or-nothing global toggle.</a:t>
            </a:r>
          </a:p>
          <a:p>
            <a:pPr>
              <a:spcBef>
                <a:spcPts val="1000"/>
              </a:spcBef>
              <a:spcAft>
                <a:spcPts val="300"/>
              </a:spcAft>
            </a:pPr>
            <a:r>
              <a:rPr sz="900" b="1">
                <a:solidFill>
                  <a:srgbClr val="4493F8"/>
                </a:solidFill>
                <a:latin typeface="Mona Sans"/>
              </a:rPr>
              <a:t>WHY IT MATTERS</a:t>
            </a:r>
          </a:p>
          <a:p>
            <a:pPr>
              <a:spcAft>
                <a:spcPts val="300"/>
              </a:spcAft>
            </a:pPr>
            <a:r>
              <a:rPr sz="1200">
                <a:solidFill>
                  <a:srgbClr val="4493F8"/>
                </a:solidFill>
                <a:latin typeface="Mona Sans"/>
              </a:rPr>
              <a:t>•  </a:t>
            </a:r>
            <a:r>
              <a:rPr sz="1200" b="1">
                <a:solidFill>
                  <a:srgbClr val="E6EDF3"/>
                </a:solidFill>
                <a:latin typeface="Mona Sans"/>
              </a:rPr>
              <a:t>Granular rollout</a:t>
            </a:r>
            <a:r>
              <a:rPr sz="1200">
                <a:solidFill>
                  <a:srgbClr val="C9D1D9"/>
                </a:solidFill>
                <a:latin typeface="Mona Sans"/>
              </a:rPr>
              <a:t> — enable the cloud agent for specific organizations without affecting the entire enterprise</a:t>
            </a:r>
          </a:p>
          <a:p>
            <a:pPr>
              <a:spcAft>
                <a:spcPts val="300"/>
              </a:spcAft>
            </a:pPr>
            <a:r>
              <a:rPr sz="1200">
                <a:solidFill>
                  <a:srgbClr val="4493F8"/>
                </a:solidFill>
                <a:latin typeface="Mona Sans"/>
              </a:rPr>
              <a:t>•  </a:t>
            </a:r>
            <a:r>
              <a:rPr sz="1200" b="1">
                <a:solidFill>
                  <a:srgbClr val="E6EDF3"/>
                </a:solidFill>
                <a:latin typeface="Mona Sans"/>
              </a:rPr>
              <a:t>REST API control</a:t>
            </a:r>
            <a:r>
              <a:rPr sz="1200">
                <a:solidFill>
                  <a:srgbClr val="C9D1D9"/>
                </a:solidFill>
                <a:latin typeface="Mona Sans"/>
              </a:rPr>
              <a:t> — new endpoints to set policy state, add or remove organizations from the enabled list</a:t>
            </a:r>
          </a:p>
          <a:p>
            <a:pPr>
              <a:spcAft>
                <a:spcPts val="300"/>
              </a:spcAft>
            </a:pPr>
            <a:r>
              <a:rPr sz="1200">
                <a:solidFill>
                  <a:srgbClr val="4493F8"/>
                </a:solidFill>
                <a:latin typeface="Mona Sans"/>
              </a:rPr>
              <a:t>•  </a:t>
            </a:r>
            <a:r>
              <a:rPr sz="1200" b="1">
                <a:solidFill>
                  <a:srgbClr val="E6EDF3"/>
                </a:solidFill>
                <a:latin typeface="Mona Sans"/>
              </a:rPr>
              <a:t>AI Controls UI</a:t>
            </a:r>
            <a:r>
              <a:rPr sz="1200">
                <a:solidFill>
                  <a:srgbClr val="C9D1D9"/>
                </a:solidFill>
                <a:latin typeface="Mona Sans"/>
              </a:rPr>
              <a:t> — new "Enabled for selected organizations" option in the Copilot Cloud Agent settings</a:t>
            </a:r>
          </a:p>
          <a:p>
            <a:pPr>
              <a:spcAft>
                <a:spcPts val="300"/>
              </a:spcAft>
            </a:pPr>
            <a:r>
              <a:rPr sz="1200">
                <a:solidFill>
                  <a:srgbClr val="4493F8"/>
                </a:solidFill>
                <a:latin typeface="Mona Sans"/>
              </a:rPr>
              <a:t>•  </a:t>
            </a:r>
            <a:r>
              <a:rPr sz="1200" b="1">
                <a:solidFill>
                  <a:srgbClr val="E6EDF3"/>
                </a:solidFill>
                <a:latin typeface="Mona Sans"/>
              </a:rPr>
              <a:t>Phased adoption</a:t>
            </a:r>
            <a:r>
              <a:rPr sz="1200">
                <a:solidFill>
                  <a:srgbClr val="C9D1D9"/>
                </a:solidFill>
                <a:latin typeface="Mona Sans"/>
              </a:rPr>
              <a:t> — run pilots in selected teams before broad enterprise rollout</a:t>
            </a:r>
          </a:p>
          <a:p>
            <a:pPr>
              <a:spcBef>
                <a:spcPts val="1000"/>
              </a:spcBef>
              <a:spcAft>
                <a:spcPts val="300"/>
              </a:spcAft>
            </a:pPr>
            <a:r>
              <a:rPr sz="900" b="1">
                <a:solidFill>
                  <a:srgbClr val="4493F8"/>
                </a:solidFill>
                <a:latin typeface="Mona Sans"/>
              </a:rPr>
              <a:t>HOW TO GET STARTED</a:t>
            </a:r>
          </a:p>
          <a:p>
            <a:pPr>
              <a:spcAft>
                <a:spcPts val="300"/>
              </a:spcAft>
            </a:pPr>
            <a:r>
              <a:rPr sz="1200">
                <a:solidFill>
                  <a:srgbClr val="4493F8"/>
                </a:solidFill>
                <a:latin typeface="Mona Sans"/>
              </a:rPr>
              <a:t>•  </a:t>
            </a:r>
            <a:r>
              <a:rPr sz="1200">
                <a:solidFill>
                  <a:srgbClr val="C9D1D9"/>
                </a:solidFill>
                <a:latin typeface="Mona Sans"/>
              </a:rPr>
              <a:t>Navigate to your enterprise's </a:t>
            </a:r>
            <a:r>
              <a:rPr sz="1200" b="1">
                <a:solidFill>
                  <a:srgbClr val="E6EDF3"/>
                </a:solidFill>
                <a:latin typeface="Mona Sans"/>
              </a:rPr>
              <a:t>Copilot AI Controls settings page</a:t>
            </a:r>
          </a:p>
          <a:p>
            <a:pPr>
              <a:spcAft>
                <a:spcPts val="300"/>
              </a:spcAft>
            </a:pPr>
            <a:r>
              <a:rPr sz="1200">
                <a:solidFill>
                  <a:srgbClr val="4493F8"/>
                </a:solidFill>
                <a:latin typeface="Mona Sans"/>
              </a:rPr>
              <a:t>•  </a:t>
            </a:r>
            <a:r>
              <a:rPr sz="1200">
                <a:solidFill>
                  <a:srgbClr val="C9D1D9"/>
                </a:solidFill>
                <a:latin typeface="Mona Sans"/>
              </a:rPr>
              <a:t>Select </a:t>
            </a:r>
            <a:r>
              <a:rPr sz="1200" b="1">
                <a:solidFill>
                  <a:srgbClr val="E6EDF3"/>
                </a:solidFill>
                <a:latin typeface="Mona Sans"/>
              </a:rPr>
              <a:t>"Enabled for selected organizations"</a:t>
            </a:r>
            <a:r>
              <a:rPr sz="1200">
                <a:solidFill>
                  <a:srgbClr val="C9D1D9"/>
                </a:solidFill>
                <a:latin typeface="Mona Sans"/>
              </a:rPr>
              <a:t> under Copilot Cloud Agent</a:t>
            </a:r>
          </a:p>
          <a:p>
            <a:pPr>
              <a:spcAft>
                <a:spcPts val="300"/>
              </a:spcAft>
            </a:pPr>
            <a:r>
              <a:rPr sz="1200">
                <a:solidFill>
                  <a:srgbClr val="4493F8"/>
                </a:solidFill>
                <a:latin typeface="Mona Sans"/>
              </a:rPr>
              <a:t>•  </a:t>
            </a:r>
            <a:r>
              <a:rPr sz="1200">
                <a:solidFill>
                  <a:srgbClr val="C9D1D9"/>
                </a:solidFill>
                <a:latin typeface="Mona Sans"/>
              </a:rPr>
              <a:t>Add organizations using the UI or the new REST API endpoints</a:t>
            </a:r>
          </a:p>
          <a:p>
            <a:pPr>
              <a:spcAft>
                <a:spcPts val="300"/>
              </a:spcAft>
            </a:pPr>
            <a:r>
              <a:rPr sz="1200">
                <a:solidFill>
                  <a:srgbClr val="4493F8"/>
                </a:solidFill>
                <a:latin typeface="Mona Sans"/>
              </a:rPr>
              <a:t>•  </a:t>
            </a:r>
            <a:r>
              <a:rPr sz="1200">
                <a:solidFill>
                  <a:srgbClr val="C9D1D9"/>
                </a:solidFill>
                <a:latin typeface="Mona Sans"/>
              </a:rPr>
              <a:t>Note: property-based access is evaluated at configuration time; changes to org properties require a manual settings update</a:t>
            </a:r>
          </a:p>
          <a:p>
            <a:pPr>
              <a:spcBef>
                <a:spcPts val="1000"/>
              </a:spcBef>
              <a:spcAft>
                <a:spcPts val="300"/>
              </a:spcAft>
            </a:pPr>
            <a:r>
              <a:rPr sz="900" b="1">
                <a:solidFill>
                  <a:srgbClr val="4493F8"/>
                </a:solidFill>
                <a:latin typeface="Mona Sans"/>
              </a:rPr>
              <a:t>WHO GETS IT</a:t>
            </a:r>
          </a:p>
          <a:p>
            <a:pPr>
              <a:spcAft>
                <a:spcPts val="300"/>
              </a:spcAft>
            </a:pPr>
            <a:r>
              <a:rPr sz="1200">
                <a:solidFill>
                  <a:srgbClr val="4493F8"/>
                </a:solidFill>
                <a:latin typeface="Mona Sans"/>
              </a:rPr>
              <a:t>•  </a:t>
            </a:r>
            <a:r>
              <a:rPr sz="1200" b="1">
                <a:solidFill>
                  <a:srgbClr val="E6EDF3"/>
                </a:solidFill>
                <a:latin typeface="Mona Sans"/>
              </a:rPr>
              <a:t>GitHub Enterprise Cloud admins</a:t>
            </a:r>
            <a:r>
              <a:rPr sz="1200">
                <a:solidFill>
                  <a:srgbClr val="C9D1D9"/>
                </a:solidFill>
                <a:latin typeface="Mona Sans"/>
              </a:rPr>
              <a:t> — available now via both UI and REST API</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https://github.blog/changelog/2026-04-15-enable-copilot-cloud-agent-via-custom-properties/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2026-04-22</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Copilot code review user counts now aggregate in usage metrics API</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Copilot code review user counts now aggregate in usage metrics API</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2026-04-22</a:t>
            </a:r>
          </a:p>
        </p:txBody>
      </p:sp>
      <p:sp>
        <p:nvSpPr>
          <p:cNvPr id="5" name="TextBox 4"/>
          <p:cNvSpPr txBox="1"/>
          <p:nvPr/>
        </p:nvSpPr>
        <p:spPr>
          <a:xfrm>
            <a:off x="731520" y="1005840"/>
            <a:ext cx="10515600" cy="2921000"/>
          </a:xfrm>
          <a:prstGeom prst="rect">
            <a:avLst/>
          </a:prstGeom>
          <a:noFill/>
        </p:spPr>
        <p:txBody>
          <a:bodyPr wrap="square">
            <a:spAutoFit/>
          </a:bodyPr>
          <a:lstStyle/>
          <a:p>
            <a:pPr>
              <a:spcBef>
                <a:spcPts val="400"/>
              </a:spcBef>
              <a:spcAft>
                <a:spcPts val="300"/>
              </a:spcAft>
            </a:pPr>
            <a:r>
              <a:rPr sz="1300" b="1">
                <a:solidFill>
                  <a:srgbClr val="E6EDF3"/>
                </a:solidFill>
                <a:latin typeface="Mona Sans"/>
              </a:rPr>
              <a:t>What changed</a:t>
            </a:r>
          </a:p>
          <a:p>
            <a:pPr>
              <a:spcAft>
                <a:spcPts val="400"/>
              </a:spcAft>
            </a:pPr>
            <a:r>
              <a:rPr sz="1000" b="1">
                <a:solidFill>
                  <a:srgbClr val="E6EDF3"/>
                </a:solidFill>
                <a:latin typeface="Mona Sans"/>
              </a:rPr>
              <a:t>Copilot code review usage reports</a:t>
            </a:r>
            <a:r>
              <a:rPr sz="1000">
                <a:solidFill>
                  <a:srgbClr val="C9D1D9"/>
                </a:solidFill>
                <a:latin typeface="Mona Sans"/>
              </a:rPr>
              <a:t> now include separate </a:t>
            </a:r>
            <a:r>
              <a:rPr sz="1000" b="1">
                <a:solidFill>
                  <a:srgbClr val="E6EDF3"/>
                </a:solidFill>
                <a:latin typeface="Mona Sans"/>
              </a:rPr>
              <a:t>active and passive user counts</a:t>
            </a:r>
            <a:r>
              <a:rPr sz="1000">
                <a:solidFill>
                  <a:srgbClr val="C9D1D9"/>
                </a:solidFill>
                <a:latin typeface="Mona Sans"/>
              </a:rPr>
              <a:t> at daily, weekly, and monthly intervals, giving admins clear visibility into intentional adoption versus policy-driven usage.</a:t>
            </a:r>
          </a:p>
          <a:p>
            <a:pPr>
              <a:spcBef>
                <a:spcPts val="700"/>
              </a:spcBef>
              <a:spcAft>
                <a:spcPts val="200"/>
              </a:spcAft>
            </a:pPr>
            <a:r>
              <a:rPr sz="900" b="1">
                <a:solidFill>
                  <a:srgbClr val="4493F8"/>
                </a:solidFill>
                <a:latin typeface="Mona Sans"/>
              </a:rPr>
              <a:t>WHY IT MATTERS</a:t>
            </a:r>
          </a:p>
          <a:p>
            <a:pPr>
              <a:spcAft>
                <a:spcPts val="200"/>
              </a:spcAft>
            </a:pPr>
            <a:r>
              <a:rPr sz="1000">
                <a:solidFill>
                  <a:srgbClr val="4493F8"/>
                </a:solidFill>
                <a:latin typeface="Mona Sans"/>
              </a:rPr>
              <a:t>•  </a:t>
            </a:r>
            <a:r>
              <a:rPr sz="1000" b="1">
                <a:solidFill>
                  <a:srgbClr val="E6EDF3"/>
                </a:solidFill>
                <a:latin typeface="Mona Sans"/>
              </a:rPr>
              <a:t>Active vs. passive distinction</a:t>
            </a:r>
            <a:r>
              <a:rPr sz="1000">
                <a:solidFill>
                  <a:srgbClr val="C9D1D9"/>
                </a:solidFill>
                <a:latin typeface="Mona Sans"/>
              </a:rPr>
              <a:t> — active users manually requested or applied a Copilot review; passive users had reviews auto-triggered by policy</a:t>
            </a:r>
          </a:p>
          <a:p>
            <a:pPr>
              <a:spcAft>
                <a:spcPts val="200"/>
              </a:spcAft>
            </a:pPr>
            <a:r>
              <a:rPr sz="1000">
                <a:solidFill>
                  <a:srgbClr val="4493F8"/>
                </a:solidFill>
                <a:latin typeface="Mona Sans"/>
              </a:rPr>
              <a:t>•  </a:t>
            </a:r>
            <a:r>
              <a:rPr sz="1000" b="1">
                <a:solidFill>
                  <a:srgbClr val="E6EDF3"/>
                </a:solidFill>
                <a:latin typeface="Mona Sans"/>
              </a:rPr>
              <a:t>ROI clarity</a:t>
            </a:r>
            <a:r>
              <a:rPr sz="1000">
                <a:solidFill>
                  <a:srgbClr val="C9D1D9"/>
                </a:solidFill>
                <a:latin typeface="Mona Sans"/>
              </a:rPr>
              <a:t> — distinguish genuine developer adoption from automatic review enforcement</a:t>
            </a:r>
          </a:p>
          <a:p>
            <a:pPr>
              <a:spcAft>
                <a:spcPts val="200"/>
              </a:spcAft>
            </a:pPr>
            <a:r>
              <a:rPr sz="1000">
                <a:solidFill>
                  <a:srgbClr val="4493F8"/>
                </a:solidFill>
                <a:latin typeface="Mona Sans"/>
              </a:rPr>
              <a:t>•  </a:t>
            </a:r>
            <a:r>
              <a:rPr sz="1000" b="1">
                <a:solidFill>
                  <a:srgbClr val="E6EDF3"/>
                </a:solidFill>
                <a:latin typeface="Mona Sans"/>
              </a:rPr>
              <a:t>Trend tracking</a:t>
            </a:r>
            <a:r>
              <a:rPr sz="1000">
                <a:solidFill>
                  <a:srgbClr val="C9D1D9"/>
                </a:solidFill>
                <a:latin typeface="Mona Sans"/>
              </a:rPr>
              <a:t> — daily, weekly, and monthly breakdowns enable accurate adoption trend analysis</a:t>
            </a:r>
          </a:p>
          <a:p>
            <a:pPr>
              <a:spcAft>
                <a:spcPts val="200"/>
              </a:spcAft>
            </a:pPr>
            <a:r>
              <a:rPr sz="1000">
                <a:solidFill>
                  <a:srgbClr val="4493F8"/>
                </a:solidFill>
                <a:latin typeface="Mona Sans"/>
              </a:rPr>
              <a:t>•  </a:t>
            </a:r>
            <a:r>
              <a:rPr sz="1000" b="1">
                <a:solidFill>
                  <a:srgbClr val="E6EDF3"/>
                </a:solidFill>
                <a:latin typeface="Mona Sans"/>
              </a:rPr>
              <a:t>"Active always trumps passive"</a:t>
            </a:r>
            <a:r>
              <a:rPr sz="1000">
                <a:solidFill>
                  <a:srgbClr val="C9D1D9"/>
                </a:solidFill>
                <a:latin typeface="Mona Sans"/>
              </a:rPr>
              <a:t> — users counted in both categories in a period are reported only as active</a:t>
            </a:r>
          </a:p>
          <a:p>
            <a:pPr>
              <a:spcBef>
                <a:spcPts val="700"/>
              </a:spcBef>
              <a:spcAft>
                <a:spcPts val="200"/>
              </a:spcAft>
            </a:pPr>
            <a:r>
              <a:rPr sz="900" b="1">
                <a:solidFill>
                  <a:srgbClr val="4493F8"/>
                </a:solidFill>
                <a:latin typeface="Mona Sans"/>
              </a:rPr>
              <a:t>DETAILS</a:t>
            </a:r>
          </a:p>
          <a:p>
            <a:pPr>
              <a:spcAft>
                <a:spcPts val="400"/>
              </a:spcAft>
            </a:pPr>
            <a:r>
              <a:rPr sz="1000">
                <a:solidFill>
                  <a:srgbClr val="C9D1D9"/>
                </a:solidFill>
                <a:latin typeface="Mona Sans"/>
              </a:rPr>
              <a:t>Six new fields in enterprise and organization 1-day and 28-day usage metrics:</a:t>
            </a:r>
          </a:p>
        </p:txBody>
      </p:sp>
      <p:graphicFrame>
        <p:nvGraphicFramePr>
          <p:cNvPr id="6" name="Table 5"/>
          <p:cNvGraphicFramePr>
            <a:graphicFrameLocks noGrp="1"/>
          </p:cNvGraphicFramePr>
          <p:nvPr/>
        </p:nvGraphicFramePr>
        <p:xfrm>
          <a:off x="731520" y="4028440"/>
          <a:ext cx="9601200" cy="2189474"/>
        </p:xfrm>
        <a:graphic>
          <a:graphicData uri="http://schemas.openxmlformats.org/drawingml/2006/table">
            <a:tbl>
              <a:tblPr firstRow="1" bandRow="0" bandCol="0">
                <a:tableStyleId>{5C22544A-7EE6-4342-B048-85BDC9FD1C3A}</a:tableStyleId>
              </a:tblPr>
              <a:tblGrid>
                <a:gridCol w="4800600"/>
                <a:gridCol w="4800600"/>
              </a:tblGrid>
              <a:tr h="312782">
                <a:tc>
                  <a:txBody>
                    <a:bodyPr/>
                    <a:lstStyle/>
                    <a:p>
                      <a:pPr>
                        <a:defRPr sz="900" b="1">
                          <a:solidFill>
                            <a:srgbClr val="E6EDF3"/>
                          </a:solidFill>
                          <a:latin typeface="Mona Sans"/>
                        </a:defRPr>
                      </a:pPr>
                      <a:r>
                        <a:t>Field</a:t>
                      </a:r>
                    </a:p>
                  </a:txBody>
                  <a:tcPr>
                    <a:solidFill>
                      <a:srgbClr val="161B22"/>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900" b="1">
                          <a:solidFill>
                            <a:srgbClr val="E6EDF3"/>
                          </a:solidFill>
                          <a:latin typeface="Mona Sans"/>
                        </a:defRPr>
                      </a:pPr>
                      <a:r>
                        <a:t>Meaning</a:t>
                      </a:r>
                    </a:p>
                  </a:txBody>
                  <a:tcPr>
                    <a:solidFill>
                      <a:srgbClr val="161B22"/>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12782">
                <a:tc>
                  <a:txBody>
                    <a:bodyPr/>
                    <a:lstStyle/>
                    <a:p>
                      <a:pPr>
                        <a:defRPr sz="900" b="0">
                          <a:solidFill>
                            <a:srgbClr val="C9D1D9"/>
                          </a:solidFill>
                          <a:latin typeface="Mona Sans"/>
                        </a:defRPr>
                      </a:pPr>
                      <a:r>
                        <a:t>`daily_active_copilot_code_review_users`</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900" b="0">
                          <a:solidFill>
                            <a:srgbClr val="C9D1D9"/>
                          </a:solidFill>
                          <a:latin typeface="Mona Sans"/>
                        </a:defRPr>
                      </a:pPr>
                      <a:r>
                        <a:t>Users who actively engaged with code review daily</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12782">
                <a:tc>
                  <a:txBody>
                    <a:bodyPr/>
                    <a:lstStyle/>
                    <a:p>
                      <a:pPr>
                        <a:defRPr sz="900" b="0">
                          <a:solidFill>
                            <a:srgbClr val="C9D1D9"/>
                          </a:solidFill>
                          <a:latin typeface="Mona Sans"/>
                        </a:defRPr>
                      </a:pPr>
                      <a:r>
                        <a:t>`daily_passive_copilot_code_review_users`</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900" b="0">
                          <a:solidFill>
                            <a:srgbClr val="C9D1D9"/>
                          </a:solidFill>
                          <a:latin typeface="Mona Sans"/>
                        </a:defRPr>
                      </a:pPr>
                      <a:r>
                        <a:t>Policy-triggered reviews, no active engagement</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12782">
                <a:tc>
                  <a:txBody>
                    <a:bodyPr/>
                    <a:lstStyle/>
                    <a:p>
                      <a:pPr>
                        <a:defRPr sz="900" b="0">
                          <a:solidFill>
                            <a:srgbClr val="C9D1D9"/>
                          </a:solidFill>
                          <a:latin typeface="Mona Sans"/>
                        </a:defRPr>
                      </a:pPr>
                      <a:r>
                        <a:t>`weekly_active_copilot_code_review_users`</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900" b="0">
                          <a:solidFill>
                            <a:srgbClr val="C9D1D9"/>
                          </a:solidFill>
                          <a:latin typeface="Mona Sans"/>
                        </a:defRPr>
                      </a:pPr>
                      <a:r>
                        <a:t>Active engagement weekly</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12782">
                <a:tc>
                  <a:txBody>
                    <a:bodyPr/>
                    <a:lstStyle/>
                    <a:p>
                      <a:pPr>
                        <a:defRPr sz="900" b="0">
                          <a:solidFill>
                            <a:srgbClr val="C9D1D9"/>
                          </a:solidFill>
                          <a:latin typeface="Mona Sans"/>
                        </a:defRPr>
                      </a:pPr>
                      <a:r>
                        <a:t>`weekly_passive_copilot_code_review_users`</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900" b="0">
                          <a:solidFill>
                            <a:srgbClr val="C9D1D9"/>
                          </a:solidFill>
                          <a:latin typeface="Mona Sans"/>
                        </a:defRPr>
                      </a:pPr>
                      <a:r>
                        <a:t>Passive policy-triggered weekly</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12782">
                <a:tc>
                  <a:txBody>
                    <a:bodyPr/>
                    <a:lstStyle/>
                    <a:p>
                      <a:pPr>
                        <a:defRPr sz="900" b="0">
                          <a:solidFill>
                            <a:srgbClr val="C9D1D9"/>
                          </a:solidFill>
                          <a:latin typeface="Mona Sans"/>
                        </a:defRPr>
                      </a:pPr>
                      <a:r>
                        <a:t>`monthly_active_copilot_code_review_users`</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900" b="0">
                          <a:solidFill>
                            <a:srgbClr val="C9D1D9"/>
                          </a:solidFill>
                          <a:latin typeface="Mona Sans"/>
                        </a:defRPr>
                      </a:pPr>
                      <a:r>
                        <a:t>Active engagement monthly</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12782">
                <a:tc>
                  <a:txBody>
                    <a:bodyPr/>
                    <a:lstStyle/>
                    <a:p>
                      <a:pPr>
                        <a:defRPr sz="900" b="0">
                          <a:solidFill>
                            <a:srgbClr val="C9D1D9"/>
                          </a:solidFill>
                          <a:latin typeface="Mona Sans"/>
                        </a:defRPr>
                      </a:pPr>
                      <a:r>
                        <a:t>`monthly_passive_copilot_code_review_users`</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900" b="0">
                          <a:solidFill>
                            <a:srgbClr val="C9D1D9"/>
                          </a:solidFill>
                          <a:latin typeface="Mona Sans"/>
                        </a:defRPr>
                      </a:pPr>
                      <a:r>
                        <a:t>Passive policy-triggered monthly</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bl>
          </a:graphicData>
        </a:graphic>
      </p:graphicFrame>
      <p:sp>
        <p:nvSpPr>
          <p:cNvPr id="7" name="TextBox 6"/>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https://github.blog/changelog/2026-04-22-copilot-code-review-user-counts-now-aggregate-in-usage-metrics-api/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2026-04-22</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GitHub Copilot for Jira: Our latest enhancements</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GitHub Copilot for Jira: Our latest enhancements</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2026-04-22</a:t>
            </a:r>
          </a:p>
        </p:txBody>
      </p:sp>
      <p:sp>
        <p:nvSpPr>
          <p:cNvPr id="5" name="TextBox 4"/>
          <p:cNvSpPr txBox="1"/>
          <p:nvPr/>
        </p:nvSpPr>
        <p:spPr>
          <a:xfrm>
            <a:off x="731520" y="1005840"/>
            <a:ext cx="10515600" cy="4711700"/>
          </a:xfrm>
          <a:prstGeom prst="rect">
            <a:avLst/>
          </a:prstGeom>
          <a:noFill/>
        </p:spPr>
        <p:txBody>
          <a:bodyPr wrap="square">
            <a:spAutoFit/>
          </a:bodyPr>
          <a:lstStyle/>
          <a:p>
            <a:pPr>
              <a:spcBef>
                <a:spcPts val="500"/>
              </a:spcBef>
              <a:spcAft>
                <a:spcPts val="300"/>
              </a:spcAft>
            </a:pPr>
            <a:r>
              <a:rPr sz="1300" b="1">
                <a:solidFill>
                  <a:srgbClr val="E6EDF3"/>
                </a:solidFill>
                <a:latin typeface="Mona Sans"/>
              </a:rPr>
              <a:t>What changed</a:t>
            </a:r>
          </a:p>
          <a:p>
            <a:pPr>
              <a:spcAft>
                <a:spcPts val="500"/>
              </a:spcAft>
            </a:pPr>
            <a:r>
              <a:rPr sz="1000" b="1">
                <a:solidFill>
                  <a:srgbClr val="E6EDF3"/>
                </a:solidFill>
                <a:latin typeface="Mona Sans"/>
              </a:rPr>
              <a:t>GitHub Copilot for Jira</a:t>
            </a:r>
            <a:r>
              <a:rPr sz="1000">
                <a:solidFill>
                  <a:srgbClr val="C9D1D9"/>
                </a:solidFill>
                <a:latin typeface="Mona Sans"/>
              </a:rPr>
              <a:t> receives five new capabilities that deepen integration between Jira workflows and the Copilot cloud agent, moving it from a simple triage assistant to a fully configurable, policy-aware coding agent.</a:t>
            </a:r>
          </a:p>
          <a:p>
            <a:pPr>
              <a:spcBef>
                <a:spcPts val="900"/>
              </a:spcBef>
              <a:spcAft>
                <a:spcPts val="200"/>
              </a:spcAft>
            </a:pPr>
            <a:r>
              <a:rPr sz="900" b="1">
                <a:solidFill>
                  <a:srgbClr val="4493F8"/>
                </a:solidFill>
                <a:latin typeface="Mona Sans"/>
              </a:rPr>
              <a:t>WHY IT MATTERS</a:t>
            </a:r>
          </a:p>
          <a:p>
            <a:pPr>
              <a:spcAft>
                <a:spcPts val="200"/>
              </a:spcAft>
            </a:pPr>
            <a:r>
              <a:rPr sz="1000">
                <a:solidFill>
                  <a:srgbClr val="4493F8"/>
                </a:solidFill>
                <a:latin typeface="Mona Sans"/>
              </a:rPr>
              <a:t>•  </a:t>
            </a:r>
            <a:r>
              <a:rPr sz="1000" b="1">
                <a:solidFill>
                  <a:srgbClr val="E6EDF3"/>
                </a:solidFill>
                <a:latin typeface="Mona Sans"/>
              </a:rPr>
              <a:t>Custom agents</a:t>
            </a:r>
            <a:r>
              <a:rPr sz="1000">
                <a:solidFill>
                  <a:srgbClr val="C9D1D9"/>
                </a:solidFill>
                <a:latin typeface="Mona Sans"/>
              </a:rPr>
              <a:t> — specify a custom Copilot cloud agent from your GitHub repository directly within a Jira ticket</a:t>
            </a:r>
          </a:p>
          <a:p>
            <a:pPr>
              <a:spcAft>
                <a:spcPts val="200"/>
              </a:spcAft>
            </a:pPr>
            <a:r>
              <a:rPr sz="1000">
                <a:solidFill>
                  <a:srgbClr val="4493F8"/>
                </a:solidFill>
                <a:latin typeface="Mona Sans"/>
              </a:rPr>
              <a:t>•  </a:t>
            </a:r>
            <a:r>
              <a:rPr sz="1000" b="1">
                <a:solidFill>
                  <a:srgbClr val="E6EDF3"/>
                </a:solidFill>
                <a:latin typeface="Mona Sans"/>
              </a:rPr>
              <a:t>Custom fields</a:t>
            </a:r>
            <a:r>
              <a:rPr sz="1000">
                <a:solidFill>
                  <a:srgbClr val="C9D1D9"/>
                </a:solidFill>
                <a:latin typeface="Mona Sans"/>
              </a:rPr>
              <a:t> — Copilot reads Atlassian custom fields (e.g., "acceptance criteria") for more accurate, context-aware implementations</a:t>
            </a:r>
          </a:p>
          <a:p>
            <a:pPr>
              <a:spcAft>
                <a:spcPts val="200"/>
              </a:spcAft>
            </a:pPr>
            <a:r>
              <a:rPr sz="1000">
                <a:solidFill>
                  <a:srgbClr val="4493F8"/>
                </a:solidFill>
                <a:latin typeface="Mona Sans"/>
              </a:rPr>
              <a:t>•  </a:t>
            </a:r>
            <a:r>
              <a:rPr sz="1000" b="1">
                <a:solidFill>
                  <a:srgbClr val="E6EDF3"/>
                </a:solidFill>
                <a:latin typeface="Mona Sans"/>
              </a:rPr>
              <a:t>Branching rules</a:t>
            </a:r>
            <a:r>
              <a:rPr sz="1000">
                <a:solidFill>
                  <a:srgbClr val="C9D1D9"/>
                </a:solidFill>
                <a:latin typeface="Mona Sans"/>
              </a:rPr>
              <a:t> — the cloud agent respects branch naming conventions specified in the Jira ticket when creating PRs</a:t>
            </a:r>
          </a:p>
          <a:p>
            <a:pPr>
              <a:spcAft>
                <a:spcPts val="200"/>
              </a:spcAft>
            </a:pPr>
            <a:r>
              <a:rPr sz="1000">
                <a:solidFill>
                  <a:srgbClr val="4493F8"/>
                </a:solidFill>
                <a:latin typeface="Mona Sans"/>
              </a:rPr>
              <a:t>•  </a:t>
            </a:r>
            <a:r>
              <a:rPr sz="1000" b="1">
                <a:solidFill>
                  <a:srgbClr val="E6EDF3"/>
                </a:solidFill>
                <a:latin typeface="Mona Sans"/>
              </a:rPr>
              <a:t>Space-level instructions</a:t>
            </a:r>
            <a:r>
              <a:rPr sz="1000">
                <a:solidFill>
                  <a:srgbClr val="C9D1D9"/>
                </a:solidFill>
                <a:latin typeface="Mona Sans"/>
              </a:rPr>
              <a:t> — define global default instructions at the Atlassian space level to reduce repetitive configuration</a:t>
            </a:r>
          </a:p>
          <a:p>
            <a:pPr>
              <a:spcAft>
                <a:spcPts val="200"/>
              </a:spcAft>
            </a:pPr>
            <a:r>
              <a:rPr sz="1000">
                <a:solidFill>
                  <a:srgbClr val="4493F8"/>
                </a:solidFill>
                <a:latin typeface="Mona Sans"/>
              </a:rPr>
              <a:t>•  </a:t>
            </a:r>
            <a:r>
              <a:rPr sz="1000" b="1">
                <a:solidFill>
                  <a:srgbClr val="E6EDF3"/>
                </a:solidFill>
                <a:latin typeface="Mona Sans"/>
              </a:rPr>
              <a:t>Review notifications</a:t>
            </a:r>
            <a:r>
              <a:rPr sz="1000">
                <a:solidFill>
                  <a:srgbClr val="C9D1D9"/>
                </a:solidFill>
                <a:latin typeface="Mona Sans"/>
              </a:rPr>
              <a:t> — Copilot posts a Jira comment when it opens a draft PR requesting review</a:t>
            </a:r>
          </a:p>
          <a:p>
            <a:pPr>
              <a:spcBef>
                <a:spcPts val="900"/>
              </a:spcBef>
              <a:spcAft>
                <a:spcPts val="200"/>
              </a:spcAft>
            </a:pPr>
            <a:r>
              <a:rPr sz="900" b="1">
                <a:solidFill>
                  <a:srgbClr val="4493F8"/>
                </a:solidFill>
                <a:latin typeface="Mona Sans"/>
              </a:rPr>
              <a:t>HOW TO GET STARTED</a:t>
            </a:r>
          </a:p>
          <a:p>
            <a:pPr>
              <a:spcAft>
                <a:spcPts val="200"/>
              </a:spcAft>
            </a:pPr>
            <a:r>
              <a:rPr sz="1000">
                <a:solidFill>
                  <a:srgbClr val="4493F8"/>
                </a:solidFill>
                <a:latin typeface="Mona Sans"/>
              </a:rPr>
              <a:t>•  </a:t>
            </a:r>
            <a:r>
              <a:rPr sz="1000">
                <a:solidFill>
                  <a:srgbClr val="C9D1D9"/>
                </a:solidFill>
                <a:latin typeface="Mona Sans"/>
              </a:rPr>
              <a:t>Update to the latest </a:t>
            </a:r>
            <a:r>
              <a:rPr sz="1000" b="1">
                <a:solidFill>
                  <a:srgbClr val="E6EDF3"/>
                </a:solidFill>
                <a:latin typeface="Mona Sans"/>
              </a:rPr>
              <a:t>GitHub Copilot for Jira</a:t>
            </a:r>
            <a:r>
              <a:rPr sz="1000">
                <a:solidFill>
                  <a:srgbClr val="C9D1D9"/>
                </a:solidFill>
                <a:latin typeface="Mona Sans"/>
              </a:rPr>
              <a:t> app in your Atlassian Marketplace instance</a:t>
            </a:r>
          </a:p>
          <a:p>
            <a:pPr>
              <a:spcAft>
                <a:spcPts val="200"/>
              </a:spcAft>
            </a:pPr>
            <a:r>
              <a:rPr sz="1000">
                <a:solidFill>
                  <a:srgbClr val="4493F8"/>
                </a:solidFill>
                <a:latin typeface="Mona Sans"/>
              </a:rPr>
              <a:t>•  </a:t>
            </a:r>
            <a:r>
              <a:rPr sz="1000">
                <a:solidFill>
                  <a:srgbClr val="C9D1D9"/>
                </a:solidFill>
                <a:latin typeface="Mona Sans"/>
              </a:rPr>
              <a:t>Configure a custom agent by linking a GitHub repository in your Jira project settings</a:t>
            </a:r>
          </a:p>
          <a:p>
            <a:pPr>
              <a:spcAft>
                <a:spcPts val="200"/>
              </a:spcAft>
            </a:pPr>
            <a:r>
              <a:rPr sz="1000">
                <a:solidFill>
                  <a:srgbClr val="4493F8"/>
                </a:solidFill>
                <a:latin typeface="Mona Sans"/>
              </a:rPr>
              <a:t>•  </a:t>
            </a:r>
            <a:r>
              <a:rPr sz="1000">
                <a:solidFill>
                  <a:srgbClr val="C9D1D9"/>
                </a:solidFill>
                <a:latin typeface="Mona Sans"/>
              </a:rPr>
              <a:t>Add global instructions at the Atlassian space level for default session behavior</a:t>
            </a:r>
          </a:p>
          <a:p>
            <a:pPr>
              <a:spcAft>
                <a:spcPts val="200"/>
              </a:spcAft>
            </a:pPr>
            <a:r>
              <a:rPr sz="1000">
                <a:solidFill>
                  <a:srgbClr val="4493F8"/>
                </a:solidFill>
                <a:latin typeface="Mona Sans"/>
              </a:rPr>
              <a:t>•  </a:t>
            </a:r>
            <a:r>
              <a:rPr sz="1000">
                <a:solidFill>
                  <a:srgbClr val="C9D1D9"/>
                </a:solidFill>
                <a:latin typeface="Mona Sans"/>
              </a:rPr>
              <a:t>Optionally add custom fields (e.g., acceptance criteria) to your Jira issue types for richer agent context</a:t>
            </a:r>
          </a:p>
          <a:p>
            <a:pPr>
              <a:spcBef>
                <a:spcPts val="900"/>
              </a:spcBef>
              <a:spcAft>
                <a:spcPts val="200"/>
              </a:spcAft>
            </a:pPr>
            <a:r>
              <a:rPr sz="900" b="1">
                <a:solidFill>
                  <a:srgbClr val="4493F8"/>
                </a:solidFill>
                <a:latin typeface="Mona Sans"/>
              </a:rPr>
              <a:t>WHO GETS IT</a:t>
            </a:r>
          </a:p>
          <a:p>
            <a:pPr>
              <a:spcAft>
                <a:spcPts val="200"/>
              </a:spcAft>
            </a:pPr>
            <a:r>
              <a:rPr sz="1000">
                <a:solidFill>
                  <a:srgbClr val="4493F8"/>
                </a:solidFill>
                <a:latin typeface="Mona Sans"/>
              </a:rPr>
              <a:t>•  </a:t>
            </a:r>
            <a:r>
              <a:rPr sz="1000" b="1">
                <a:solidFill>
                  <a:srgbClr val="E6EDF3"/>
                </a:solidFill>
                <a:latin typeface="Mona Sans"/>
              </a:rPr>
              <a:t>Copilot Business and Enterprise</a:t>
            </a:r>
            <a:r>
              <a:rPr sz="1000">
                <a:solidFill>
                  <a:srgbClr val="C9D1D9"/>
                </a:solidFill>
                <a:latin typeface="Mona Sans"/>
              </a:rPr>
              <a:t> users with the GitHub Copilot for Jira app installed</a:t>
            </a:r>
          </a:p>
          <a:p>
            <a:pPr>
              <a:spcAft>
                <a:spcPts val="200"/>
              </a:spcAft>
            </a:pPr>
            <a:r>
              <a:rPr sz="1000">
                <a:solidFill>
                  <a:srgbClr val="4493F8"/>
                </a:solidFill>
                <a:latin typeface="Mona Sans"/>
              </a:rPr>
              <a:t>•  </a:t>
            </a:r>
            <a:r>
              <a:rPr sz="1000" b="1">
                <a:solidFill>
                  <a:srgbClr val="E6EDF3"/>
                </a:solidFill>
                <a:latin typeface="Mona Sans"/>
              </a:rPr>
              <a:t>Available now</a:t>
            </a:r>
            <a:r>
              <a:rPr sz="1000">
                <a:solidFill>
                  <a:srgbClr val="C9D1D9"/>
                </a:solidFill>
                <a:latin typeface="Mona Sans"/>
              </a:rPr>
              <a:t> — update the Atlassian Marketplace app to unlock all new features</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https://github.blog/changelog/2026-04-22-github-copilot-for-jira-our-latest-enhancements/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2026-04-22</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Upcoming change to Copilot usage metrics report download URLs</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Upcoming change to Copilot usage metrics report download URLs</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2026-04-22</a:t>
            </a:r>
          </a:p>
        </p:txBody>
      </p:sp>
      <p:sp>
        <p:nvSpPr>
          <p:cNvPr id="5" name="TextBox 4"/>
          <p:cNvSpPr txBox="1"/>
          <p:nvPr/>
        </p:nvSpPr>
        <p:spPr>
          <a:xfrm>
            <a:off x="731520" y="1005840"/>
            <a:ext cx="10515600" cy="2743200"/>
          </a:xfrm>
          <a:prstGeom prst="rect">
            <a:avLst/>
          </a:prstGeom>
          <a:noFill/>
        </p:spPr>
        <p:txBody>
          <a:bodyPr wrap="square">
            <a:spAutoFit/>
          </a:bodyPr>
          <a:lstStyle/>
          <a:p>
            <a:pPr>
              <a:spcBef>
                <a:spcPts val="500"/>
              </a:spcBef>
              <a:spcAft>
                <a:spcPts val="400"/>
              </a:spcAft>
            </a:pPr>
            <a:r>
              <a:rPr sz="1400" b="1">
                <a:solidFill>
                  <a:srgbClr val="E6EDF3"/>
                </a:solidFill>
                <a:latin typeface="Mona Sans"/>
              </a:rPr>
              <a:t>What changed</a:t>
            </a:r>
          </a:p>
          <a:p>
            <a:pPr>
              <a:spcAft>
                <a:spcPts val="500"/>
              </a:spcAft>
            </a:pPr>
            <a:r>
              <a:rPr sz="1100" b="1">
                <a:solidFill>
                  <a:srgbClr val="E6EDF3"/>
                </a:solidFill>
                <a:latin typeface="Mona Sans"/>
              </a:rPr>
              <a:t>Copilot usage metrics report download URLs</a:t>
            </a:r>
            <a:r>
              <a:rPr sz="1100">
                <a:solidFill>
                  <a:srgbClr val="C9D1D9"/>
                </a:solidFill>
                <a:latin typeface="Mona Sans"/>
              </a:rPr>
              <a:t> are migrating from Azure Front Door domains to stable, GitHub-owned domains on </a:t>
            </a:r>
            <a:r>
              <a:rPr sz="1100" b="1">
                <a:solidFill>
                  <a:srgbClr val="E6EDF3"/>
                </a:solidFill>
                <a:latin typeface="Mona Sans"/>
              </a:rPr>
              <a:t>May 20, 2026</a:t>
            </a:r>
            <a:r>
              <a:rPr sz="1100">
                <a:solidFill>
                  <a:srgbClr val="C9D1D9"/>
                </a:solidFill>
                <a:latin typeface="Mona Sans"/>
              </a:rPr>
              <a:t>, simplifying firewall and proxy allowlist management for enterprises.</a:t>
            </a:r>
          </a:p>
          <a:p>
            <a:pPr>
              <a:spcBef>
                <a:spcPts val="1000"/>
              </a:spcBef>
              <a:spcAft>
                <a:spcPts val="200"/>
              </a:spcAft>
            </a:pPr>
            <a:r>
              <a:rPr sz="900" b="1">
                <a:solidFill>
                  <a:srgbClr val="4493F8"/>
                </a:solidFill>
                <a:latin typeface="Mona Sans"/>
              </a:rPr>
              <a:t>WHY IT MATTERS</a:t>
            </a:r>
          </a:p>
          <a:p>
            <a:pPr>
              <a:spcAft>
                <a:spcPts val="200"/>
              </a:spcAft>
            </a:pPr>
            <a:r>
              <a:rPr sz="1100">
                <a:solidFill>
                  <a:srgbClr val="4493F8"/>
                </a:solidFill>
                <a:latin typeface="Mona Sans"/>
              </a:rPr>
              <a:t>•  </a:t>
            </a:r>
            <a:r>
              <a:rPr sz="1100" b="1">
                <a:solidFill>
                  <a:srgbClr val="E6EDF3"/>
                </a:solidFill>
                <a:latin typeface="Mona Sans"/>
              </a:rPr>
              <a:t>Stable, predictable URLs</a:t>
            </a:r>
            <a:r>
              <a:rPr sz="1100">
                <a:solidFill>
                  <a:srgbClr val="C9D1D9"/>
                </a:solidFill>
                <a:latin typeface="Mona Sans"/>
              </a:rPr>
              <a:t> — GitHub-owned domains won't change during infrastructure redeployments</a:t>
            </a:r>
          </a:p>
          <a:p>
            <a:pPr>
              <a:spcAft>
                <a:spcPts val="200"/>
              </a:spcAft>
            </a:pPr>
            <a:r>
              <a:rPr sz="1100">
                <a:solidFill>
                  <a:srgbClr val="4493F8"/>
                </a:solidFill>
                <a:latin typeface="Mona Sans"/>
              </a:rPr>
              <a:t>•  </a:t>
            </a:r>
            <a:r>
              <a:rPr sz="1100" b="1">
                <a:solidFill>
                  <a:srgbClr val="E6EDF3"/>
                </a:solidFill>
                <a:latin typeface="Mona Sans"/>
              </a:rPr>
              <a:t>Simpler allowlisting</a:t>
            </a:r>
            <a:r>
              <a:rPr sz="1100">
                <a:solidFill>
                  <a:srgbClr val="C9D1D9"/>
                </a:solidFill>
                <a:latin typeface="Mona Sans"/>
              </a:rPr>
              <a:t> — one stable hostname replaces volatile Azure Front Door URLs</a:t>
            </a:r>
          </a:p>
          <a:p>
            <a:pPr>
              <a:spcAft>
                <a:spcPts val="200"/>
              </a:spcAft>
            </a:pPr>
            <a:r>
              <a:rPr sz="1100">
                <a:solidFill>
                  <a:srgbClr val="4493F8"/>
                </a:solidFill>
                <a:latin typeface="Mona Sans"/>
              </a:rPr>
              <a:t>•  </a:t>
            </a:r>
            <a:r>
              <a:rPr sz="1100" b="1">
                <a:solidFill>
                  <a:srgbClr val="E6EDF3"/>
                </a:solidFill>
                <a:latin typeface="Mona Sans"/>
              </a:rPr>
              <a:t>Uninterrupted access</a:t>
            </a:r>
            <a:r>
              <a:rPr sz="1100">
                <a:solidFill>
                  <a:srgbClr val="C9D1D9"/>
                </a:solidFill>
                <a:latin typeface="Mona Sans"/>
              </a:rPr>
              <a:t> — updating allowlists before May 20 prevents download disruptions</a:t>
            </a:r>
          </a:p>
          <a:p>
            <a:pPr>
              <a:spcAft>
                <a:spcPts val="200"/>
              </a:spcAft>
            </a:pPr>
            <a:r>
              <a:rPr sz="1100">
                <a:solidFill>
                  <a:srgbClr val="4493F8"/>
                </a:solidFill>
                <a:latin typeface="Mona Sans"/>
              </a:rPr>
              <a:t>•  </a:t>
            </a:r>
            <a:r>
              <a:rPr sz="1100" b="1">
                <a:solidFill>
                  <a:srgbClr val="E6EDF3"/>
                </a:solidFill>
                <a:latin typeface="Mona Sans"/>
              </a:rPr>
              <a:t>Fallback coverage</a:t>
            </a:r>
            <a:r>
              <a:rPr sz="1100">
                <a:solidFill>
                  <a:srgbClr val="C9D1D9"/>
                </a:solidFill>
                <a:latin typeface="Mona Sans"/>
              </a:rPr>
              <a:t> — add `*.blob.core.windows.net` if uninterrupted access through Azure Front Door outages is critical</a:t>
            </a:r>
          </a:p>
          <a:p>
            <a:pPr>
              <a:spcBef>
                <a:spcPts val="1000"/>
              </a:spcBef>
              <a:spcAft>
                <a:spcPts val="200"/>
              </a:spcAft>
            </a:pPr>
            <a:r>
              <a:rPr sz="900" b="1">
                <a:solidFill>
                  <a:srgbClr val="4493F8"/>
                </a:solidFill>
                <a:latin typeface="Mona Sans"/>
              </a:rPr>
              <a:t>DETAILS</a:t>
            </a:r>
          </a:p>
        </p:txBody>
      </p:sp>
      <p:graphicFrame>
        <p:nvGraphicFramePr>
          <p:cNvPr id="6" name="Table 5"/>
          <p:cNvGraphicFramePr>
            <a:graphicFrameLocks noGrp="1"/>
          </p:cNvGraphicFramePr>
          <p:nvPr/>
        </p:nvGraphicFramePr>
        <p:xfrm>
          <a:off x="731520" y="3850640"/>
          <a:ext cx="9601200" cy="1042416"/>
        </p:xfrm>
        <a:graphic>
          <a:graphicData uri="http://schemas.openxmlformats.org/drawingml/2006/table">
            <a:tbl>
              <a:tblPr firstRow="1" bandRow="0" bandCol="0">
                <a:tableStyleId>{5C22544A-7EE6-4342-B048-85BDC9FD1C3A}</a:tableStyleId>
              </a:tblPr>
              <a:tblGrid>
                <a:gridCol w="3200400"/>
                <a:gridCol w="3200400"/>
                <a:gridCol w="3200400"/>
              </a:tblGrid>
              <a:tr h="347472">
                <a:tc>
                  <a:txBody>
                    <a:bodyPr/>
                    <a:lstStyle/>
                    <a:p>
                      <a:pPr>
                        <a:defRPr sz="1000" b="1">
                          <a:solidFill>
                            <a:srgbClr val="E6EDF3"/>
                          </a:solidFill>
                          <a:latin typeface="Mona Sans"/>
                        </a:defRPr>
                      </a:pPr>
                      <a:r>
                        <a:t>Customer type</a:t>
                      </a:r>
                    </a:p>
                  </a:txBody>
                  <a:tcPr>
                    <a:solidFill>
                      <a:srgbClr val="161B22"/>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1000" b="1">
                          <a:solidFill>
                            <a:srgbClr val="E6EDF3"/>
                          </a:solidFill>
                          <a:latin typeface="Mona Sans"/>
                        </a:defRPr>
                      </a:pPr>
                      <a:r>
                        <a:t>Old domain pattern</a:t>
                      </a:r>
                    </a:p>
                  </a:txBody>
                  <a:tcPr>
                    <a:solidFill>
                      <a:srgbClr val="161B22"/>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1000" b="1">
                          <a:solidFill>
                            <a:srgbClr val="E6EDF3"/>
                          </a:solidFill>
                          <a:latin typeface="Mona Sans"/>
                        </a:defRPr>
                      </a:pPr>
                      <a:r>
                        <a:t>New domain pattern</a:t>
                      </a:r>
                    </a:p>
                  </a:txBody>
                  <a:tcPr>
                    <a:solidFill>
                      <a:srgbClr val="161B22"/>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47472">
                <a:tc>
                  <a:txBody>
                    <a:bodyPr/>
                    <a:lstStyle/>
                    <a:p>
                      <a:pPr>
                        <a:defRPr sz="1000" b="0">
                          <a:solidFill>
                            <a:srgbClr val="C9D1D9"/>
                          </a:solidFill>
                          <a:latin typeface="Mona Sans"/>
                        </a:defRPr>
                      </a:pPr>
                      <a:r>
                        <a:t>github.com (GHEC)</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1000" b="0">
                          <a:solidFill>
                            <a:srgbClr val="C9D1D9"/>
                          </a:solidFill>
                          <a:latin typeface="Mona Sans"/>
                        </a:defRPr>
                      </a:pPr>
                      <a:r>
                        <a:t>`copilot-reports-*.b01.azurefd.net`</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1000" b="0">
                          <a:solidFill>
                            <a:srgbClr val="C9D1D9"/>
                          </a:solidFill>
                          <a:latin typeface="Mona Sans"/>
                        </a:defRPr>
                      </a:pPr>
                      <a:r>
                        <a:t>`copilot-reports.github.com`</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47472">
                <a:tc>
                  <a:txBody>
                    <a:bodyPr/>
                    <a:lstStyle/>
                    <a:p>
                      <a:pPr>
                        <a:defRPr sz="1000" b="0">
                          <a:solidFill>
                            <a:srgbClr val="C9D1D9"/>
                          </a:solidFill>
                          <a:latin typeface="Mona Sans"/>
                        </a:defRPr>
                      </a:pPr>
                      <a:r>
                        <a:t>ghe.com</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1000" b="0">
                          <a:solidFill>
                            <a:srgbClr val="C9D1D9"/>
                          </a:solidFill>
                          <a:latin typeface="Mona Sans"/>
                        </a:defRPr>
                      </a:pPr>
                      <a:r>
                        <a:t>`copilot-reports-*.b01.azurefd.net`</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1000" b="0">
                          <a:solidFill>
                            <a:srgbClr val="C9D1D9"/>
                          </a:solidFill>
                          <a:latin typeface="Mona Sans"/>
                        </a:defRPr>
                      </a:pPr>
                      <a:r>
                        <a:t>`copilot-reports.*.ghe.com`</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bl>
          </a:graphicData>
        </a:graphic>
      </p:graphicFrame>
      <p:sp>
        <p:nvSpPr>
          <p:cNvPr id="7" name="TextBox 6"/>
          <p:cNvSpPr txBox="1"/>
          <p:nvPr/>
        </p:nvSpPr>
        <p:spPr>
          <a:xfrm>
            <a:off x="731520" y="5045456"/>
            <a:ext cx="10515600" cy="825500"/>
          </a:xfrm>
          <a:prstGeom prst="rect">
            <a:avLst/>
          </a:prstGeom>
          <a:noFill/>
        </p:spPr>
        <p:txBody>
          <a:bodyPr wrap="square">
            <a:spAutoFit/>
          </a:bodyPr>
          <a:lstStyle/>
          <a:p>
            <a:pPr>
              <a:spcBef>
                <a:spcPts val="1000"/>
              </a:spcBef>
              <a:spcAft>
                <a:spcPts val="200"/>
              </a:spcAft>
            </a:pPr>
            <a:r>
              <a:rPr sz="900" b="1">
                <a:solidFill>
                  <a:srgbClr val="4493F8"/>
                </a:solidFill>
                <a:latin typeface="Mona Sans"/>
              </a:rPr>
              <a:t>WHO GETS IT</a:t>
            </a:r>
          </a:p>
          <a:p>
            <a:pPr>
              <a:spcAft>
                <a:spcPts val="200"/>
              </a:spcAft>
            </a:pPr>
            <a:r>
              <a:rPr sz="1100">
                <a:solidFill>
                  <a:srgbClr val="4493F8"/>
                </a:solidFill>
                <a:latin typeface="Mona Sans"/>
              </a:rPr>
              <a:t>•  </a:t>
            </a:r>
            <a:r>
              <a:rPr sz="1100" b="1">
                <a:solidFill>
                  <a:srgbClr val="E6EDF3"/>
                </a:solidFill>
                <a:latin typeface="Mona Sans"/>
              </a:rPr>
              <a:t>All enterprise customers using Copilot usage metrics reports</a:t>
            </a:r>
            <a:r>
              <a:rPr sz="1100">
                <a:solidFill>
                  <a:srgbClr val="C9D1D9"/>
                </a:solidFill>
                <a:latin typeface="Mona Sans"/>
              </a:rPr>
              <a:t> — action required before May 20, 2026</a:t>
            </a:r>
          </a:p>
          <a:p>
            <a:pPr>
              <a:spcAft>
                <a:spcPts val="200"/>
              </a:spcAft>
            </a:pPr>
            <a:r>
              <a:rPr sz="1100">
                <a:solidFill>
                  <a:srgbClr val="4493F8"/>
                </a:solidFill>
                <a:latin typeface="Mona Sans"/>
              </a:rPr>
              <a:t>•  </a:t>
            </a:r>
            <a:r>
              <a:rPr sz="1100" b="1">
                <a:solidFill>
                  <a:srgbClr val="E6EDF3"/>
                </a:solidFill>
                <a:latin typeface="Mona Sans"/>
              </a:rPr>
              <a:t>Action needed</a:t>
            </a:r>
            <a:r>
              <a:rPr sz="1100">
                <a:solidFill>
                  <a:srgbClr val="C9D1D9"/>
                </a:solidFill>
                <a:latin typeface="Mona Sans"/>
              </a:rPr>
              <a:t> — add the new domain(s) to your firewall/proxy allowlist now</a:t>
            </a:r>
          </a:p>
        </p:txBody>
      </p:sp>
      <p:sp>
        <p:nvSpPr>
          <p:cNvPr id="8" name="TextBox 7"/>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https://github.blog/changelog/2026-04-22-upcoming-change-to-copilot-usage-metrics-report-download-urls/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2026-04-23</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Better debugging with GitHub Copilot on the web</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Better debugging with GitHub Copilot on the web</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2026-04-23</a:t>
            </a:r>
          </a:p>
        </p:txBody>
      </p:sp>
      <p:sp>
        <p:nvSpPr>
          <p:cNvPr id="5" name="TextBox 4"/>
          <p:cNvSpPr txBox="1"/>
          <p:nvPr/>
        </p:nvSpPr>
        <p:spPr>
          <a:xfrm>
            <a:off x="731520" y="1005840"/>
            <a:ext cx="10515600" cy="4521200"/>
          </a:xfrm>
          <a:prstGeom prst="rect">
            <a:avLst/>
          </a:prstGeom>
          <a:noFill/>
        </p:spPr>
        <p:txBody>
          <a:bodyPr wrap="square">
            <a:spAutoFit/>
          </a:bodyPr>
          <a:lstStyle/>
          <a:p>
            <a:pPr>
              <a:spcBef>
                <a:spcPts val="500"/>
              </a:spcBef>
              <a:spcAft>
                <a:spcPts val="400"/>
              </a:spcAft>
            </a:pPr>
            <a:r>
              <a:rPr sz="1400" b="1">
                <a:solidFill>
                  <a:srgbClr val="E6EDF3"/>
                </a:solidFill>
                <a:latin typeface="Mona Sans"/>
              </a:rPr>
              <a:t>What changed</a:t>
            </a:r>
          </a:p>
          <a:p>
            <a:pPr>
              <a:spcAft>
                <a:spcPts val="500"/>
              </a:spcAft>
            </a:pPr>
            <a:r>
              <a:rPr sz="1100" b="1">
                <a:solidFill>
                  <a:srgbClr val="E6EDF3"/>
                </a:solidFill>
                <a:latin typeface="Mona Sans"/>
              </a:rPr>
              <a:t>Copilot Chat on github.com</a:t>
            </a:r>
            <a:r>
              <a:rPr sz="1100">
                <a:solidFill>
                  <a:srgbClr val="C9D1D9"/>
                </a:solidFill>
                <a:latin typeface="Mona Sans"/>
              </a:rPr>
              <a:t> now delivers </a:t>
            </a:r>
            <a:r>
              <a:rPr sz="1100" b="1">
                <a:solidFill>
                  <a:srgbClr val="E6EDF3"/>
                </a:solidFill>
                <a:latin typeface="Mona Sans"/>
              </a:rPr>
              <a:t>structured, root-cause-first debugging responses</a:t>
            </a:r>
            <a:r>
              <a:rPr sz="1100">
                <a:solidFill>
                  <a:srgbClr val="C9D1D9"/>
                </a:solidFill>
                <a:latin typeface="Mona Sans"/>
              </a:rPr>
              <a:t> when you paste a stack trace, moving from generic answers to a step-by-step diagnostic analysis.</a:t>
            </a:r>
          </a:p>
          <a:p>
            <a:pPr>
              <a:spcBef>
                <a:spcPts val="1000"/>
              </a:spcBef>
              <a:spcAft>
                <a:spcPts val="200"/>
              </a:spcAft>
            </a:pPr>
            <a:r>
              <a:rPr sz="900" b="1">
                <a:solidFill>
                  <a:srgbClr val="4493F8"/>
                </a:solidFill>
                <a:latin typeface="Mona Sans"/>
              </a:rPr>
              <a:t>WHY IT MATTERS</a:t>
            </a:r>
          </a:p>
          <a:p>
            <a:pPr>
              <a:spcAft>
                <a:spcPts val="200"/>
              </a:spcAft>
            </a:pPr>
            <a:r>
              <a:rPr sz="1100">
                <a:solidFill>
                  <a:srgbClr val="4493F8"/>
                </a:solidFill>
                <a:latin typeface="Mona Sans"/>
              </a:rPr>
              <a:t>•  </a:t>
            </a:r>
            <a:r>
              <a:rPr sz="1100" b="1">
                <a:solidFill>
                  <a:srgbClr val="E6EDF3"/>
                </a:solidFill>
                <a:latin typeface="Mona Sans"/>
              </a:rPr>
              <a:t>Structured analysis</a:t>
            </a:r>
            <a:r>
              <a:rPr sz="1100">
                <a:solidFill>
                  <a:srgbClr val="C9D1D9"/>
                </a:solidFill>
                <a:latin typeface="Mona Sans"/>
              </a:rPr>
              <a:t> — every stack trace response includes: what failed and where, why it failed, most likely root cause, supporting evidence from your codebase, confidence level, and next steps</a:t>
            </a:r>
          </a:p>
          <a:p>
            <a:pPr>
              <a:spcAft>
                <a:spcPts val="200"/>
              </a:spcAft>
            </a:pPr>
            <a:r>
              <a:rPr sz="1100">
                <a:solidFill>
                  <a:srgbClr val="4493F8"/>
                </a:solidFill>
                <a:latin typeface="Mona Sans"/>
              </a:rPr>
              <a:t>•  </a:t>
            </a:r>
            <a:r>
              <a:rPr sz="1100" b="1">
                <a:solidFill>
                  <a:srgbClr val="E6EDF3"/>
                </a:solidFill>
                <a:latin typeface="Mona Sans"/>
              </a:rPr>
              <a:t>Context-aware</a:t>
            </a:r>
            <a:r>
              <a:rPr sz="1100">
                <a:solidFill>
                  <a:srgbClr val="C9D1D9"/>
                </a:solidFill>
                <a:latin typeface="Mona Sans"/>
              </a:rPr>
              <a:t> — Copilot references your repository's actual code when explaining failures</a:t>
            </a:r>
          </a:p>
          <a:p>
            <a:pPr>
              <a:spcAft>
                <a:spcPts val="200"/>
              </a:spcAft>
            </a:pPr>
            <a:r>
              <a:rPr sz="1100">
                <a:solidFill>
                  <a:srgbClr val="4493F8"/>
                </a:solidFill>
                <a:latin typeface="Mona Sans"/>
              </a:rPr>
              <a:t>•  </a:t>
            </a:r>
            <a:r>
              <a:rPr sz="1100" b="1">
                <a:solidFill>
                  <a:srgbClr val="E6EDF3"/>
                </a:solidFill>
                <a:latin typeface="Mona Sans"/>
              </a:rPr>
              <a:t>Faster from crash to fix</a:t>
            </a:r>
            <a:r>
              <a:rPr sz="1100">
                <a:solidFill>
                  <a:srgbClr val="C9D1D9"/>
                </a:solidFill>
                <a:latin typeface="Mona Sans"/>
              </a:rPr>
              <a:t> — the structured format eliminates the need to iteratively re-prompt for actionable debugging guidance</a:t>
            </a:r>
          </a:p>
          <a:p>
            <a:pPr>
              <a:spcAft>
                <a:spcPts val="200"/>
              </a:spcAft>
            </a:pPr>
            <a:r>
              <a:rPr sz="1100">
                <a:solidFill>
                  <a:srgbClr val="4493F8"/>
                </a:solidFill>
                <a:latin typeface="Mona Sans"/>
              </a:rPr>
              <a:t>•  </a:t>
            </a:r>
            <a:r>
              <a:rPr sz="1100" b="1">
                <a:solidFill>
                  <a:srgbClr val="E6EDF3"/>
                </a:solidFill>
                <a:latin typeface="Mona Sans"/>
              </a:rPr>
              <a:t>Confidence scoring</a:t>
            </a:r>
            <a:r>
              <a:rPr sz="1100">
                <a:solidFill>
                  <a:srgbClr val="C9D1D9"/>
                </a:solidFill>
                <a:latin typeface="Mona Sans"/>
              </a:rPr>
              <a:t> — Copilot tells you how certain it is about its hypothesis so you can prioritize investigation</a:t>
            </a:r>
          </a:p>
          <a:p>
            <a:pPr>
              <a:spcBef>
                <a:spcPts val="1000"/>
              </a:spcBef>
              <a:spcAft>
                <a:spcPts val="200"/>
              </a:spcAft>
            </a:pPr>
            <a:r>
              <a:rPr sz="900" b="1">
                <a:solidFill>
                  <a:srgbClr val="4493F8"/>
                </a:solidFill>
                <a:latin typeface="Mona Sans"/>
              </a:rPr>
              <a:t>HOW TO GET STARTED</a:t>
            </a:r>
          </a:p>
          <a:p>
            <a:pPr>
              <a:spcAft>
                <a:spcPts val="200"/>
              </a:spcAft>
            </a:pPr>
            <a:r>
              <a:rPr sz="1100">
                <a:solidFill>
                  <a:srgbClr val="4493F8"/>
                </a:solidFill>
                <a:latin typeface="Mona Sans"/>
              </a:rPr>
              <a:t>•  </a:t>
            </a:r>
            <a:r>
              <a:rPr sz="1100">
                <a:solidFill>
                  <a:srgbClr val="C9D1D9"/>
                </a:solidFill>
                <a:latin typeface="Mona Sans"/>
              </a:rPr>
              <a:t>Open </a:t>
            </a:r>
            <a:r>
              <a:rPr sz="1100" b="1">
                <a:solidFill>
                  <a:srgbClr val="E6EDF3"/>
                </a:solidFill>
                <a:latin typeface="Mona Sans"/>
              </a:rPr>
              <a:t>Copilot Chat</a:t>
            </a:r>
            <a:r>
              <a:rPr sz="1100">
                <a:solidFill>
                  <a:srgbClr val="C9D1D9"/>
                </a:solidFill>
                <a:latin typeface="Mona Sans"/>
              </a:rPr>
              <a:t> on github.com</a:t>
            </a:r>
          </a:p>
          <a:p>
            <a:pPr>
              <a:spcAft>
                <a:spcPts val="200"/>
              </a:spcAft>
            </a:pPr>
            <a:r>
              <a:rPr sz="1100">
                <a:solidFill>
                  <a:srgbClr val="4493F8"/>
                </a:solidFill>
                <a:latin typeface="Mona Sans"/>
              </a:rPr>
              <a:t>•  </a:t>
            </a:r>
            <a:r>
              <a:rPr sz="1100" b="1">
                <a:solidFill>
                  <a:srgbClr val="E6EDF3"/>
                </a:solidFill>
                <a:latin typeface="Mona Sans"/>
              </a:rPr>
              <a:t>Paste your stack trace</a:t>
            </a:r>
            <a:r>
              <a:rPr sz="1100">
                <a:solidFill>
                  <a:srgbClr val="C9D1D9"/>
                </a:solidFill>
                <a:latin typeface="Mona Sans"/>
              </a:rPr>
              <a:t> into the chat</a:t>
            </a:r>
          </a:p>
          <a:p>
            <a:pPr>
              <a:spcAft>
                <a:spcPts val="200"/>
              </a:spcAft>
            </a:pPr>
            <a:r>
              <a:rPr sz="1100">
                <a:solidFill>
                  <a:srgbClr val="4493F8"/>
                </a:solidFill>
                <a:latin typeface="Mona Sans"/>
              </a:rPr>
              <a:t>•  </a:t>
            </a:r>
            <a:r>
              <a:rPr sz="1100">
                <a:solidFill>
                  <a:srgbClr val="C9D1D9"/>
                </a:solidFill>
                <a:latin typeface="Mona Sans"/>
              </a:rPr>
              <a:t>Optionally add </a:t>
            </a:r>
            <a:r>
              <a:rPr sz="1100" b="1">
                <a:solidFill>
                  <a:srgbClr val="E6EDF3"/>
                </a:solidFill>
                <a:latin typeface="Mona Sans"/>
              </a:rPr>
              <a:t>file context</a:t>
            </a:r>
            <a:r>
              <a:rPr sz="1100">
                <a:solidFill>
                  <a:srgbClr val="C9D1D9"/>
                </a:solidFill>
                <a:latin typeface="Mona Sans"/>
              </a:rPr>
              <a:t> or reproduction steps for deeper analysis</a:t>
            </a:r>
          </a:p>
          <a:p>
            <a:pPr>
              <a:spcAft>
                <a:spcPts val="200"/>
              </a:spcAft>
            </a:pPr>
            <a:r>
              <a:rPr sz="1100">
                <a:solidFill>
                  <a:srgbClr val="4493F8"/>
                </a:solidFill>
                <a:latin typeface="Mona Sans"/>
              </a:rPr>
              <a:t>•  </a:t>
            </a:r>
            <a:r>
              <a:rPr sz="1100">
                <a:solidFill>
                  <a:srgbClr val="C9D1D9"/>
                </a:solidFill>
                <a:latin typeface="Mona Sans"/>
              </a:rPr>
              <a:t>Review the structured response: failure location → root cause → evidence → next steps</a:t>
            </a:r>
          </a:p>
          <a:p>
            <a:pPr>
              <a:spcBef>
                <a:spcPts val="1000"/>
              </a:spcBef>
              <a:spcAft>
                <a:spcPts val="200"/>
              </a:spcAft>
            </a:pPr>
            <a:r>
              <a:rPr sz="900" b="1">
                <a:solidFill>
                  <a:srgbClr val="4493F8"/>
                </a:solidFill>
                <a:latin typeface="Mona Sans"/>
              </a:rPr>
              <a:t>WHO GETS IT</a:t>
            </a:r>
          </a:p>
          <a:p>
            <a:pPr>
              <a:spcAft>
                <a:spcPts val="200"/>
              </a:spcAft>
            </a:pPr>
            <a:r>
              <a:rPr sz="1100">
                <a:solidFill>
                  <a:srgbClr val="4493F8"/>
                </a:solidFill>
                <a:latin typeface="Mona Sans"/>
              </a:rPr>
              <a:t>•  </a:t>
            </a:r>
            <a:r>
              <a:rPr sz="1100" b="1">
                <a:solidFill>
                  <a:srgbClr val="E6EDF3"/>
                </a:solidFill>
                <a:latin typeface="Mona Sans"/>
              </a:rPr>
              <a:t>All Copilot subscribers with github.com access</a:t>
            </a:r>
            <a:r>
              <a:rPr sz="1100">
                <a:solidFill>
                  <a:srgbClr val="C9D1D9"/>
                </a:solidFill>
                <a:latin typeface="Mona Sans"/>
              </a:rPr>
              <a:t> — available now, no setup required</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https://github.blog/changelog/2026-04-23-better-debugging-with-github-copilot-on-the-web/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2026-04-23</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Copilot Chat improvements for pull requests</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Copilot Chat improvements for pull requests</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2026-04-23</a:t>
            </a:r>
          </a:p>
        </p:txBody>
      </p:sp>
      <p:sp>
        <p:nvSpPr>
          <p:cNvPr id="5" name="TextBox 4"/>
          <p:cNvSpPr txBox="1"/>
          <p:nvPr/>
        </p:nvSpPr>
        <p:spPr>
          <a:xfrm>
            <a:off x="731520" y="1005840"/>
            <a:ext cx="10515600" cy="4673600"/>
          </a:xfrm>
          <a:prstGeom prst="rect">
            <a:avLst/>
          </a:prstGeom>
          <a:noFill/>
        </p:spPr>
        <p:txBody>
          <a:bodyPr wrap="square">
            <a:spAutoFit/>
          </a:bodyPr>
          <a:lstStyle/>
          <a:p>
            <a:pPr>
              <a:spcBef>
                <a:spcPts val="500"/>
              </a:spcBef>
              <a:spcAft>
                <a:spcPts val="400"/>
              </a:spcAft>
            </a:pPr>
            <a:r>
              <a:rPr sz="1300" b="1">
                <a:solidFill>
                  <a:srgbClr val="E6EDF3"/>
                </a:solidFill>
                <a:latin typeface="Mona Sans"/>
              </a:rPr>
              <a:t>What changed</a:t>
            </a:r>
          </a:p>
          <a:p>
            <a:pPr>
              <a:spcAft>
                <a:spcPts val="500"/>
              </a:spcAft>
            </a:pPr>
            <a:r>
              <a:rPr sz="1100" b="1">
                <a:solidFill>
                  <a:srgbClr val="E6EDF3"/>
                </a:solidFill>
                <a:latin typeface="Mona Sans"/>
              </a:rPr>
              <a:t>Copilot Chat</a:t>
            </a:r>
            <a:r>
              <a:rPr sz="1100">
                <a:solidFill>
                  <a:srgbClr val="C9D1D9"/>
                </a:solidFill>
                <a:latin typeface="Mona Sans"/>
              </a:rPr>
              <a:t> can now </a:t>
            </a:r>
            <a:r>
              <a:rPr sz="1100" b="1">
                <a:solidFill>
                  <a:srgbClr val="E6EDF3"/>
                </a:solidFill>
                <a:latin typeface="Mona Sans"/>
              </a:rPr>
              <a:t>understand, review, and summarize pull requests</a:t>
            </a:r>
            <a:r>
              <a:rPr sz="1100">
                <a:solidFill>
                  <a:srgbClr val="C9D1D9"/>
                </a:solidFill>
                <a:latin typeface="Mona Sans"/>
              </a:rPr>
              <a:t> using the full context of PR comments, commits, file changes, and reviews — directly from github.com.</a:t>
            </a:r>
          </a:p>
          <a:p>
            <a:pPr>
              <a:spcBef>
                <a:spcPts val="900"/>
              </a:spcBef>
              <a:spcAft>
                <a:spcPts val="200"/>
              </a:spcAft>
            </a:pPr>
            <a:r>
              <a:rPr sz="900" b="1">
                <a:solidFill>
                  <a:srgbClr val="4493F8"/>
                </a:solidFill>
                <a:latin typeface="Mona Sans"/>
              </a:rPr>
              <a:t>WHY IT MATTERS</a:t>
            </a:r>
          </a:p>
          <a:p>
            <a:pPr>
              <a:spcAft>
                <a:spcPts val="200"/>
              </a:spcAft>
            </a:pPr>
            <a:r>
              <a:rPr sz="1100">
                <a:solidFill>
                  <a:srgbClr val="4493F8"/>
                </a:solidFill>
                <a:latin typeface="Mona Sans"/>
              </a:rPr>
              <a:t>•  </a:t>
            </a:r>
            <a:r>
              <a:rPr sz="1100" b="1">
                <a:solidFill>
                  <a:srgbClr val="E6EDF3"/>
                </a:solidFill>
                <a:latin typeface="Mona Sans"/>
              </a:rPr>
              <a:t>Full PR context</a:t>
            </a:r>
            <a:r>
              <a:rPr sz="1100">
                <a:solidFill>
                  <a:srgbClr val="C9D1D9"/>
                </a:solidFill>
                <a:latin typeface="Mona Sans"/>
              </a:rPr>
              <a:t> — Copilot reads PR comments, file changes, commits, and reviews for more relevant, accurate responses</a:t>
            </a:r>
          </a:p>
          <a:p>
            <a:pPr>
              <a:spcAft>
                <a:spcPts val="200"/>
              </a:spcAft>
            </a:pPr>
            <a:r>
              <a:rPr sz="1100">
                <a:solidFill>
                  <a:srgbClr val="4493F8"/>
                </a:solidFill>
                <a:latin typeface="Mona Sans"/>
              </a:rPr>
              <a:t>•  </a:t>
            </a:r>
            <a:r>
              <a:rPr sz="1100" b="1">
                <a:solidFill>
                  <a:srgbClr val="E6EDF3"/>
                </a:solidFill>
                <a:latin typeface="Mona Sans"/>
              </a:rPr>
              <a:t>Structured PR review</a:t>
            </a:r>
            <a:r>
              <a:rPr sz="1100">
                <a:solidFill>
                  <a:srgbClr val="C9D1D9"/>
                </a:solidFill>
                <a:latin typeface="Mona Sans"/>
              </a:rPr>
              <a:t> — ask Copilot to review a PR and receive a structured breakdown with detailed feedback</a:t>
            </a:r>
          </a:p>
          <a:p>
            <a:pPr>
              <a:spcAft>
                <a:spcPts val="200"/>
              </a:spcAft>
            </a:pPr>
            <a:r>
              <a:rPr sz="1100">
                <a:solidFill>
                  <a:srgbClr val="4493F8"/>
                </a:solidFill>
                <a:latin typeface="Mona Sans"/>
              </a:rPr>
              <a:t>•  </a:t>
            </a:r>
            <a:r>
              <a:rPr sz="1100" b="1">
                <a:solidFill>
                  <a:srgbClr val="E6EDF3"/>
                </a:solidFill>
                <a:latin typeface="Mona Sans"/>
              </a:rPr>
              <a:t>Instant PR summary</a:t>
            </a:r>
            <a:r>
              <a:rPr sz="1100">
                <a:solidFill>
                  <a:srgbClr val="C9D1D9"/>
                </a:solidFill>
                <a:latin typeface="Mona Sans"/>
              </a:rPr>
              <a:t> — get a concise, human-readable overview of any PR in seconds</a:t>
            </a:r>
          </a:p>
          <a:p>
            <a:pPr>
              <a:spcAft>
                <a:spcPts val="200"/>
              </a:spcAft>
            </a:pPr>
            <a:r>
              <a:rPr sz="1100">
                <a:solidFill>
                  <a:srgbClr val="4493F8"/>
                </a:solidFill>
                <a:latin typeface="Mona Sans"/>
              </a:rPr>
              <a:t>•  </a:t>
            </a:r>
            <a:r>
              <a:rPr sz="1100" b="1">
                <a:solidFill>
                  <a:srgbClr val="E6EDF3"/>
                </a:solidFill>
                <a:latin typeface="Mona Sans"/>
              </a:rPr>
              <a:t>Works anywhere on github.com</a:t>
            </a:r>
            <a:r>
              <a:rPr sz="1100">
                <a:solidFill>
                  <a:srgbClr val="C9D1D9"/>
                </a:solidFill>
                <a:latin typeface="Mona Sans"/>
              </a:rPr>
              <a:t> — available via global Copilot navigation or at github.com/copilot</a:t>
            </a:r>
          </a:p>
          <a:p>
            <a:pPr>
              <a:spcAft>
                <a:spcPts val="200"/>
              </a:spcAft>
            </a:pPr>
            <a:r>
              <a:rPr sz="1100">
                <a:solidFill>
                  <a:srgbClr val="4493F8"/>
                </a:solidFill>
                <a:latin typeface="Mona Sans"/>
              </a:rPr>
              <a:t>•  </a:t>
            </a:r>
            <a:r>
              <a:rPr sz="1100" b="1">
                <a:solidFill>
                  <a:srgbClr val="E6EDF3"/>
                </a:solidFill>
                <a:latin typeface="Mona Sans"/>
              </a:rPr>
              <a:t>Richer diff experience</a:t>
            </a:r>
            <a:r>
              <a:rPr sz="1100">
                <a:solidFill>
                  <a:srgbClr val="C9D1D9"/>
                </a:solidFill>
                <a:latin typeface="Mona Sans"/>
              </a:rPr>
              <a:t> — public preview users can click the Copilot button on a diff and ask contextual questions</a:t>
            </a:r>
          </a:p>
          <a:p>
            <a:pPr>
              <a:spcBef>
                <a:spcPts val="900"/>
              </a:spcBef>
              <a:spcAft>
                <a:spcPts val="200"/>
              </a:spcAft>
            </a:pPr>
            <a:r>
              <a:rPr sz="900" b="1">
                <a:solidFill>
                  <a:srgbClr val="4493F8"/>
                </a:solidFill>
                <a:latin typeface="Mona Sans"/>
              </a:rPr>
              <a:t>HOW TO GET STARTED</a:t>
            </a:r>
          </a:p>
          <a:p>
            <a:pPr>
              <a:spcAft>
                <a:spcPts val="200"/>
              </a:spcAft>
            </a:pPr>
            <a:r>
              <a:rPr sz="1100">
                <a:solidFill>
                  <a:srgbClr val="4493F8"/>
                </a:solidFill>
                <a:latin typeface="Mona Sans"/>
              </a:rPr>
              <a:t>•  </a:t>
            </a:r>
            <a:r>
              <a:rPr sz="1100">
                <a:solidFill>
                  <a:srgbClr val="C9D1D9"/>
                </a:solidFill>
                <a:latin typeface="Mona Sans"/>
              </a:rPr>
              <a:t>Open any </a:t>
            </a:r>
            <a:r>
              <a:rPr sz="1100" b="1">
                <a:solidFill>
                  <a:srgbClr val="E6EDF3"/>
                </a:solidFill>
                <a:latin typeface="Mona Sans"/>
              </a:rPr>
              <a:t>pull request</a:t>
            </a:r>
            <a:r>
              <a:rPr sz="1100">
                <a:solidFill>
                  <a:srgbClr val="C9D1D9"/>
                </a:solidFill>
                <a:latin typeface="Mona Sans"/>
              </a:rPr>
              <a:t> on github.com</a:t>
            </a:r>
          </a:p>
          <a:p>
            <a:pPr>
              <a:spcAft>
                <a:spcPts val="200"/>
              </a:spcAft>
            </a:pPr>
            <a:r>
              <a:rPr sz="1100">
                <a:solidFill>
                  <a:srgbClr val="4493F8"/>
                </a:solidFill>
                <a:latin typeface="Mona Sans"/>
              </a:rPr>
              <a:t>•  </a:t>
            </a:r>
            <a:r>
              <a:rPr sz="1100">
                <a:solidFill>
                  <a:srgbClr val="C9D1D9"/>
                </a:solidFill>
                <a:latin typeface="Mona Sans"/>
              </a:rPr>
              <a:t>Open </a:t>
            </a:r>
            <a:r>
              <a:rPr sz="1100" b="1">
                <a:solidFill>
                  <a:srgbClr val="E6EDF3"/>
                </a:solidFill>
                <a:latin typeface="Mona Sans"/>
              </a:rPr>
              <a:t>Copilot Chat</a:t>
            </a:r>
            <a:r>
              <a:rPr sz="1100">
                <a:solidFill>
                  <a:srgbClr val="C9D1D9"/>
                </a:solidFill>
                <a:latin typeface="Mona Sans"/>
              </a:rPr>
              <a:t> via the global Copilot navigation button</a:t>
            </a:r>
          </a:p>
          <a:p>
            <a:pPr>
              <a:spcAft>
                <a:spcPts val="200"/>
              </a:spcAft>
            </a:pPr>
            <a:r>
              <a:rPr sz="1100">
                <a:solidFill>
                  <a:srgbClr val="4493F8"/>
                </a:solidFill>
                <a:latin typeface="Mona Sans"/>
              </a:rPr>
              <a:t>•  </a:t>
            </a:r>
            <a:r>
              <a:rPr sz="1100">
                <a:solidFill>
                  <a:srgbClr val="C9D1D9"/>
                </a:solidFill>
                <a:latin typeface="Mona Sans"/>
              </a:rPr>
              <a:t>Try suggested prompts like </a:t>
            </a:r>
            <a:r>
              <a:rPr sz="1100" b="1">
                <a:solidFill>
                  <a:srgbClr val="E6EDF3"/>
                </a:solidFill>
                <a:latin typeface="Mona Sans"/>
              </a:rPr>
              <a:t>"Help review this pull request"</a:t>
            </a:r>
            <a:r>
              <a:rPr sz="1100">
                <a:solidFill>
                  <a:srgbClr val="C9D1D9"/>
                </a:solidFill>
                <a:latin typeface="Mona Sans"/>
              </a:rPr>
              <a:t> or </a:t>
            </a:r>
            <a:r>
              <a:rPr sz="1100" b="1">
                <a:solidFill>
                  <a:srgbClr val="E6EDF3"/>
                </a:solidFill>
                <a:latin typeface="Mona Sans"/>
              </a:rPr>
              <a:t>"Summarize this PR"</a:t>
            </a:r>
          </a:p>
          <a:p>
            <a:pPr>
              <a:spcAft>
                <a:spcPts val="200"/>
              </a:spcAft>
            </a:pPr>
            <a:r>
              <a:rPr sz="1100">
                <a:solidFill>
                  <a:srgbClr val="4493F8"/>
                </a:solidFill>
                <a:latin typeface="Mona Sans"/>
              </a:rPr>
              <a:t>•  </a:t>
            </a:r>
            <a:r>
              <a:rPr sz="1100">
                <a:solidFill>
                  <a:srgbClr val="C9D1D9"/>
                </a:solidFill>
                <a:latin typeface="Mona Sans"/>
              </a:rPr>
              <a:t>For diff-specific questions: click the </a:t>
            </a:r>
            <a:r>
              <a:rPr sz="1100" b="1">
                <a:solidFill>
                  <a:srgbClr val="E6EDF3"/>
                </a:solidFill>
                <a:latin typeface="Mona Sans"/>
              </a:rPr>
              <a:t>Copilot button on a diff</a:t>
            </a:r>
            <a:r>
              <a:rPr sz="1100">
                <a:solidFill>
                  <a:srgbClr val="C9D1D9"/>
                </a:solidFill>
                <a:latin typeface="Mona Sans"/>
              </a:rPr>
              <a:t> (public preview users)</a:t>
            </a:r>
          </a:p>
          <a:p>
            <a:pPr>
              <a:spcBef>
                <a:spcPts val="900"/>
              </a:spcBef>
              <a:spcAft>
                <a:spcPts val="200"/>
              </a:spcAft>
            </a:pPr>
            <a:r>
              <a:rPr sz="900" b="1">
                <a:solidFill>
                  <a:srgbClr val="4493F8"/>
                </a:solidFill>
                <a:latin typeface="Mona Sans"/>
              </a:rPr>
              <a:t>WHO GETS IT</a:t>
            </a:r>
          </a:p>
          <a:p>
            <a:pPr>
              <a:spcAft>
                <a:spcPts val="200"/>
              </a:spcAft>
            </a:pPr>
            <a:r>
              <a:rPr sz="1100">
                <a:solidFill>
                  <a:srgbClr val="4493F8"/>
                </a:solidFill>
                <a:latin typeface="Mona Sans"/>
              </a:rPr>
              <a:t>•  </a:t>
            </a:r>
            <a:r>
              <a:rPr sz="1100" b="1">
                <a:solidFill>
                  <a:srgbClr val="E6EDF3"/>
                </a:solidFill>
                <a:latin typeface="Mona Sans"/>
              </a:rPr>
              <a:t>All Copilot subscribers</a:t>
            </a:r>
            <a:r>
              <a:rPr sz="1100">
                <a:solidFill>
                  <a:srgbClr val="C9D1D9"/>
                </a:solidFill>
                <a:latin typeface="Mona Sans"/>
              </a:rPr>
              <a:t> — available now on github.com</a:t>
            </a:r>
          </a:p>
          <a:p>
            <a:pPr>
              <a:spcAft>
                <a:spcPts val="200"/>
              </a:spcAft>
            </a:pPr>
            <a:r>
              <a:rPr sz="1100">
                <a:solidFill>
                  <a:srgbClr val="4493F8"/>
                </a:solidFill>
                <a:latin typeface="Mona Sans"/>
              </a:rPr>
              <a:t>•  </a:t>
            </a:r>
            <a:r>
              <a:rPr sz="1100" b="1">
                <a:solidFill>
                  <a:srgbClr val="E6EDF3"/>
                </a:solidFill>
                <a:latin typeface="Mona Sans"/>
              </a:rPr>
              <a:t>Diff Copilot button</a:t>
            </a:r>
            <a:r>
              <a:rPr sz="1100">
                <a:solidFill>
                  <a:srgbClr val="C9D1D9"/>
                </a:solidFill>
                <a:latin typeface="Mona Sans"/>
              </a:rPr>
              <a:t> — public preview users</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https://github.blog/changelog/2026-04-23-copilot-chat-improvements-for-pull-requests/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2026-04-23</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Copilot cloud agent fields added to usage metrics</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100" b="1">
                <a:solidFill>
                  <a:srgbClr val="E6EDF3"/>
                </a:solidFill>
                <a:latin typeface="Mona Sans"/>
              </a:defRPr>
            </a:pPr>
            <a:r>
              <a:t>Copilot cloud agent fields added to usage metrics</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2026-04-23</a:t>
            </a:r>
          </a:p>
        </p:txBody>
      </p:sp>
      <p:sp>
        <p:nvSpPr>
          <p:cNvPr id="5" name="TextBox 4"/>
          <p:cNvSpPr txBox="1"/>
          <p:nvPr/>
        </p:nvSpPr>
        <p:spPr>
          <a:xfrm>
            <a:off x="731520" y="1005840"/>
            <a:ext cx="10515600" cy="4648200"/>
          </a:xfrm>
          <a:prstGeom prst="rect">
            <a:avLst/>
          </a:prstGeom>
          <a:noFill/>
        </p:spPr>
        <p:txBody>
          <a:bodyPr wrap="square">
            <a:spAutoFit/>
          </a:bodyPr>
          <a:lstStyle/>
          <a:p>
            <a:pPr>
              <a:spcBef>
                <a:spcPts val="600"/>
              </a:spcBef>
              <a:spcAft>
                <a:spcPts val="400"/>
              </a:spcAft>
            </a:pPr>
            <a:r>
              <a:rPr sz="1500" b="1">
                <a:solidFill>
                  <a:srgbClr val="E6EDF3"/>
                </a:solidFill>
                <a:latin typeface="Mona Sans"/>
              </a:rPr>
              <a:t>What changed</a:t>
            </a:r>
          </a:p>
          <a:p>
            <a:pPr>
              <a:spcAft>
                <a:spcPts val="600"/>
              </a:spcAft>
            </a:pPr>
            <a:r>
              <a:rPr sz="1200">
                <a:solidFill>
                  <a:srgbClr val="C9D1D9"/>
                </a:solidFill>
                <a:latin typeface="Mona Sans"/>
              </a:rPr>
              <a:t>A new </a:t>
            </a:r>
            <a:r>
              <a:rPr sz="1200" b="1">
                <a:solidFill>
                  <a:srgbClr val="E6EDF3"/>
                </a:solidFill>
                <a:latin typeface="Mona Sans"/>
              </a:rPr>
              <a:t>`used_copilot_cloud_agent`</a:t>
            </a:r>
            <a:r>
              <a:rPr sz="1200">
                <a:solidFill>
                  <a:srgbClr val="C9D1D9"/>
                </a:solidFill>
                <a:latin typeface="Mona Sans"/>
              </a:rPr>
              <a:t> boolean field has been added to user-level usage metrics, replacing the older `used_copilot_coding_agent` field and aligning terminology with the updated Copilot cloud agent branding.</a:t>
            </a:r>
          </a:p>
          <a:p>
            <a:pPr>
              <a:spcBef>
                <a:spcPts val="1000"/>
              </a:spcBef>
              <a:spcAft>
                <a:spcPts val="300"/>
              </a:spcAft>
            </a:pPr>
            <a:r>
              <a:rPr sz="900" b="1">
                <a:solidFill>
                  <a:srgbClr val="4493F8"/>
                </a:solidFill>
                <a:latin typeface="Mona Sans"/>
              </a:rPr>
              <a:t>WHY IT MATTERS</a:t>
            </a:r>
          </a:p>
          <a:p>
            <a:pPr>
              <a:spcAft>
                <a:spcPts val="300"/>
              </a:spcAft>
            </a:pPr>
            <a:r>
              <a:rPr sz="1200">
                <a:solidFill>
                  <a:srgbClr val="4493F8"/>
                </a:solidFill>
                <a:latin typeface="Mona Sans"/>
              </a:rPr>
              <a:t>•  </a:t>
            </a:r>
            <a:r>
              <a:rPr sz="1200" b="1">
                <a:solidFill>
                  <a:srgbClr val="E6EDF3"/>
                </a:solidFill>
                <a:latin typeface="Mona Sans"/>
              </a:rPr>
              <a:t>Brand-aligned field name</a:t>
            </a:r>
            <a:r>
              <a:rPr sz="1200">
                <a:solidFill>
                  <a:srgbClr val="C9D1D9"/>
                </a:solidFill>
                <a:latin typeface="Mona Sans"/>
              </a:rPr>
              <a:t> — `used_copilot_cloud_agent` reflects the current product branding</a:t>
            </a:r>
          </a:p>
          <a:p>
            <a:pPr>
              <a:spcAft>
                <a:spcPts val="300"/>
              </a:spcAft>
            </a:pPr>
            <a:r>
              <a:rPr sz="1200">
                <a:solidFill>
                  <a:srgbClr val="4493F8"/>
                </a:solidFill>
                <a:latin typeface="Mona Sans"/>
              </a:rPr>
              <a:t>•  </a:t>
            </a:r>
            <a:r>
              <a:rPr sz="1200" b="1">
                <a:solidFill>
                  <a:srgbClr val="E6EDF3"/>
                </a:solidFill>
                <a:latin typeface="Mona Sans"/>
              </a:rPr>
              <a:t>Backward compatible</a:t>
            </a:r>
            <a:r>
              <a:rPr sz="1200">
                <a:solidFill>
                  <a:srgbClr val="C9D1D9"/>
                </a:solidFill>
                <a:latin typeface="Mona Sans"/>
              </a:rPr>
              <a:t> — the legacy `used_copilot_coding_agent` field returns the same value until </a:t>
            </a:r>
            <a:r>
              <a:rPr sz="1200" b="1">
                <a:solidFill>
                  <a:srgbClr val="E6EDF3"/>
                </a:solidFill>
                <a:latin typeface="Mona Sans"/>
              </a:rPr>
              <a:t>August 1, 2026</a:t>
            </a:r>
          </a:p>
          <a:p>
            <a:pPr>
              <a:spcAft>
                <a:spcPts val="300"/>
              </a:spcAft>
            </a:pPr>
            <a:r>
              <a:rPr sz="1200">
                <a:solidFill>
                  <a:srgbClr val="4493F8"/>
                </a:solidFill>
                <a:latin typeface="Mona Sans"/>
              </a:rPr>
              <a:t>•  </a:t>
            </a:r>
            <a:r>
              <a:rPr sz="1200" b="1">
                <a:solidFill>
                  <a:srgbClr val="E6EDF3"/>
                </a:solidFill>
                <a:latin typeface="Mona Sans"/>
              </a:rPr>
              <a:t>No data loss</a:t>
            </a:r>
            <a:r>
              <a:rPr sz="1200">
                <a:solidFill>
                  <a:srgbClr val="C9D1D9"/>
                </a:solidFill>
                <a:latin typeface="Mona Sans"/>
              </a:rPr>
              <a:t> — both fields return identical values during the transition window</a:t>
            </a:r>
          </a:p>
          <a:p>
            <a:pPr>
              <a:spcAft>
                <a:spcPts val="300"/>
              </a:spcAft>
            </a:pPr>
            <a:r>
              <a:rPr sz="1200">
                <a:solidFill>
                  <a:srgbClr val="4493F8"/>
                </a:solidFill>
                <a:latin typeface="Mona Sans"/>
              </a:rPr>
              <a:t>•  </a:t>
            </a:r>
            <a:r>
              <a:rPr sz="1200" b="1">
                <a:solidFill>
                  <a:srgbClr val="E6EDF3"/>
                </a:solidFill>
                <a:latin typeface="Mona Sans"/>
              </a:rPr>
              <a:t>Available in all report types</a:t>
            </a:r>
            <a:r>
              <a:rPr sz="1200">
                <a:solidFill>
                  <a:srgbClr val="C9D1D9"/>
                </a:solidFill>
                <a:latin typeface="Mona Sans"/>
              </a:rPr>
              <a:t> — single-day and 28-day rolling reports at enterprise and org user levels</a:t>
            </a:r>
          </a:p>
          <a:p>
            <a:pPr>
              <a:spcBef>
                <a:spcPts val="1000"/>
              </a:spcBef>
              <a:spcAft>
                <a:spcPts val="300"/>
              </a:spcAft>
            </a:pPr>
            <a:r>
              <a:rPr sz="900" b="1">
                <a:solidFill>
                  <a:srgbClr val="4493F8"/>
                </a:solidFill>
                <a:latin typeface="Mona Sans"/>
              </a:rPr>
              <a:t>HOW TO GET STARTED</a:t>
            </a:r>
          </a:p>
          <a:p>
            <a:pPr>
              <a:spcAft>
                <a:spcPts val="300"/>
              </a:spcAft>
            </a:pPr>
            <a:r>
              <a:rPr sz="1200">
                <a:solidFill>
                  <a:srgbClr val="4493F8"/>
                </a:solidFill>
                <a:latin typeface="Mona Sans"/>
              </a:rPr>
              <a:t>•  </a:t>
            </a:r>
            <a:r>
              <a:rPr sz="1200">
                <a:solidFill>
                  <a:srgbClr val="C9D1D9"/>
                </a:solidFill>
                <a:latin typeface="Mona Sans"/>
              </a:rPr>
              <a:t>Update integrations, dashboards, and API consumers to reference </a:t>
            </a:r>
            <a:r>
              <a:rPr sz="1200" b="1">
                <a:solidFill>
                  <a:srgbClr val="E6EDF3"/>
                </a:solidFill>
                <a:latin typeface="Mona Sans"/>
              </a:rPr>
              <a:t>`used_copilot_cloud_agent`</a:t>
            </a:r>
          </a:p>
          <a:p>
            <a:pPr>
              <a:spcAft>
                <a:spcPts val="300"/>
              </a:spcAft>
            </a:pPr>
            <a:r>
              <a:rPr sz="1200">
                <a:solidFill>
                  <a:srgbClr val="4493F8"/>
                </a:solidFill>
                <a:latin typeface="Mona Sans"/>
              </a:rPr>
              <a:t>•  </a:t>
            </a:r>
            <a:r>
              <a:rPr sz="1200">
                <a:solidFill>
                  <a:srgbClr val="C9D1D9"/>
                </a:solidFill>
                <a:latin typeface="Mona Sans"/>
              </a:rPr>
              <a:t>Plan migration from `used_copilot_coding_agent` before </a:t>
            </a:r>
            <a:r>
              <a:rPr sz="1200" b="1">
                <a:solidFill>
                  <a:srgbClr val="E6EDF3"/>
                </a:solidFill>
                <a:latin typeface="Mona Sans"/>
              </a:rPr>
              <a:t>August 1, 2026</a:t>
            </a:r>
          </a:p>
          <a:p>
            <a:pPr>
              <a:spcAft>
                <a:spcPts val="300"/>
              </a:spcAft>
            </a:pPr>
            <a:r>
              <a:rPr sz="1200">
                <a:solidFill>
                  <a:srgbClr val="4493F8"/>
                </a:solidFill>
                <a:latin typeface="Mona Sans"/>
              </a:rPr>
              <a:t>•  </a:t>
            </a:r>
            <a:r>
              <a:rPr sz="1200">
                <a:solidFill>
                  <a:srgbClr val="C9D1D9"/>
                </a:solidFill>
                <a:latin typeface="Mona Sans"/>
              </a:rPr>
              <a:t>Run both fields in parallel to validate your migration</a:t>
            </a:r>
          </a:p>
          <a:p>
            <a:pPr>
              <a:spcBef>
                <a:spcPts val="1000"/>
              </a:spcBef>
              <a:spcAft>
                <a:spcPts val="300"/>
              </a:spcAft>
            </a:pPr>
            <a:r>
              <a:rPr sz="900" b="1">
                <a:solidFill>
                  <a:srgbClr val="4493F8"/>
                </a:solidFill>
                <a:latin typeface="Mona Sans"/>
              </a:rPr>
              <a:t>WHO GETS IT</a:t>
            </a:r>
          </a:p>
          <a:p>
            <a:pPr>
              <a:spcAft>
                <a:spcPts val="300"/>
              </a:spcAft>
            </a:pPr>
            <a:r>
              <a:rPr sz="1200">
                <a:solidFill>
                  <a:srgbClr val="4493F8"/>
                </a:solidFill>
                <a:latin typeface="Mona Sans"/>
              </a:rPr>
              <a:t>•  </a:t>
            </a:r>
            <a:r>
              <a:rPr sz="1200" b="1">
                <a:solidFill>
                  <a:srgbClr val="E6EDF3"/>
                </a:solidFill>
                <a:latin typeface="Mona Sans"/>
              </a:rPr>
              <a:t>All enterprise and organization admins</a:t>
            </a:r>
            <a:r>
              <a:rPr sz="1200">
                <a:solidFill>
                  <a:srgbClr val="C9D1D9"/>
                </a:solidFill>
                <a:latin typeface="Mona Sans"/>
              </a:rPr>
              <a:t> — available now in all usage metrics report types</a:t>
            </a:r>
          </a:p>
          <a:p>
            <a:pPr>
              <a:spcAft>
                <a:spcPts val="300"/>
              </a:spcAft>
            </a:pPr>
            <a:r>
              <a:rPr sz="1200">
                <a:solidFill>
                  <a:srgbClr val="4493F8"/>
                </a:solidFill>
                <a:latin typeface="Mona Sans"/>
              </a:rPr>
              <a:t>•  </a:t>
            </a:r>
            <a:r>
              <a:rPr sz="1200" b="1">
                <a:solidFill>
                  <a:srgbClr val="E6EDF3"/>
                </a:solidFill>
                <a:latin typeface="Mona Sans"/>
              </a:rPr>
              <a:t>Action required by August 1, 2026</a:t>
            </a:r>
            <a:r>
              <a:rPr sz="1200">
                <a:solidFill>
                  <a:srgbClr val="C9D1D9"/>
                </a:solidFill>
                <a:latin typeface="Mona Sans"/>
              </a:rPr>
              <a:t> — the `used_copilot_coding_agent` field will be deprecated on that date</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https://github.blog/changelog/2026-04-23-copilot-cloud-agent-fields-added-to-usage-metrics/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2026-04-23</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View and manage agent sessions from issues and projects</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View and manage agent sessions from issues and projects</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2026-04-23</a:t>
            </a:r>
          </a:p>
        </p:txBody>
      </p:sp>
      <p:sp>
        <p:nvSpPr>
          <p:cNvPr id="5" name="TextBox 4"/>
          <p:cNvSpPr txBox="1"/>
          <p:nvPr/>
        </p:nvSpPr>
        <p:spPr>
          <a:xfrm>
            <a:off x="731520" y="1005840"/>
            <a:ext cx="10515600" cy="4737100"/>
          </a:xfrm>
          <a:prstGeom prst="rect">
            <a:avLst/>
          </a:prstGeom>
          <a:noFill/>
        </p:spPr>
        <p:txBody>
          <a:bodyPr wrap="square">
            <a:spAutoFit/>
          </a:bodyPr>
          <a:lstStyle/>
          <a:p>
            <a:pPr>
              <a:spcBef>
                <a:spcPts val="500"/>
              </a:spcBef>
              <a:spcAft>
                <a:spcPts val="400"/>
              </a:spcAft>
            </a:pPr>
            <a:r>
              <a:rPr sz="1400" b="1">
                <a:solidFill>
                  <a:srgbClr val="E6EDF3"/>
                </a:solidFill>
                <a:latin typeface="Mona Sans"/>
              </a:rPr>
              <a:t>What changed</a:t>
            </a:r>
          </a:p>
          <a:p>
            <a:pPr>
              <a:spcAft>
                <a:spcPts val="500"/>
              </a:spcAft>
            </a:pPr>
            <a:r>
              <a:rPr sz="1100" b="1">
                <a:solidFill>
                  <a:srgbClr val="E6EDF3"/>
                </a:solidFill>
                <a:latin typeface="Mona Sans"/>
              </a:rPr>
              <a:t>GitHub Issues and Projects</a:t>
            </a:r>
            <a:r>
              <a:rPr sz="1100">
                <a:solidFill>
                  <a:srgbClr val="C9D1D9"/>
                </a:solidFill>
                <a:latin typeface="Mona Sans"/>
              </a:rPr>
              <a:t> now surface </a:t>
            </a:r>
            <a:r>
              <a:rPr sz="1100" b="1">
                <a:solidFill>
                  <a:srgbClr val="E6EDF3"/>
                </a:solidFill>
                <a:latin typeface="Mona Sans"/>
              </a:rPr>
              <a:t>agent session status, logs, and steering controls</a:t>
            </a:r>
            <a:r>
              <a:rPr sz="1100">
                <a:solidFill>
                  <a:srgbClr val="C9D1D9"/>
                </a:solidFill>
                <a:latin typeface="Mona Sans"/>
              </a:rPr>
              <a:t> inline, making AI agent work visible and manageable alongside human contributions.</a:t>
            </a:r>
          </a:p>
          <a:p>
            <a:pPr>
              <a:spcBef>
                <a:spcPts val="900"/>
              </a:spcBef>
              <a:spcAft>
                <a:spcPts val="200"/>
              </a:spcAft>
            </a:pPr>
            <a:r>
              <a:rPr sz="900" b="1">
                <a:solidFill>
                  <a:srgbClr val="4493F8"/>
                </a:solidFill>
                <a:latin typeface="Mona Sans"/>
              </a:rPr>
              <a:t>WHY IT MATTERS</a:t>
            </a:r>
          </a:p>
          <a:p>
            <a:pPr>
              <a:spcAft>
                <a:spcPts val="200"/>
              </a:spcAft>
            </a:pPr>
            <a:r>
              <a:rPr sz="1100">
                <a:solidFill>
                  <a:srgbClr val="4493F8"/>
                </a:solidFill>
                <a:latin typeface="Mona Sans"/>
              </a:rPr>
              <a:t>•  </a:t>
            </a:r>
            <a:r>
              <a:rPr sz="1100" b="1">
                <a:solidFill>
                  <a:srgbClr val="E6EDF3"/>
                </a:solidFill>
                <a:latin typeface="Mona Sans"/>
              </a:rPr>
              <a:t>Session pill on issues</a:t>
            </a:r>
            <a:r>
              <a:rPr sz="1100">
                <a:solidFill>
                  <a:srgbClr val="C9D1D9"/>
                </a:solidFill>
                <a:latin typeface="Mona Sans"/>
              </a:rPr>
              <a:t> — a new header pill shows all active and completed agent sessions at a glance</a:t>
            </a:r>
          </a:p>
          <a:p>
            <a:pPr>
              <a:spcAft>
                <a:spcPts val="200"/>
              </a:spcAft>
            </a:pPr>
            <a:r>
              <a:rPr sz="1100">
                <a:solidFill>
                  <a:srgbClr val="4493F8"/>
                </a:solidFill>
                <a:latin typeface="Mona Sans"/>
              </a:rPr>
              <a:t>•  </a:t>
            </a:r>
            <a:r>
              <a:rPr sz="1100" b="1">
                <a:solidFill>
                  <a:srgbClr val="E6EDF3"/>
                </a:solidFill>
                <a:latin typeface="Mona Sans"/>
              </a:rPr>
              <a:t>Session side panel</a:t>
            </a:r>
            <a:r>
              <a:rPr sz="1100">
                <a:solidFill>
                  <a:srgbClr val="C9D1D9"/>
                </a:solidFill>
                <a:latin typeface="Mona Sans"/>
              </a:rPr>
              <a:t> — click any session to open a sidebar for progress review, log inspection, and real-time agent steering</a:t>
            </a:r>
          </a:p>
          <a:p>
            <a:pPr>
              <a:spcAft>
                <a:spcPts val="200"/>
              </a:spcAft>
            </a:pPr>
            <a:r>
              <a:rPr sz="1100">
                <a:solidFill>
                  <a:srgbClr val="4493F8"/>
                </a:solidFill>
                <a:latin typeface="Mona Sans"/>
              </a:rPr>
              <a:t>•  </a:t>
            </a:r>
            <a:r>
              <a:rPr sz="1100" b="1">
                <a:solidFill>
                  <a:srgbClr val="E6EDF3"/>
                </a:solidFill>
                <a:latin typeface="Mona Sans"/>
              </a:rPr>
              <a:t>Projects integration</a:t>
            </a:r>
            <a:r>
              <a:rPr sz="1100">
                <a:solidFill>
                  <a:srgbClr val="C9D1D9"/>
                </a:solidFill>
                <a:latin typeface="Mona Sans"/>
              </a:rPr>
              <a:t> — "Show agent sessions" is now </a:t>
            </a:r>
            <a:r>
              <a:rPr sz="1100" b="1">
                <a:solidFill>
                  <a:srgbClr val="E6EDF3"/>
                </a:solidFill>
                <a:latin typeface="Mona Sans"/>
              </a:rPr>
              <a:t>on by default</a:t>
            </a:r>
            <a:r>
              <a:rPr sz="1100">
                <a:solidFill>
                  <a:srgbClr val="C9D1D9"/>
                </a:solidFill>
                <a:latin typeface="Mona Sans"/>
              </a:rPr>
              <a:t> for all project views</a:t>
            </a:r>
          </a:p>
          <a:p>
            <a:pPr>
              <a:spcAft>
                <a:spcPts val="200"/>
              </a:spcAft>
            </a:pPr>
            <a:r>
              <a:rPr sz="1100">
                <a:solidFill>
                  <a:srgbClr val="4493F8"/>
                </a:solidFill>
                <a:latin typeface="Mona Sans"/>
              </a:rPr>
              <a:t>•  </a:t>
            </a:r>
            <a:r>
              <a:rPr sz="1100" b="1">
                <a:solidFill>
                  <a:srgbClr val="E6EDF3"/>
                </a:solidFill>
                <a:latin typeface="Mona Sans"/>
              </a:rPr>
              <a:t>Multi-agent support</a:t>
            </a:r>
            <a:r>
              <a:rPr sz="1100">
                <a:solidFill>
                  <a:srgbClr val="C9D1D9"/>
                </a:solidFill>
                <a:latin typeface="Mona Sans"/>
              </a:rPr>
              <a:t> — works with Copilot, Claude, Codex, and future custom or third-party agents</a:t>
            </a:r>
          </a:p>
          <a:p>
            <a:pPr>
              <a:spcAft>
                <a:spcPts val="200"/>
              </a:spcAft>
            </a:pPr>
            <a:r>
              <a:rPr sz="1100">
                <a:solidFill>
                  <a:srgbClr val="4493F8"/>
                </a:solidFill>
                <a:latin typeface="Mona Sans"/>
              </a:rPr>
              <a:t>•  </a:t>
            </a:r>
            <a:r>
              <a:rPr sz="1100" b="1">
                <a:solidFill>
                  <a:srgbClr val="E6EDF3"/>
                </a:solidFill>
                <a:latin typeface="Mona Sans"/>
              </a:rPr>
              <a:t>Smarter label suggestions</a:t>
            </a:r>
            <a:r>
              <a:rPr sz="1100">
                <a:solidFill>
                  <a:srgbClr val="C9D1D9"/>
                </a:solidFill>
                <a:latin typeface="Mona Sans"/>
              </a:rPr>
              <a:t> — the label picker highlights your most-used labels at the top</a:t>
            </a:r>
          </a:p>
          <a:p>
            <a:pPr>
              <a:spcBef>
                <a:spcPts val="900"/>
              </a:spcBef>
              <a:spcAft>
                <a:spcPts val="200"/>
              </a:spcAft>
            </a:pPr>
            <a:r>
              <a:rPr sz="900" b="1">
                <a:solidFill>
                  <a:srgbClr val="4493F8"/>
                </a:solidFill>
                <a:latin typeface="Mona Sans"/>
              </a:rPr>
              <a:t>HOW TO GET STARTED</a:t>
            </a:r>
          </a:p>
          <a:p>
            <a:pPr>
              <a:spcAft>
                <a:spcPts val="200"/>
              </a:spcAft>
            </a:pPr>
            <a:r>
              <a:rPr sz="1100">
                <a:solidFill>
                  <a:srgbClr val="4493F8"/>
                </a:solidFill>
                <a:latin typeface="Mona Sans"/>
              </a:rPr>
              <a:t>•  </a:t>
            </a:r>
            <a:r>
              <a:rPr sz="1100">
                <a:solidFill>
                  <a:srgbClr val="C9D1D9"/>
                </a:solidFill>
                <a:latin typeface="Mona Sans"/>
              </a:rPr>
              <a:t>Assign an issue to Copilot — the </a:t>
            </a:r>
            <a:r>
              <a:rPr sz="1100" b="1">
                <a:solidFill>
                  <a:srgbClr val="E6EDF3"/>
                </a:solidFill>
                <a:latin typeface="Mona Sans"/>
              </a:rPr>
              <a:t>session pill</a:t>
            </a:r>
            <a:r>
              <a:rPr sz="1100">
                <a:solidFill>
                  <a:srgbClr val="C9D1D9"/>
                </a:solidFill>
                <a:latin typeface="Mona Sans"/>
              </a:rPr>
              <a:t> appears automatically in the issue header</a:t>
            </a:r>
          </a:p>
          <a:p>
            <a:pPr>
              <a:spcAft>
                <a:spcPts val="200"/>
              </a:spcAft>
            </a:pPr>
            <a:r>
              <a:rPr sz="1100">
                <a:solidFill>
                  <a:srgbClr val="4493F8"/>
                </a:solidFill>
                <a:latin typeface="Mona Sans"/>
              </a:rPr>
              <a:t>•  </a:t>
            </a:r>
            <a:r>
              <a:rPr sz="1100">
                <a:solidFill>
                  <a:srgbClr val="C9D1D9"/>
                </a:solidFill>
                <a:latin typeface="Mona Sans"/>
              </a:rPr>
              <a:t>Click the session to open the </a:t>
            </a:r>
            <a:r>
              <a:rPr sz="1100" b="1">
                <a:solidFill>
                  <a:srgbClr val="E6EDF3"/>
                </a:solidFill>
                <a:latin typeface="Mona Sans"/>
              </a:rPr>
              <a:t>side panel</a:t>
            </a:r>
            <a:r>
              <a:rPr sz="1100">
                <a:solidFill>
                  <a:srgbClr val="C9D1D9"/>
                </a:solidFill>
                <a:latin typeface="Mona Sans"/>
              </a:rPr>
              <a:t> and monitor progress or provide steering feedback</a:t>
            </a:r>
          </a:p>
          <a:p>
            <a:pPr>
              <a:spcAft>
                <a:spcPts val="200"/>
              </a:spcAft>
            </a:pPr>
            <a:r>
              <a:rPr sz="1100">
                <a:solidFill>
                  <a:srgbClr val="4493F8"/>
                </a:solidFill>
                <a:latin typeface="Mona Sans"/>
              </a:rPr>
              <a:t>•  </a:t>
            </a:r>
            <a:r>
              <a:rPr sz="1100">
                <a:solidFill>
                  <a:srgbClr val="C9D1D9"/>
                </a:solidFill>
                <a:latin typeface="Mona Sans"/>
              </a:rPr>
              <a:t>In </a:t>
            </a:r>
            <a:r>
              <a:rPr sz="1100" b="1">
                <a:solidFill>
                  <a:srgbClr val="E6EDF3"/>
                </a:solidFill>
                <a:latin typeface="Mona Sans"/>
              </a:rPr>
              <a:t>GitHub Projects</a:t>
            </a:r>
            <a:r>
              <a:rPr sz="1100">
                <a:solidFill>
                  <a:srgbClr val="C9D1D9"/>
                </a:solidFill>
                <a:latin typeface="Mona Sans"/>
              </a:rPr>
              <a:t>, sessions are visible by default — no configuration needed</a:t>
            </a:r>
          </a:p>
          <a:p>
            <a:pPr>
              <a:spcAft>
                <a:spcPts val="200"/>
              </a:spcAft>
            </a:pPr>
            <a:r>
              <a:rPr sz="1100">
                <a:solidFill>
                  <a:srgbClr val="4493F8"/>
                </a:solidFill>
                <a:latin typeface="Mona Sans"/>
              </a:rPr>
              <a:t>•  </a:t>
            </a:r>
            <a:r>
              <a:rPr sz="1100">
                <a:solidFill>
                  <a:srgbClr val="C9D1D9"/>
                </a:solidFill>
                <a:latin typeface="Mona Sans"/>
              </a:rPr>
              <a:t>Use the side panel in Projects to inspect session details without leaving the board view</a:t>
            </a:r>
          </a:p>
          <a:p>
            <a:pPr>
              <a:spcBef>
                <a:spcPts val="900"/>
              </a:spcBef>
              <a:spcAft>
                <a:spcPts val="200"/>
              </a:spcAft>
            </a:pPr>
            <a:r>
              <a:rPr sz="900" b="1">
                <a:solidFill>
                  <a:srgbClr val="4493F8"/>
                </a:solidFill>
                <a:latin typeface="Mona Sans"/>
              </a:rPr>
              <a:t>WHO GETS IT</a:t>
            </a:r>
          </a:p>
          <a:p>
            <a:pPr>
              <a:spcAft>
                <a:spcPts val="200"/>
              </a:spcAft>
            </a:pPr>
            <a:r>
              <a:rPr sz="1100">
                <a:solidFill>
                  <a:srgbClr val="4493F8"/>
                </a:solidFill>
                <a:latin typeface="Mona Sans"/>
              </a:rPr>
              <a:t>•  </a:t>
            </a:r>
            <a:r>
              <a:rPr sz="1100" b="1">
                <a:solidFill>
                  <a:srgbClr val="E6EDF3"/>
                </a:solidFill>
                <a:latin typeface="Mona Sans"/>
              </a:rPr>
              <a:t>All github.com users</a:t>
            </a:r>
            <a:r>
              <a:rPr sz="1100">
                <a:solidFill>
                  <a:srgbClr val="C9D1D9"/>
                </a:solidFill>
                <a:latin typeface="Mona Sans"/>
              </a:rPr>
              <a:t> — available now for Copilot, Claude, Codex, and compatible third-party agents</a:t>
            </a:r>
          </a:p>
          <a:p>
            <a:pPr>
              <a:spcAft>
                <a:spcPts val="200"/>
              </a:spcAft>
            </a:pPr>
            <a:r>
              <a:rPr sz="1100">
                <a:solidFill>
                  <a:srgbClr val="4493F8"/>
                </a:solidFill>
                <a:latin typeface="Mona Sans"/>
              </a:rPr>
              <a:t>•  </a:t>
            </a:r>
            <a:r>
              <a:rPr sz="1100" b="1">
                <a:solidFill>
                  <a:srgbClr val="E6EDF3"/>
                </a:solidFill>
                <a:latin typeface="Mona Sans"/>
              </a:rPr>
              <a:t>Project owners</a:t>
            </a:r>
            <a:r>
              <a:rPr sz="1100">
                <a:solidFill>
                  <a:srgbClr val="C9D1D9"/>
                </a:solidFill>
                <a:latin typeface="Mona Sans"/>
              </a:rPr>
              <a:t> — "Show agent sessions" is on by default for existing projects</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https://github.blog/changelog/2026-04-23-view-and-manage-agent-sessions-from-issues-and-projects/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2026-04-27</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Copilot cloud agent starts 20% faster with Actions custom images</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100" b="1">
                <a:solidFill>
                  <a:srgbClr val="E6EDF3"/>
                </a:solidFill>
                <a:latin typeface="Mona Sans"/>
              </a:defRPr>
            </a:pPr>
            <a:r>
              <a:t>Copilot cloud agent starts 20% faster with Actions custom images</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2026-04-27</a:t>
            </a:r>
          </a:p>
        </p:txBody>
      </p:sp>
      <p:sp>
        <p:nvSpPr>
          <p:cNvPr id="5" name="TextBox 4"/>
          <p:cNvSpPr txBox="1"/>
          <p:nvPr/>
        </p:nvSpPr>
        <p:spPr>
          <a:xfrm>
            <a:off x="731520" y="1005840"/>
            <a:ext cx="10515600" cy="4673600"/>
          </a:xfrm>
          <a:prstGeom prst="rect">
            <a:avLst/>
          </a:prstGeom>
          <a:noFill/>
        </p:spPr>
        <p:txBody>
          <a:bodyPr wrap="square">
            <a:spAutoFit/>
          </a:bodyPr>
          <a:lstStyle/>
          <a:p>
            <a:pPr>
              <a:spcBef>
                <a:spcPts val="600"/>
              </a:spcBef>
              <a:spcAft>
                <a:spcPts val="400"/>
              </a:spcAft>
            </a:pPr>
            <a:r>
              <a:rPr sz="1500" b="1">
                <a:solidFill>
                  <a:srgbClr val="E6EDF3"/>
                </a:solidFill>
                <a:latin typeface="Mona Sans"/>
              </a:rPr>
              <a:t>What changed</a:t>
            </a:r>
          </a:p>
          <a:p>
            <a:pPr>
              <a:spcAft>
                <a:spcPts val="600"/>
              </a:spcAft>
            </a:pPr>
            <a:r>
              <a:rPr sz="1200">
                <a:solidFill>
                  <a:srgbClr val="C9D1D9"/>
                </a:solidFill>
                <a:latin typeface="Mona Sans"/>
              </a:rPr>
              <a:t>The </a:t>
            </a:r>
            <a:r>
              <a:rPr sz="1200" b="1">
                <a:solidFill>
                  <a:srgbClr val="E6EDF3"/>
                </a:solidFill>
                <a:latin typeface="Mona Sans"/>
              </a:rPr>
              <a:t>Copilot cloud agent</a:t>
            </a:r>
            <a:r>
              <a:rPr sz="1200">
                <a:solidFill>
                  <a:srgbClr val="C9D1D9"/>
                </a:solidFill>
                <a:latin typeface="Mona Sans"/>
              </a:rPr>
              <a:t> now starts over </a:t>
            </a:r>
            <a:r>
              <a:rPr sz="1200" b="1">
                <a:solidFill>
                  <a:srgbClr val="E6EDF3"/>
                </a:solidFill>
                <a:latin typeface="Mona Sans"/>
              </a:rPr>
              <a:t>20% faster</a:t>
            </a:r>
            <a:r>
              <a:rPr sz="1200">
                <a:solidFill>
                  <a:srgbClr val="C9D1D9"/>
                </a:solidFill>
                <a:latin typeface="Mona Sans"/>
              </a:rPr>
              <a:t> thanks to optimized runner environments built as </a:t>
            </a:r>
            <a:r>
              <a:rPr sz="1200" b="1">
                <a:solidFill>
                  <a:srgbClr val="E6EDF3"/>
                </a:solidFill>
                <a:latin typeface="Mona Sans"/>
              </a:rPr>
              <a:t>GitHub Actions custom images</a:t>
            </a:r>
            <a:r>
              <a:rPr sz="1200">
                <a:solidFill>
                  <a:srgbClr val="C9D1D9"/>
                </a:solidFill>
                <a:latin typeface="Mona Sans"/>
              </a:rPr>
              <a:t>, continuing a series of cold-start improvements.</a:t>
            </a:r>
          </a:p>
          <a:p>
            <a:pPr>
              <a:spcBef>
                <a:spcPts val="1000"/>
              </a:spcBef>
              <a:spcAft>
                <a:spcPts val="300"/>
              </a:spcAft>
            </a:pPr>
            <a:r>
              <a:rPr sz="1000" b="1">
                <a:solidFill>
                  <a:srgbClr val="4493F8"/>
                </a:solidFill>
                <a:latin typeface="Mona Sans"/>
              </a:rPr>
              <a:t>WHY IT MATTERS</a:t>
            </a:r>
          </a:p>
          <a:p>
            <a:pPr>
              <a:spcAft>
                <a:spcPts val="300"/>
              </a:spcAft>
            </a:pPr>
            <a:r>
              <a:rPr sz="1200">
                <a:solidFill>
                  <a:srgbClr val="4493F8"/>
                </a:solidFill>
                <a:latin typeface="Mona Sans"/>
              </a:rPr>
              <a:t>•  </a:t>
            </a:r>
            <a:r>
              <a:rPr sz="1200" b="1">
                <a:solidFill>
                  <a:srgbClr val="E6EDF3"/>
                </a:solidFill>
                <a:latin typeface="Mona Sans"/>
              </a:rPr>
              <a:t>Shorter wait times</a:t>
            </a:r>
            <a:r>
              <a:rPr sz="1200">
                <a:solidFill>
                  <a:srgbClr val="C9D1D9"/>
                </a:solidFill>
                <a:latin typeface="Mona Sans"/>
              </a:rPr>
              <a:t> — less lag between assigning an issue and the agent beginning its first meaningful work</a:t>
            </a:r>
          </a:p>
          <a:p>
            <a:pPr>
              <a:spcAft>
                <a:spcPts val="300"/>
              </a:spcAft>
            </a:pPr>
            <a:r>
              <a:rPr sz="1200">
                <a:solidFill>
                  <a:srgbClr val="4493F8"/>
                </a:solidFill>
                <a:latin typeface="Mona Sans"/>
              </a:rPr>
              <a:t>•  </a:t>
            </a:r>
            <a:r>
              <a:rPr sz="1200" b="1">
                <a:solidFill>
                  <a:srgbClr val="E6EDF3"/>
                </a:solidFill>
                <a:latin typeface="Mona Sans"/>
              </a:rPr>
              <a:t>Faster feedback loops</a:t>
            </a:r>
            <a:r>
              <a:rPr sz="1200">
                <a:solidFill>
                  <a:srgbClr val="C9D1D9"/>
                </a:solidFill>
                <a:latin typeface="Mona Sans"/>
              </a:rPr>
              <a:t> — reduced cold-start overhead means high-volume teams see significantly less accumulated wait time per day</a:t>
            </a:r>
          </a:p>
          <a:p>
            <a:pPr>
              <a:spcAft>
                <a:spcPts val="300"/>
              </a:spcAft>
            </a:pPr>
            <a:r>
              <a:rPr sz="1200">
                <a:solidFill>
                  <a:srgbClr val="4493F8"/>
                </a:solidFill>
                <a:latin typeface="Mona Sans"/>
              </a:rPr>
              <a:t>•  </a:t>
            </a:r>
            <a:r>
              <a:rPr sz="1200" b="1">
                <a:solidFill>
                  <a:srgbClr val="E6EDF3"/>
                </a:solidFill>
                <a:latin typeface="Mona Sans"/>
              </a:rPr>
              <a:t>Deeper Actions integration</a:t>
            </a:r>
            <a:r>
              <a:rPr sz="1200">
                <a:solidFill>
                  <a:srgbClr val="C9D1D9"/>
                </a:solidFill>
                <a:latin typeface="Mona Sans"/>
              </a:rPr>
              <a:t> — the cloud agent runtime is now prebuilt as a custom Actions image</a:t>
            </a:r>
          </a:p>
          <a:p>
            <a:pPr>
              <a:spcAft>
                <a:spcPts val="300"/>
              </a:spcAft>
            </a:pPr>
            <a:r>
              <a:rPr sz="1200">
                <a:solidFill>
                  <a:srgbClr val="4493F8"/>
                </a:solidFill>
                <a:latin typeface="Mona Sans"/>
              </a:rPr>
              <a:t>•  </a:t>
            </a:r>
            <a:r>
              <a:rPr sz="1200" b="1">
                <a:solidFill>
                  <a:srgbClr val="E6EDF3"/>
                </a:solidFill>
                <a:latin typeface="Mona Sans"/>
              </a:rPr>
              <a:t>Cumulative gains</a:t>
            </a:r>
            <a:r>
              <a:rPr sz="1200">
                <a:solidFill>
                  <a:srgbClr val="C9D1D9"/>
                </a:solidFill>
                <a:latin typeface="Mona Sans"/>
              </a:rPr>
              <a:t> — this 20%+ improvement follows a 50% startup reduction in March</a:t>
            </a:r>
          </a:p>
          <a:p>
            <a:pPr>
              <a:spcBef>
                <a:spcPts val="1000"/>
              </a:spcBef>
              <a:spcAft>
                <a:spcPts val="300"/>
              </a:spcAft>
            </a:pPr>
            <a:r>
              <a:rPr sz="1000" b="1">
                <a:solidFill>
                  <a:srgbClr val="4493F8"/>
                </a:solidFill>
                <a:latin typeface="Mona Sans"/>
              </a:rPr>
              <a:t>DETAILS</a:t>
            </a:r>
          </a:p>
          <a:p>
            <a:pPr>
              <a:spcAft>
                <a:spcPts val="300"/>
              </a:spcAft>
            </a:pPr>
            <a:r>
              <a:rPr sz="1200">
                <a:solidFill>
                  <a:srgbClr val="4493F8"/>
                </a:solidFill>
                <a:latin typeface="Mona Sans"/>
              </a:rPr>
              <a:t>•  </a:t>
            </a:r>
            <a:r>
              <a:rPr sz="1200">
                <a:solidFill>
                  <a:srgbClr val="C9D1D9"/>
                </a:solidFill>
                <a:latin typeface="Mona Sans"/>
              </a:rPr>
              <a:t>When a developer assigns an issue to Copilot, starts a task from the Agents tab, or mentions @copilot in a PR, GitHub provisions a cloud workspace. The custom Actions image prebundles the environment so the agent is ready to analyze and execute almost immediately.</a:t>
            </a:r>
          </a:p>
          <a:p>
            <a:pPr>
              <a:spcBef>
                <a:spcPts val="1000"/>
              </a:spcBef>
              <a:spcAft>
                <a:spcPts val="300"/>
              </a:spcAft>
            </a:pPr>
            <a:r>
              <a:rPr sz="1000" b="1">
                <a:solidFill>
                  <a:srgbClr val="4493F8"/>
                </a:solidFill>
                <a:latin typeface="Mona Sans"/>
              </a:rPr>
              <a:t>WHO GETS IT</a:t>
            </a:r>
          </a:p>
          <a:p>
            <a:pPr>
              <a:spcAft>
                <a:spcPts val="300"/>
              </a:spcAft>
            </a:pPr>
            <a:r>
              <a:rPr sz="1200">
                <a:solidFill>
                  <a:srgbClr val="4493F8"/>
                </a:solidFill>
                <a:latin typeface="Mona Sans"/>
              </a:rPr>
              <a:t>•  </a:t>
            </a:r>
            <a:r>
              <a:rPr sz="1200" b="1">
                <a:solidFill>
                  <a:srgbClr val="E6EDF3"/>
                </a:solidFill>
                <a:latin typeface="Mona Sans"/>
              </a:rPr>
              <a:t>All Copilot users with cloud agent access</a:t>
            </a:r>
            <a:r>
              <a:rPr sz="1200">
                <a:solidFill>
                  <a:srgbClr val="C9D1D9"/>
                </a:solidFill>
                <a:latin typeface="Mona Sans"/>
              </a:rPr>
              <a:t> — improvement is automatic, no configuration required</a:t>
            </a:r>
          </a:p>
          <a:p>
            <a:pPr>
              <a:spcAft>
                <a:spcPts val="300"/>
              </a:spcAft>
            </a:pPr>
            <a:r>
              <a:rPr sz="1200">
                <a:solidFill>
                  <a:srgbClr val="4493F8"/>
                </a:solidFill>
                <a:latin typeface="Mona Sans"/>
              </a:rPr>
              <a:t>•  </a:t>
            </a:r>
            <a:r>
              <a:rPr sz="1200" b="1">
                <a:solidFill>
                  <a:srgbClr val="E6EDF3"/>
                </a:solidFill>
                <a:latin typeface="Mona Sans"/>
              </a:rPr>
              <a:t>Available now</a:t>
            </a:r>
            <a:r>
              <a:rPr sz="1200">
                <a:solidFill>
                  <a:srgbClr val="C9D1D9"/>
                </a:solidFill>
                <a:latin typeface="Mona Sans"/>
              </a:rPr>
              <a:t> — effective as of April 27, 2026</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https://github.blog/changelog/2026-04-27-copilot-cloud-agent-startup-over-20-faster-with-github-actions-images/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2026-04-27</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GitHub Copilot code review will start consuming GitHub Actions minutes on June 1, 2026</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4493F8"/>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GitHub Copilot code review will start consuming GitHub Actions minutes on June 1, 2026</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2026-04-27</a:t>
            </a:r>
          </a:p>
        </p:txBody>
      </p:sp>
      <p:sp>
        <p:nvSpPr>
          <p:cNvPr id="5" name="TextBox 4"/>
          <p:cNvSpPr txBox="1"/>
          <p:nvPr/>
        </p:nvSpPr>
        <p:spPr>
          <a:xfrm>
            <a:off x="731520" y="1005840"/>
            <a:ext cx="10515600" cy="4724400"/>
          </a:xfrm>
          <a:prstGeom prst="rect">
            <a:avLst/>
          </a:prstGeom>
          <a:noFill/>
        </p:spPr>
        <p:txBody>
          <a:bodyPr wrap="square">
            <a:spAutoFit/>
          </a:bodyPr>
          <a:lstStyle/>
          <a:p>
            <a:pPr>
              <a:spcBef>
                <a:spcPts val="500"/>
              </a:spcBef>
              <a:spcAft>
                <a:spcPts val="400"/>
              </a:spcAft>
            </a:pPr>
            <a:r>
              <a:rPr sz="1300" b="1">
                <a:solidFill>
                  <a:srgbClr val="E6EDF3"/>
                </a:solidFill>
                <a:latin typeface="Mona Sans"/>
              </a:rPr>
              <a:t>What changed</a:t>
            </a:r>
          </a:p>
          <a:p>
            <a:pPr>
              <a:spcAft>
                <a:spcPts val="500"/>
              </a:spcAft>
            </a:pPr>
            <a:r>
              <a:rPr sz="1100">
                <a:solidFill>
                  <a:srgbClr val="C9D1D9"/>
                </a:solidFill>
                <a:latin typeface="Mona Sans"/>
              </a:rPr>
              <a:t>Starting </a:t>
            </a:r>
            <a:r>
              <a:rPr sz="1100" b="1">
                <a:solidFill>
                  <a:srgbClr val="E6EDF3"/>
                </a:solidFill>
                <a:latin typeface="Mona Sans"/>
              </a:rPr>
              <a:t>June 1, 2026</a:t>
            </a:r>
            <a:r>
              <a:rPr sz="1100">
                <a:solidFill>
                  <a:srgbClr val="C9D1D9"/>
                </a:solidFill>
                <a:latin typeface="Mona Sans"/>
              </a:rPr>
              <a:t>, Copilot code review in </a:t>
            </a:r>
            <a:r>
              <a:rPr sz="1100" b="1">
                <a:solidFill>
                  <a:srgbClr val="E6EDF3"/>
                </a:solidFill>
                <a:latin typeface="Mona Sans"/>
              </a:rPr>
              <a:t>private repositories</a:t>
            </a:r>
            <a:r>
              <a:rPr sz="1100">
                <a:solidFill>
                  <a:srgbClr val="C9D1D9"/>
                </a:solidFill>
                <a:latin typeface="Mona Sans"/>
              </a:rPr>
              <a:t> will consume </a:t>
            </a:r>
            <a:r>
              <a:rPr sz="1100" b="1">
                <a:solidFill>
                  <a:srgbClr val="E6EDF3"/>
                </a:solidFill>
                <a:latin typeface="Mona Sans"/>
              </a:rPr>
              <a:t>both GitHub AI Credits and GitHub Actions minutes</a:t>
            </a:r>
            <a:r>
              <a:rPr sz="1100">
                <a:solidFill>
                  <a:srgbClr val="C9D1D9"/>
                </a:solidFill>
                <a:latin typeface="Mona Sans"/>
              </a:rPr>
              <a:t>, reflecting its move to a full agentic, tool-calling architecture.</a:t>
            </a:r>
          </a:p>
          <a:p>
            <a:pPr>
              <a:spcBef>
                <a:spcPts val="900"/>
              </a:spcBef>
              <a:spcAft>
                <a:spcPts val="200"/>
              </a:spcAft>
            </a:pPr>
            <a:r>
              <a:rPr sz="900" b="1">
                <a:solidFill>
                  <a:srgbClr val="4493F8"/>
                </a:solidFill>
                <a:latin typeface="Mona Sans"/>
              </a:rPr>
              <a:t>WHY IT MATTERS</a:t>
            </a:r>
          </a:p>
          <a:p>
            <a:pPr>
              <a:spcAft>
                <a:spcPts val="200"/>
              </a:spcAft>
            </a:pPr>
            <a:r>
              <a:rPr sz="1100">
                <a:solidFill>
                  <a:srgbClr val="4493F8"/>
                </a:solidFill>
                <a:latin typeface="Mona Sans"/>
              </a:rPr>
              <a:t>•  </a:t>
            </a:r>
            <a:r>
              <a:rPr sz="1100" b="1">
                <a:solidFill>
                  <a:srgbClr val="E6EDF3"/>
                </a:solidFill>
                <a:latin typeface="Mona Sans"/>
              </a:rPr>
              <a:t>Architecture upgrade</a:t>
            </a:r>
            <a:r>
              <a:rPr sz="1100">
                <a:solidFill>
                  <a:srgbClr val="C9D1D9"/>
                </a:solidFill>
                <a:latin typeface="Mona Sans"/>
              </a:rPr>
              <a:t> — Copilot code review now uses a full agentic tool-calling model that runs on GitHub Actions, enabling broader repository context in reviews</a:t>
            </a:r>
          </a:p>
          <a:p>
            <a:pPr>
              <a:spcAft>
                <a:spcPts val="200"/>
              </a:spcAft>
            </a:pPr>
            <a:r>
              <a:rPr sz="1100">
                <a:solidFill>
                  <a:srgbClr val="4493F8"/>
                </a:solidFill>
                <a:latin typeface="Mona Sans"/>
              </a:rPr>
              <a:t>•  </a:t>
            </a:r>
            <a:r>
              <a:rPr sz="1100" b="1">
                <a:solidFill>
                  <a:srgbClr val="E6EDF3"/>
                </a:solidFill>
                <a:latin typeface="Mona Sans"/>
              </a:rPr>
              <a:t>Billing change for private repos</a:t>
            </a:r>
            <a:r>
              <a:rPr sz="1100">
                <a:solidFill>
                  <a:srgbClr val="C9D1D9"/>
                </a:solidFill>
                <a:latin typeface="Mona Sans"/>
              </a:rPr>
              <a:t> — each review deducts Actions minutes from your plan's entitlement; overages billed at standard Actions rates</a:t>
            </a:r>
          </a:p>
          <a:p>
            <a:pPr>
              <a:spcAft>
                <a:spcPts val="200"/>
              </a:spcAft>
            </a:pPr>
            <a:r>
              <a:rPr sz="1100">
                <a:solidFill>
                  <a:srgbClr val="4493F8"/>
                </a:solidFill>
                <a:latin typeface="Mona Sans"/>
              </a:rPr>
              <a:t>•  </a:t>
            </a:r>
            <a:r>
              <a:rPr sz="1100" b="1">
                <a:solidFill>
                  <a:srgbClr val="E6EDF3"/>
                </a:solidFill>
                <a:latin typeface="Mona Sans"/>
              </a:rPr>
              <a:t>Public repos unaffected</a:t>
            </a:r>
            <a:r>
              <a:rPr sz="1100">
                <a:solidFill>
                  <a:srgbClr val="C9D1D9"/>
                </a:solidFill>
                <a:latin typeface="Mona Sans"/>
              </a:rPr>
              <a:t> — Copilot code review remains free in public repositories</a:t>
            </a:r>
          </a:p>
          <a:p>
            <a:pPr>
              <a:spcAft>
                <a:spcPts val="200"/>
              </a:spcAft>
            </a:pPr>
            <a:r>
              <a:rPr sz="1100">
                <a:solidFill>
                  <a:srgbClr val="4493F8"/>
                </a:solidFill>
                <a:latin typeface="Mona Sans"/>
              </a:rPr>
              <a:t>•  </a:t>
            </a:r>
            <a:r>
              <a:rPr sz="1100" b="1">
                <a:solidFill>
                  <a:srgbClr val="E6EDF3"/>
                </a:solidFill>
                <a:latin typeface="Mona Sans"/>
              </a:rPr>
              <a:t>Advance notice</a:t>
            </a:r>
            <a:r>
              <a:rPr sz="1100">
                <a:solidFill>
                  <a:srgbClr val="C9D1D9"/>
                </a:solidFill>
                <a:latin typeface="Mona Sans"/>
              </a:rPr>
              <a:t> — until June 1, 2026, code review is only counted against Copilot Premium Request Units (PRUs)</a:t>
            </a:r>
          </a:p>
          <a:p>
            <a:pPr>
              <a:spcBef>
                <a:spcPts val="900"/>
              </a:spcBef>
              <a:spcAft>
                <a:spcPts val="200"/>
              </a:spcAft>
            </a:pPr>
            <a:r>
              <a:rPr sz="900" b="1">
                <a:solidFill>
                  <a:srgbClr val="4493F8"/>
                </a:solidFill>
                <a:latin typeface="Mona Sans"/>
              </a:rPr>
              <a:t>HOW TO GET STARTED</a:t>
            </a:r>
          </a:p>
          <a:p>
            <a:pPr>
              <a:spcAft>
                <a:spcPts val="200"/>
              </a:spcAft>
            </a:pPr>
            <a:r>
              <a:rPr sz="1100">
                <a:solidFill>
                  <a:srgbClr val="4493F8"/>
                </a:solidFill>
                <a:latin typeface="Mona Sans"/>
              </a:rPr>
              <a:t>•  </a:t>
            </a:r>
            <a:r>
              <a:rPr sz="1100" b="1">
                <a:solidFill>
                  <a:srgbClr val="E6EDF3"/>
                </a:solidFill>
                <a:latin typeface="Mona Sans"/>
              </a:rPr>
              <a:t>Review current Actions usage</a:t>
            </a:r>
            <a:r>
              <a:rPr sz="1100">
                <a:solidFill>
                  <a:srgbClr val="C9D1D9"/>
                </a:solidFill>
                <a:latin typeface="Mona Sans"/>
              </a:rPr>
              <a:t> in Settings → Billing to understand your baseline</a:t>
            </a:r>
          </a:p>
          <a:p>
            <a:pPr>
              <a:spcAft>
                <a:spcPts val="200"/>
              </a:spcAft>
            </a:pPr>
            <a:r>
              <a:rPr sz="1100">
                <a:solidFill>
                  <a:srgbClr val="4493F8"/>
                </a:solidFill>
                <a:latin typeface="Mona Sans"/>
              </a:rPr>
              <a:t>•  </a:t>
            </a:r>
            <a:r>
              <a:rPr sz="1100" b="1">
                <a:solidFill>
                  <a:srgbClr val="E6EDF3"/>
                </a:solidFill>
                <a:latin typeface="Mona Sans"/>
              </a:rPr>
              <a:t>Set spending limits</a:t>
            </a:r>
            <a:r>
              <a:rPr sz="1100">
                <a:solidFill>
                  <a:srgbClr val="C9D1D9"/>
                </a:solidFill>
                <a:latin typeface="Mona Sans"/>
              </a:rPr>
              <a:t> for Actions to control potential overage costs</a:t>
            </a:r>
          </a:p>
          <a:p>
            <a:pPr>
              <a:spcAft>
                <a:spcPts val="200"/>
              </a:spcAft>
            </a:pPr>
            <a:r>
              <a:rPr sz="1100">
                <a:solidFill>
                  <a:srgbClr val="4493F8"/>
                </a:solidFill>
                <a:latin typeface="Mona Sans"/>
              </a:rPr>
              <a:t>•  </a:t>
            </a:r>
            <a:r>
              <a:rPr sz="1100" b="1">
                <a:solidFill>
                  <a:srgbClr val="E6EDF3"/>
                </a:solidFill>
                <a:latin typeface="Mona Sans"/>
              </a:rPr>
              <a:t>Monitor Copilot + Actions usage</a:t>
            </a:r>
            <a:r>
              <a:rPr sz="1100">
                <a:solidFill>
                  <a:srgbClr val="C9D1D9"/>
                </a:solidFill>
                <a:latin typeface="Mona Sans"/>
              </a:rPr>
              <a:t> via the Billing Usage Report after June 1</a:t>
            </a:r>
          </a:p>
          <a:p>
            <a:pPr>
              <a:spcAft>
                <a:spcPts val="200"/>
              </a:spcAft>
            </a:pPr>
            <a:r>
              <a:rPr sz="1100">
                <a:solidFill>
                  <a:srgbClr val="4493F8"/>
                </a:solidFill>
                <a:latin typeface="Mona Sans"/>
              </a:rPr>
              <a:t>•  </a:t>
            </a:r>
            <a:r>
              <a:rPr sz="1100">
                <a:solidFill>
                  <a:srgbClr val="C9D1D9"/>
                </a:solidFill>
                <a:latin typeface="Mona Sans"/>
              </a:rPr>
              <a:t>Optionally </a:t>
            </a:r>
            <a:r>
              <a:rPr sz="1100" b="1">
                <a:solidFill>
                  <a:srgbClr val="E6EDF3"/>
                </a:solidFill>
                <a:latin typeface="Mona Sans"/>
              </a:rPr>
              <a:t>adjust code review policies</a:t>
            </a:r>
            <a:r>
              <a:rPr sz="1100">
                <a:solidFill>
                  <a:srgbClr val="C9D1D9"/>
                </a:solidFill>
                <a:latin typeface="Mona Sans"/>
              </a:rPr>
              <a:t> (frequency, triggers) if budget constraints apply</a:t>
            </a:r>
          </a:p>
          <a:p>
            <a:pPr>
              <a:spcBef>
                <a:spcPts val="900"/>
              </a:spcBef>
              <a:spcAft>
                <a:spcPts val="200"/>
              </a:spcAft>
            </a:pPr>
            <a:r>
              <a:rPr sz="900" b="1">
                <a:solidFill>
                  <a:srgbClr val="4493F8"/>
                </a:solidFill>
                <a:latin typeface="Mona Sans"/>
              </a:rPr>
              <a:t>WHO GETS IT</a:t>
            </a:r>
          </a:p>
          <a:p>
            <a:pPr>
              <a:spcAft>
                <a:spcPts val="200"/>
              </a:spcAft>
            </a:pPr>
            <a:r>
              <a:rPr sz="1100">
                <a:solidFill>
                  <a:srgbClr val="4493F8"/>
                </a:solidFill>
                <a:latin typeface="Mona Sans"/>
              </a:rPr>
              <a:t>•  </a:t>
            </a:r>
            <a:r>
              <a:rPr sz="1100" b="1">
                <a:solidFill>
                  <a:srgbClr val="E6EDF3"/>
                </a:solidFill>
                <a:latin typeface="Mona Sans"/>
              </a:rPr>
              <a:t>Copilot Pro, Pro+, Business, and Enterprise</a:t>
            </a:r>
            <a:r>
              <a:rPr sz="1100">
                <a:solidFill>
                  <a:srgbClr val="C9D1D9"/>
                </a:solidFill>
                <a:latin typeface="Mona Sans"/>
              </a:rPr>
              <a:t> — applies to code review in private repositories</a:t>
            </a:r>
          </a:p>
          <a:p>
            <a:pPr>
              <a:spcAft>
                <a:spcPts val="200"/>
              </a:spcAft>
            </a:pPr>
            <a:r>
              <a:rPr sz="1100">
                <a:solidFill>
                  <a:srgbClr val="4493F8"/>
                </a:solidFill>
                <a:latin typeface="Mona Sans"/>
              </a:rPr>
              <a:t>•  </a:t>
            </a:r>
            <a:r>
              <a:rPr sz="1100" b="1">
                <a:solidFill>
                  <a:srgbClr val="E6EDF3"/>
                </a:solidFill>
                <a:latin typeface="Mona Sans"/>
              </a:rPr>
              <a:t>Effective date</a:t>
            </a:r>
            <a:r>
              <a:rPr sz="1100">
                <a:solidFill>
                  <a:srgbClr val="C9D1D9"/>
                </a:solidFill>
                <a:latin typeface="Mona Sans"/>
              </a:rPr>
              <a:t> — June 1, 2026; no billing change before that date</a:t>
            </a:r>
          </a:p>
        </p:txBody>
      </p:sp>
      <p:sp>
        <p:nvSpPr>
          <p:cNvPr id="6" name="TextBox 5"/>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https://github.blog/changelog/2026-04-27-github-copilot-code-review-will-start-consuming-github-actions-minutes-on-june-1-2026/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914400" y="2286000"/>
            <a:ext cx="10362895" cy="1371600"/>
          </a:xfrm>
          <a:prstGeom prst="rect">
            <a:avLst/>
          </a:prstGeom>
          <a:noFill/>
        </p:spPr>
        <p:txBody>
          <a:bodyPr wrap="square">
            <a:spAutoFit/>
          </a:bodyPr>
          <a:lstStyle/>
          <a:p>
            <a:pPr algn="ctr">
              <a:defRPr sz="4000" b="1">
                <a:solidFill>
                  <a:srgbClr val="F85449"/>
                </a:solidFill>
                <a:latin typeface="Mona Sans"/>
              </a:defRPr>
            </a:pPr>
            <a:r>
              <a:t>⚠️  Deprecations</a:t>
            </a:r>
          </a:p>
        </p:txBody>
      </p:sp>
      <p:sp>
        <p:nvSpPr>
          <p:cNvPr id="3" name="TextBox 2"/>
          <p:cNvSpPr txBox="1"/>
          <p:nvPr/>
        </p:nvSpPr>
        <p:spPr>
          <a:xfrm>
            <a:off x="914400" y="3840480"/>
            <a:ext cx="10362895" cy="731520"/>
          </a:xfrm>
          <a:prstGeom prst="rect">
            <a:avLst/>
          </a:prstGeom>
          <a:noFill/>
        </p:spPr>
        <p:txBody>
          <a:bodyPr wrap="square">
            <a:spAutoFit/>
          </a:bodyPr>
          <a:lstStyle/>
          <a:p>
            <a:pPr algn="ctr">
              <a:defRPr sz="2000" b="0">
                <a:solidFill>
                  <a:srgbClr val="848D97"/>
                </a:solidFill>
                <a:latin typeface="Mona Sans"/>
              </a:defRPr>
            </a:pPr>
            <a:r>
              <a:t>2 updates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F85449"/>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2026-04-20</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Changes to GitHub Copilot plans for individuals</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F85449"/>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000" b="1">
                <a:solidFill>
                  <a:srgbClr val="E6EDF3"/>
                </a:solidFill>
                <a:latin typeface="Mona Sans"/>
              </a:defRPr>
            </a:pPr>
            <a:r>
              <a:t>Changes to GitHub Copilot plans for individuals</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2026-04-20</a:t>
            </a:r>
          </a:p>
        </p:txBody>
      </p:sp>
      <p:sp>
        <p:nvSpPr>
          <p:cNvPr id="5" name="TextBox 4"/>
          <p:cNvSpPr txBox="1"/>
          <p:nvPr/>
        </p:nvSpPr>
        <p:spPr>
          <a:xfrm>
            <a:off x="731520" y="1005840"/>
            <a:ext cx="10515600" cy="952500"/>
          </a:xfrm>
          <a:prstGeom prst="rect">
            <a:avLst/>
          </a:prstGeom>
          <a:noFill/>
        </p:spPr>
        <p:txBody>
          <a:bodyPr wrap="square">
            <a:spAutoFit/>
          </a:bodyPr>
          <a:lstStyle/>
          <a:p>
            <a:pPr>
              <a:spcBef>
                <a:spcPts val="500"/>
              </a:spcBef>
              <a:spcAft>
                <a:spcPts val="300"/>
              </a:spcAft>
            </a:pPr>
            <a:r>
              <a:rPr sz="1300" b="1">
                <a:solidFill>
                  <a:srgbClr val="E6EDF3"/>
                </a:solidFill>
                <a:latin typeface="Mona Sans"/>
              </a:rPr>
              <a:t>What's deprecated</a:t>
            </a:r>
          </a:p>
          <a:p>
            <a:pPr>
              <a:spcAft>
                <a:spcPts val="500"/>
              </a:spcAft>
            </a:pPr>
            <a:r>
              <a:rPr sz="1000">
                <a:solidFill>
                  <a:srgbClr val="C9D1D9"/>
                </a:solidFill>
                <a:latin typeface="Mona Sans"/>
              </a:rPr>
              <a:t>New sign-ups for </a:t>
            </a:r>
            <a:r>
              <a:rPr sz="1000" b="1">
                <a:solidFill>
                  <a:srgbClr val="E6EDF3"/>
                </a:solidFill>
                <a:latin typeface="Mona Sans"/>
              </a:rPr>
              <a:t>Copilot Pro</a:t>
            </a:r>
            <a:r>
              <a:rPr sz="1000">
                <a:solidFill>
                  <a:srgbClr val="C9D1D9"/>
                </a:solidFill>
                <a:latin typeface="Mona Sans"/>
              </a:rPr>
              <a:t>, </a:t>
            </a:r>
            <a:r>
              <a:rPr sz="1000" b="1">
                <a:solidFill>
                  <a:srgbClr val="E6EDF3"/>
                </a:solidFill>
                <a:latin typeface="Mona Sans"/>
              </a:rPr>
              <a:t>Copilot Pro+</a:t>
            </a:r>
            <a:r>
              <a:rPr sz="1000">
                <a:solidFill>
                  <a:srgbClr val="C9D1D9"/>
                </a:solidFill>
                <a:latin typeface="Mona Sans"/>
              </a:rPr>
              <a:t>, and </a:t>
            </a:r>
            <a:r>
              <a:rPr sz="1000" b="1">
                <a:solidFill>
                  <a:srgbClr val="E6EDF3"/>
                </a:solidFill>
                <a:latin typeface="Mona Sans"/>
              </a:rPr>
              <a:t>Student plans</a:t>
            </a:r>
            <a:r>
              <a:rPr sz="1000">
                <a:solidFill>
                  <a:srgbClr val="C9D1D9"/>
                </a:solidFill>
                <a:latin typeface="Mona Sans"/>
              </a:rPr>
              <a:t> are </a:t>
            </a:r>
            <a:r>
              <a:rPr sz="1000" b="1">
                <a:solidFill>
                  <a:srgbClr val="E6EDF3"/>
                </a:solidFill>
                <a:latin typeface="Mona Sans"/>
              </a:rPr>
              <a:t>paused as of April 20, 2026</a:t>
            </a:r>
            <a:r>
              <a:rPr sz="1000">
                <a:solidFill>
                  <a:srgbClr val="C9D1D9"/>
                </a:solidFill>
                <a:latin typeface="Mona Sans"/>
              </a:rPr>
              <a:t> due to increased compute demand from agentic workflows. Certain premium models are removed from lower-tier plans.</a:t>
            </a:r>
          </a:p>
        </p:txBody>
      </p:sp>
      <p:graphicFrame>
        <p:nvGraphicFramePr>
          <p:cNvPr id="6" name="Table 5"/>
          <p:cNvGraphicFramePr>
            <a:graphicFrameLocks noGrp="1"/>
          </p:cNvGraphicFramePr>
          <p:nvPr/>
        </p:nvGraphicFramePr>
        <p:xfrm>
          <a:off x="731520" y="2059940"/>
          <a:ext cx="9601200" cy="1737360"/>
        </p:xfrm>
        <a:graphic>
          <a:graphicData uri="http://schemas.openxmlformats.org/drawingml/2006/table">
            <a:tbl>
              <a:tblPr firstRow="1" bandRow="0" bandCol="0">
                <a:tableStyleId>{5C22544A-7EE6-4342-B048-85BDC9FD1C3A}</a:tableStyleId>
              </a:tblPr>
              <a:tblGrid>
                <a:gridCol w="4800600"/>
                <a:gridCol w="4800600"/>
              </a:tblGrid>
              <a:tr h="347472">
                <a:tc>
                  <a:txBody>
                    <a:bodyPr/>
                    <a:lstStyle/>
                    <a:p>
                      <a:pPr>
                        <a:defRPr sz="900" b="1">
                          <a:solidFill>
                            <a:srgbClr val="E6EDF3"/>
                          </a:solidFill>
                          <a:latin typeface="Mona Sans"/>
                        </a:defRPr>
                      </a:pPr>
                      <a:r>
                        <a:t>Change</a:t>
                      </a:r>
                    </a:p>
                  </a:txBody>
                  <a:tcPr>
                    <a:solidFill>
                      <a:srgbClr val="161B22"/>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900" b="1">
                          <a:solidFill>
                            <a:srgbClr val="E6EDF3"/>
                          </a:solidFill>
                          <a:latin typeface="Mona Sans"/>
                        </a:defRPr>
                      </a:pPr>
                      <a:r>
                        <a:t>Affected plan(s)</a:t>
                      </a:r>
                    </a:p>
                  </a:txBody>
                  <a:tcPr>
                    <a:solidFill>
                      <a:srgbClr val="161B22"/>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47472">
                <a:tc>
                  <a:txBody>
                    <a:bodyPr/>
                    <a:lstStyle/>
                    <a:p>
                      <a:pPr>
                        <a:defRPr sz="900" b="0">
                          <a:solidFill>
                            <a:srgbClr val="C9D1D9"/>
                          </a:solidFill>
                          <a:latin typeface="Mona Sans"/>
                        </a:defRPr>
                      </a:pPr>
                      <a:r>
                        <a:t>New sign-ups paused</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900" b="0">
                          <a:solidFill>
                            <a:srgbClr val="C9D1D9"/>
                          </a:solidFill>
                          <a:latin typeface="Mona Sans"/>
                        </a:defRPr>
                      </a:pPr>
                      <a:r>
                        <a:t>Copilot Pro, Pro+, Student</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47472">
                <a:tc>
                  <a:txBody>
                    <a:bodyPr/>
                    <a:lstStyle/>
                    <a:p>
                      <a:pPr>
                        <a:defRPr sz="900" b="0">
                          <a:solidFill>
                            <a:srgbClr val="C9D1D9"/>
                          </a:solidFill>
                          <a:latin typeface="Mona Sans"/>
                        </a:defRPr>
                      </a:pPr>
                      <a:r>
                        <a:t>Opus models removed</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900" b="0">
                          <a:solidFill>
                            <a:srgbClr val="C9D1D9"/>
                          </a:solidFill>
                          <a:latin typeface="Mona Sans"/>
                        </a:defRPr>
                      </a:pPr>
                      <a:r>
                        <a:t>Copilot Pro</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47472">
                <a:tc>
                  <a:txBody>
                    <a:bodyPr/>
                    <a:lstStyle/>
                    <a:p>
                      <a:pPr>
                        <a:defRPr sz="900" b="0">
                          <a:solidFill>
                            <a:srgbClr val="C9D1D9"/>
                          </a:solidFill>
                          <a:latin typeface="Mona Sans"/>
                        </a:defRPr>
                      </a:pPr>
                      <a:r>
                        <a:t>Opus 4.5 and 4.6 to be removed</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900" b="0">
                          <a:solidFill>
                            <a:srgbClr val="C9D1D9"/>
                          </a:solidFill>
                          <a:latin typeface="Mona Sans"/>
                        </a:defRPr>
                      </a:pPr>
                      <a:r>
                        <a:t>Copilot Pro+</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47472">
                <a:tc>
                  <a:txBody>
                    <a:bodyPr/>
                    <a:lstStyle/>
                    <a:p>
                      <a:pPr>
                        <a:defRPr sz="900" b="0">
                          <a:solidFill>
                            <a:srgbClr val="C9D1D9"/>
                          </a:solidFill>
                          <a:latin typeface="Mona Sans"/>
                        </a:defRPr>
                      </a:pPr>
                      <a:r>
                        <a:t>Usage limits tightened</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900" b="0">
                          <a:solidFill>
                            <a:srgbClr val="C9D1D9"/>
                          </a:solidFill>
                          <a:latin typeface="Mona Sans"/>
                        </a:defRPr>
                      </a:pPr>
                      <a:r>
                        <a:t>Copilot Pro, Pro+, Student, Free trial</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bl>
          </a:graphicData>
        </a:graphic>
      </p:graphicFrame>
      <p:sp>
        <p:nvSpPr>
          <p:cNvPr id="7" name="TextBox 6"/>
          <p:cNvSpPr txBox="1"/>
          <p:nvPr/>
        </p:nvSpPr>
        <p:spPr>
          <a:xfrm>
            <a:off x="731520" y="3949700"/>
            <a:ext cx="10515600" cy="2268220"/>
          </a:xfrm>
          <a:prstGeom prst="rect">
            <a:avLst/>
          </a:prstGeom>
          <a:noFill/>
        </p:spPr>
        <p:txBody>
          <a:bodyPr wrap="square">
            <a:spAutoFit/>
          </a:bodyPr>
          <a:lstStyle/>
          <a:p>
            <a:pPr>
              <a:spcBef>
                <a:spcPts val="900"/>
              </a:spcBef>
              <a:spcAft>
                <a:spcPts val="200"/>
              </a:spcAft>
            </a:pPr>
            <a:r>
              <a:rPr sz="900" b="1">
                <a:solidFill>
                  <a:srgbClr val="F85449"/>
                </a:solidFill>
                <a:latin typeface="Mona Sans"/>
              </a:rPr>
              <a:t>ACTION REQUIRED</a:t>
            </a:r>
          </a:p>
          <a:p>
            <a:pPr>
              <a:spcAft>
                <a:spcPts val="200"/>
              </a:spcAft>
            </a:pPr>
            <a:r>
              <a:rPr sz="1000">
                <a:solidFill>
                  <a:srgbClr val="F85449"/>
                </a:solidFill>
                <a:latin typeface="Mona Sans"/>
              </a:rPr>
              <a:t>•  </a:t>
            </a:r>
            <a:r>
              <a:rPr sz="1000" b="1">
                <a:solidFill>
                  <a:srgbClr val="E6EDF3"/>
                </a:solidFill>
                <a:latin typeface="Mona Sans"/>
              </a:rPr>
              <a:t>Existing subscribers dissatisfied with changes</a:t>
            </a:r>
            <a:r>
              <a:rPr sz="1000">
                <a:solidFill>
                  <a:srgbClr val="C9D1D9"/>
                </a:solidFill>
                <a:latin typeface="Mona Sans"/>
              </a:rPr>
              <a:t> → cancel and request a refund via Settings → Billing and licensing → Licensing → Manage subscription (available until </a:t>
            </a:r>
            <a:r>
              <a:rPr sz="1000" b="1">
                <a:solidFill>
                  <a:srgbClr val="E6EDF3"/>
                </a:solidFill>
                <a:latin typeface="Mona Sans"/>
              </a:rPr>
              <a:t>May 20, 2026</a:t>
            </a:r>
            <a:r>
              <a:rPr sz="1000">
                <a:solidFill>
                  <a:srgbClr val="C9D1D9"/>
                </a:solidFill>
                <a:latin typeface="Mona Sans"/>
              </a:rPr>
              <a:t>)</a:t>
            </a:r>
          </a:p>
          <a:p>
            <a:pPr>
              <a:spcAft>
                <a:spcPts val="200"/>
              </a:spcAft>
            </a:pPr>
            <a:r>
              <a:rPr sz="1000">
                <a:solidFill>
                  <a:srgbClr val="F85449"/>
                </a:solidFill>
                <a:latin typeface="Mona Sans"/>
              </a:rPr>
              <a:t>•  </a:t>
            </a:r>
            <a:r>
              <a:rPr sz="1000" b="1">
                <a:solidFill>
                  <a:srgbClr val="E6EDF3"/>
                </a:solidFill>
                <a:latin typeface="Mona Sans"/>
              </a:rPr>
              <a:t>New users wanting Copilot</a:t>
            </a:r>
            <a:r>
              <a:rPr sz="1000">
                <a:solidFill>
                  <a:srgbClr val="C9D1D9"/>
                </a:solidFill>
                <a:latin typeface="Mona Sans"/>
              </a:rPr>
              <a:t> → Copilot Free remains available for new sign-ups</a:t>
            </a:r>
          </a:p>
          <a:p>
            <a:pPr>
              <a:spcAft>
                <a:spcPts val="200"/>
              </a:spcAft>
            </a:pPr>
            <a:r>
              <a:rPr sz="1000">
                <a:solidFill>
                  <a:srgbClr val="F85449"/>
                </a:solidFill>
                <a:latin typeface="Mona Sans"/>
              </a:rPr>
              <a:t>•  </a:t>
            </a:r>
            <a:r>
              <a:rPr sz="1000" b="1">
                <a:solidFill>
                  <a:srgbClr val="E6EDF3"/>
                </a:solidFill>
                <a:latin typeface="Mona Sans"/>
              </a:rPr>
              <a:t>Teams monitoring usage</a:t>
            </a:r>
            <a:r>
              <a:rPr sz="1000">
                <a:solidFill>
                  <a:srgbClr val="C9D1D9"/>
                </a:solidFill>
                <a:latin typeface="Mona Sans"/>
              </a:rPr>
              <a:t> → check VS Code and Copilot CLI usage alerts as new limits take effect</a:t>
            </a:r>
          </a:p>
          <a:p>
            <a:pPr>
              <a:spcAft>
                <a:spcPts val="200"/>
              </a:spcAft>
            </a:pPr>
            <a:r>
              <a:rPr sz="1000">
                <a:solidFill>
                  <a:srgbClr val="F85449"/>
                </a:solidFill>
                <a:latin typeface="Mona Sans"/>
              </a:rPr>
              <a:t>•  </a:t>
            </a:r>
            <a:r>
              <a:rPr sz="1000" b="1">
                <a:solidFill>
                  <a:srgbClr val="E6EDF3"/>
                </a:solidFill>
                <a:latin typeface="Mona Sans"/>
              </a:rPr>
              <a:t>Admins reviewing model access</a:t>
            </a:r>
            <a:r>
              <a:rPr sz="1000">
                <a:solidFill>
                  <a:srgbClr val="C9D1D9"/>
                </a:solidFill>
                <a:latin typeface="Mona Sans"/>
              </a:rPr>
              <a:t> → audit which Opus models are still accessible on current plans</a:t>
            </a:r>
          </a:p>
          <a:p>
            <a:pPr>
              <a:spcBef>
                <a:spcPts val="900"/>
              </a:spcBef>
              <a:spcAft>
                <a:spcPts val="200"/>
              </a:spcAft>
            </a:pPr>
            <a:r>
              <a:rPr sz="900" b="1">
                <a:solidFill>
                  <a:srgbClr val="F85449"/>
                </a:solidFill>
                <a:latin typeface="Mona Sans"/>
              </a:rPr>
              <a:t>TIMELINE</a:t>
            </a:r>
          </a:p>
          <a:p>
            <a:pPr>
              <a:spcAft>
                <a:spcPts val="200"/>
              </a:spcAft>
            </a:pPr>
            <a:r>
              <a:rPr sz="1000">
                <a:solidFill>
                  <a:srgbClr val="F85449"/>
                </a:solidFill>
                <a:latin typeface="Mona Sans"/>
              </a:rPr>
              <a:t>•  </a:t>
            </a:r>
            <a:r>
              <a:rPr sz="1000" b="1">
                <a:solidFill>
                  <a:srgbClr val="E6EDF3"/>
                </a:solidFill>
                <a:latin typeface="Mona Sans"/>
              </a:rPr>
              <a:t>April 20, 2026</a:t>
            </a:r>
            <a:r>
              <a:rPr sz="1000">
                <a:solidFill>
                  <a:srgbClr val="C9D1D9"/>
                </a:solidFill>
                <a:latin typeface="Mona Sans"/>
              </a:rPr>
              <a:t> — new Pro, Pro+, Student sign-ups paused; Opus models removed from Pro</a:t>
            </a:r>
          </a:p>
          <a:p>
            <a:pPr>
              <a:spcAft>
                <a:spcPts val="200"/>
              </a:spcAft>
            </a:pPr>
            <a:r>
              <a:rPr sz="1000">
                <a:solidFill>
                  <a:srgbClr val="F85449"/>
                </a:solidFill>
                <a:latin typeface="Mona Sans"/>
              </a:rPr>
              <a:t>•  </a:t>
            </a:r>
            <a:r>
              <a:rPr sz="1000" b="1">
                <a:solidFill>
                  <a:srgbClr val="E6EDF3"/>
                </a:solidFill>
                <a:latin typeface="Mona Sans"/>
              </a:rPr>
              <a:t>Soon</a:t>
            </a:r>
            <a:r>
              <a:rPr sz="1000">
                <a:solidFill>
                  <a:srgbClr val="C9D1D9"/>
                </a:solidFill>
                <a:latin typeface="Mona Sans"/>
              </a:rPr>
              <a:t> — Opus 4.5 and 4.6 removed from Pro+</a:t>
            </a:r>
          </a:p>
          <a:p>
            <a:pPr>
              <a:spcAft>
                <a:spcPts val="200"/>
              </a:spcAft>
            </a:pPr>
            <a:r>
              <a:rPr sz="1000">
                <a:solidFill>
                  <a:srgbClr val="F85449"/>
                </a:solidFill>
                <a:latin typeface="Mona Sans"/>
              </a:rPr>
              <a:t>•  </a:t>
            </a:r>
            <a:r>
              <a:rPr sz="1000" b="1">
                <a:solidFill>
                  <a:srgbClr val="E6EDF3"/>
                </a:solidFill>
                <a:latin typeface="Mona Sans"/>
              </a:rPr>
              <a:t>May 20, 2026</a:t>
            </a:r>
            <a:r>
              <a:rPr sz="1000">
                <a:solidFill>
                  <a:srgbClr val="C9D1D9"/>
                </a:solidFill>
                <a:latin typeface="Mona Sans"/>
              </a:rPr>
              <a:t> — deadline to request refund for existing Pro/Pro+ subscribers</a:t>
            </a:r>
          </a:p>
        </p:txBody>
      </p:sp>
      <p:sp>
        <p:nvSpPr>
          <p:cNvPr id="8" name="TextBox 7"/>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https://github.blog/changelog/2026-04-20-changes-to-github-copilot-plans-for-individuals/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F85449"/>
          </a:solidFill>
        </p:spPr>
        <p:txBody>
          <a:bodyPr wrap="none">
            <a:spAutoFit/>
          </a:bodyPr>
          <a:lstStyle/>
          <a:p/>
        </p:txBody>
      </p:sp>
      <p:sp>
        <p:nvSpPr>
          <p:cNvPr id="3" name="TextBox 2"/>
          <p:cNvSpPr txBox="1"/>
          <p:nvPr/>
        </p:nvSpPr>
        <p:spPr>
          <a:xfrm>
            <a:off x="9144000" y="274320"/>
            <a:ext cx="2560320" cy="365760"/>
          </a:xfrm>
          <a:prstGeom prst="rect">
            <a:avLst/>
          </a:prstGeom>
          <a:noFill/>
        </p:spPr>
        <p:txBody>
          <a:bodyPr wrap="square">
            <a:spAutoFit/>
          </a:bodyPr>
          <a:lstStyle/>
          <a:p>
            <a:pPr algn="r">
              <a:defRPr sz="1200" b="0">
                <a:solidFill>
                  <a:srgbClr val="848D97"/>
                </a:solidFill>
                <a:latin typeface="Consolas"/>
              </a:defRPr>
            </a:pPr>
            <a:r>
              <a:t>2026-04-22</a:t>
            </a:r>
          </a:p>
        </p:txBody>
      </p:sp>
      <p:sp>
        <p:nvSpPr>
          <p:cNvPr id="4" name="TextBox 3"/>
          <p:cNvSpPr txBox="1"/>
          <p:nvPr/>
        </p:nvSpPr>
        <p:spPr>
          <a:xfrm>
            <a:off x="731520" y="731520"/>
            <a:ext cx="10515600" cy="1828800"/>
          </a:xfrm>
          <a:prstGeom prst="rect">
            <a:avLst/>
          </a:prstGeom>
          <a:noFill/>
        </p:spPr>
        <p:txBody>
          <a:bodyPr wrap="square">
            <a:spAutoFit/>
          </a:bodyPr>
          <a:lstStyle/>
          <a:p>
            <a:pPr algn="ctr">
              <a:defRPr sz="3600" b="1">
                <a:solidFill>
                  <a:srgbClr val="E6EDF3"/>
                </a:solidFill>
                <a:latin typeface="Mona Sans"/>
              </a:defRPr>
            </a:pPr>
            <a:r>
              <a:t>Pausing new self-serve signups for GitHub Copilot Business</a:t>
            </a:r>
          </a:p>
        </p:txBody>
      </p:sp>
      <p:pic>
        <p:nvPicPr>
          <p:cNvPr id="5" name="Picture 4" descr="image.png"/>
          <p:cNvPicPr>
            <a:picLocks noChangeAspect="1"/>
          </p:cNvPicPr>
          <p:nvPr/>
        </p:nvPicPr>
        <p:blipFill>
          <a:blip r:embed="rId2"/>
          <a:stretch>
            <a:fillRect/>
          </a:stretch>
        </p:blipFill>
        <p:spPr>
          <a:xfrm>
            <a:off x="1523847" y="2743200"/>
            <a:ext cx="9144000" cy="2524592"/>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0" y="0"/>
            <a:ext cx="12191695" cy="50800"/>
          </a:xfrm>
          <a:prstGeom prst="rect">
            <a:avLst/>
          </a:prstGeom>
          <a:solidFill>
            <a:srgbClr val="F85449"/>
          </a:solidFill>
        </p:spPr>
        <p:txBody>
          <a:bodyPr wrap="none">
            <a:spAutoFit/>
          </a:bodyPr>
          <a:lstStyle/>
          <a:p/>
        </p:txBody>
      </p:sp>
      <p:sp>
        <p:nvSpPr>
          <p:cNvPr id="3" name="TextBox 2"/>
          <p:cNvSpPr txBox="1"/>
          <p:nvPr/>
        </p:nvSpPr>
        <p:spPr>
          <a:xfrm>
            <a:off x="731520" y="182880"/>
            <a:ext cx="8686800" cy="914400"/>
          </a:xfrm>
          <a:prstGeom prst="rect">
            <a:avLst/>
          </a:prstGeom>
          <a:noFill/>
        </p:spPr>
        <p:txBody>
          <a:bodyPr wrap="square">
            <a:spAutoFit/>
          </a:bodyPr>
          <a:lstStyle/>
          <a:p>
            <a:pPr algn="l">
              <a:defRPr sz="2100" b="1">
                <a:solidFill>
                  <a:srgbClr val="E6EDF3"/>
                </a:solidFill>
                <a:latin typeface="Mona Sans"/>
              </a:defRPr>
            </a:pPr>
            <a:r>
              <a:t>Pausing new self-serve signups for GitHub Copilot Business</a:t>
            </a:r>
          </a:p>
        </p:txBody>
      </p:sp>
      <p:sp>
        <p:nvSpPr>
          <p:cNvPr id="4" name="TextBox 3"/>
          <p:cNvSpPr txBox="1"/>
          <p:nvPr/>
        </p:nvSpPr>
        <p:spPr>
          <a:xfrm>
            <a:off x="9601200" y="274320"/>
            <a:ext cx="2103120" cy="365760"/>
          </a:xfrm>
          <a:prstGeom prst="rect">
            <a:avLst/>
          </a:prstGeom>
          <a:noFill/>
        </p:spPr>
        <p:txBody>
          <a:bodyPr wrap="square">
            <a:spAutoFit/>
          </a:bodyPr>
          <a:lstStyle/>
          <a:p>
            <a:pPr algn="r">
              <a:defRPr sz="1000" b="0">
                <a:solidFill>
                  <a:srgbClr val="848D97"/>
                </a:solidFill>
                <a:latin typeface="Mona Sans"/>
              </a:defRPr>
            </a:pPr>
            <a:r>
              <a:t>2026-04-22</a:t>
            </a:r>
          </a:p>
        </p:txBody>
      </p:sp>
      <p:sp>
        <p:nvSpPr>
          <p:cNvPr id="5" name="TextBox 4"/>
          <p:cNvSpPr txBox="1"/>
          <p:nvPr/>
        </p:nvSpPr>
        <p:spPr>
          <a:xfrm>
            <a:off x="731520" y="1005840"/>
            <a:ext cx="10515600" cy="1155700"/>
          </a:xfrm>
          <a:prstGeom prst="rect">
            <a:avLst/>
          </a:prstGeom>
          <a:noFill/>
        </p:spPr>
        <p:txBody>
          <a:bodyPr wrap="square">
            <a:spAutoFit/>
          </a:bodyPr>
          <a:lstStyle/>
          <a:p>
            <a:pPr>
              <a:spcBef>
                <a:spcPts val="600"/>
              </a:spcBef>
              <a:spcAft>
                <a:spcPts val="400"/>
              </a:spcAft>
            </a:pPr>
            <a:r>
              <a:rPr sz="1500" b="1">
                <a:solidFill>
                  <a:srgbClr val="E6EDF3"/>
                </a:solidFill>
                <a:latin typeface="Mona Sans"/>
              </a:rPr>
              <a:t>What's deprecated</a:t>
            </a:r>
          </a:p>
          <a:p>
            <a:pPr>
              <a:spcAft>
                <a:spcPts val="600"/>
              </a:spcAft>
            </a:pPr>
            <a:r>
              <a:rPr sz="1200" b="1">
                <a:solidFill>
                  <a:srgbClr val="E6EDF3"/>
                </a:solidFill>
                <a:latin typeface="Mona Sans"/>
              </a:rPr>
              <a:t>New self-serve signups for GitHub Copilot Business</a:t>
            </a:r>
            <a:r>
              <a:rPr sz="1200">
                <a:solidFill>
                  <a:srgbClr val="C9D1D9"/>
                </a:solidFill>
                <a:latin typeface="Mona Sans"/>
              </a:rPr>
              <a:t> are paused for organizations on </a:t>
            </a:r>
            <a:r>
              <a:rPr sz="1200" b="1">
                <a:solidFill>
                  <a:srgbClr val="E6EDF3"/>
                </a:solidFill>
                <a:latin typeface="Mona Sans"/>
              </a:rPr>
              <a:t>GitHub Free and GitHub Team plans</a:t>
            </a:r>
            <a:r>
              <a:rPr sz="1200">
                <a:solidFill>
                  <a:srgbClr val="C9D1D9"/>
                </a:solidFill>
                <a:latin typeface="Mona Sans"/>
              </a:rPr>
              <a:t>, effective April 22, 2026. This is a temporary measure to protect service quality for existing customers.</a:t>
            </a:r>
          </a:p>
        </p:txBody>
      </p:sp>
      <p:graphicFrame>
        <p:nvGraphicFramePr>
          <p:cNvPr id="6" name="Table 5"/>
          <p:cNvGraphicFramePr>
            <a:graphicFrameLocks noGrp="1"/>
          </p:cNvGraphicFramePr>
          <p:nvPr/>
        </p:nvGraphicFramePr>
        <p:xfrm>
          <a:off x="731520" y="2263140"/>
          <a:ext cx="9601200" cy="1389888"/>
        </p:xfrm>
        <a:graphic>
          <a:graphicData uri="http://schemas.openxmlformats.org/drawingml/2006/table">
            <a:tbl>
              <a:tblPr firstRow="1" bandRow="0" bandCol="0">
                <a:tableStyleId>{5C22544A-7EE6-4342-B048-85BDC9FD1C3A}</a:tableStyleId>
              </a:tblPr>
              <a:tblGrid>
                <a:gridCol w="4800600"/>
                <a:gridCol w="4800600"/>
              </a:tblGrid>
              <a:tr h="347472">
                <a:tc>
                  <a:txBody>
                    <a:bodyPr/>
                    <a:lstStyle/>
                    <a:p>
                      <a:pPr>
                        <a:defRPr sz="1000" b="1">
                          <a:solidFill>
                            <a:srgbClr val="E6EDF3"/>
                          </a:solidFill>
                          <a:latin typeface="Mona Sans"/>
                        </a:defRPr>
                      </a:pPr>
                      <a:r>
                        <a:t>Affected</a:t>
                      </a:r>
                    </a:p>
                  </a:txBody>
                  <a:tcPr>
                    <a:solidFill>
                      <a:srgbClr val="161B22"/>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1000" b="1">
                          <a:solidFill>
                            <a:srgbClr val="E6EDF3"/>
                          </a:solidFill>
                          <a:latin typeface="Mona Sans"/>
                        </a:defRPr>
                      </a:pPr>
                      <a:r>
                        <a:t>Not affected</a:t>
                      </a:r>
                    </a:p>
                  </a:txBody>
                  <a:tcPr>
                    <a:solidFill>
                      <a:srgbClr val="161B22"/>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47472">
                <a:tc>
                  <a:txBody>
                    <a:bodyPr/>
                    <a:lstStyle/>
                    <a:p>
                      <a:pPr>
                        <a:defRPr sz="1000" b="0">
                          <a:solidFill>
                            <a:srgbClr val="C9D1D9"/>
                          </a:solidFill>
                          <a:latin typeface="Mona Sans"/>
                        </a:defRPr>
                      </a:pPr>
                      <a:r>
                        <a:t>New self-serve signups (GitHub Free / Team plans)</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1000" b="0">
                          <a:solidFill>
                            <a:srgbClr val="C9D1D9"/>
                          </a:solidFill>
                          <a:latin typeface="Mona Sans"/>
                        </a:defRPr>
                      </a:pPr>
                      <a:r>
                        <a:t>Existing Copilot Business customers</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47472">
                <a:tc>
                  <a:txBody>
                    <a:bodyPr/>
                    <a:lstStyle/>
                    <a:p>
                      <a:pPr>
                        <a:defRPr sz="1000" b="0">
                          <a:solidFill>
                            <a:srgbClr val="C9D1D9"/>
                          </a:solidFill>
                          <a:latin typeface="Mona Sans"/>
                        </a:defRPr>
                      </a:pPr>
                      <a:r>
                        <a:t>New seat additions via self-serve for new orgs</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1000" b="0">
                          <a:solidFill>
                            <a:srgbClr val="C9D1D9"/>
                          </a:solidFill>
                          <a:latin typeface="Mona Sans"/>
                        </a:defRPr>
                      </a:pPr>
                      <a:r>
                        <a:t>Adding seats to existing subscriptions</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r h="347472">
                <a:tc>
                  <a:txBody>
                    <a:bodyPr/>
                    <a:lstStyle/>
                    <a:p>
                      <a:pPr>
                        <a:defRPr sz="1000" b="0">
                          <a:solidFill>
                            <a:srgbClr val="C9D1D9"/>
                          </a:solidFill>
                          <a:latin typeface="Mona Sans"/>
                        </a:defRPr>
                      </a:pPr>
                      <a:r>
                        <a:t>New sign-up flow on github.com for eligible orgs</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c>
                  <a:txBody>
                    <a:bodyPr/>
                    <a:lstStyle/>
                    <a:p>
                      <a:pPr>
                        <a:defRPr sz="1000" b="0">
                          <a:solidFill>
                            <a:srgbClr val="C9D1D9"/>
                          </a:solidFill>
                          <a:latin typeface="Mona Sans"/>
                        </a:defRPr>
                      </a:pPr>
                      <a:r>
                        <a:t>GitHub Enterprise customers</a:t>
                      </a:r>
                    </a:p>
                  </a:txBody>
                  <a:tcPr>
                    <a:solidFill>
                      <a:srgbClr val="0D1117"/>
                    </a:solidFill>
                    <a:lnL w="6350" cap="flat" cmpd="sng">
                      <a:solidFill>
                        <a:srgbClr val="30363D"/>
                      </a:solidFill>
                    </a:lnL>
                    <a:lnR w="6350" cap="flat" cmpd="sng">
                      <a:solidFill>
                        <a:srgbClr val="30363D"/>
                      </a:solidFill>
                    </a:lnR>
                    <a:lnT w="6350" cap="flat" cmpd="sng">
                      <a:solidFill>
                        <a:srgbClr val="30363D"/>
                      </a:solidFill>
                    </a:lnT>
                    <a:lnB w="6350" cap="flat" cmpd="sng">
                      <a:solidFill>
                        <a:srgbClr val="30363D"/>
                      </a:solidFill>
                    </a:lnB>
                  </a:tcPr>
                </a:tc>
              </a:tr>
            </a:tbl>
          </a:graphicData>
        </a:graphic>
      </p:graphicFrame>
      <p:sp>
        <p:nvSpPr>
          <p:cNvPr id="7" name="TextBox 6"/>
          <p:cNvSpPr txBox="1"/>
          <p:nvPr/>
        </p:nvSpPr>
        <p:spPr>
          <a:xfrm>
            <a:off x="731520" y="3805428"/>
            <a:ext cx="10515600" cy="2171700"/>
          </a:xfrm>
          <a:prstGeom prst="rect">
            <a:avLst/>
          </a:prstGeom>
          <a:noFill/>
        </p:spPr>
        <p:txBody>
          <a:bodyPr wrap="square">
            <a:spAutoFit/>
          </a:bodyPr>
          <a:lstStyle/>
          <a:p>
            <a:pPr>
              <a:spcBef>
                <a:spcPts val="1000"/>
              </a:spcBef>
              <a:spcAft>
                <a:spcPts val="300"/>
              </a:spcAft>
            </a:pPr>
            <a:r>
              <a:rPr sz="1000" b="1">
                <a:solidFill>
                  <a:srgbClr val="F85449"/>
                </a:solidFill>
                <a:latin typeface="Mona Sans"/>
              </a:rPr>
              <a:t>ACTION REQUIRED</a:t>
            </a:r>
          </a:p>
          <a:p>
            <a:pPr>
              <a:spcAft>
                <a:spcPts val="300"/>
              </a:spcAft>
            </a:pPr>
            <a:r>
              <a:rPr sz="1200">
                <a:solidFill>
                  <a:srgbClr val="F85449"/>
                </a:solidFill>
                <a:latin typeface="Mona Sans"/>
              </a:rPr>
              <a:t>•  </a:t>
            </a:r>
            <a:r>
              <a:rPr sz="1200" b="1">
                <a:solidFill>
                  <a:srgbClr val="E6EDF3"/>
                </a:solidFill>
                <a:latin typeface="Mona Sans"/>
              </a:rPr>
              <a:t>New organizations wanting Copilot Business</a:t>
            </a:r>
            <a:r>
              <a:rPr sz="1200">
                <a:solidFill>
                  <a:srgbClr val="C9D1D9"/>
                </a:solidFill>
                <a:latin typeface="Mona Sans"/>
              </a:rPr>
              <a:t> → wait for GitHub to resume signups; watch for announcements</a:t>
            </a:r>
          </a:p>
          <a:p>
            <a:pPr>
              <a:spcAft>
                <a:spcPts val="300"/>
              </a:spcAft>
            </a:pPr>
            <a:r>
              <a:rPr sz="1200">
                <a:solidFill>
                  <a:srgbClr val="F85449"/>
                </a:solidFill>
                <a:latin typeface="Mona Sans"/>
              </a:rPr>
              <a:t>•  </a:t>
            </a:r>
            <a:r>
              <a:rPr sz="1200" b="1">
                <a:solidFill>
                  <a:srgbClr val="E6EDF3"/>
                </a:solidFill>
                <a:latin typeface="Mona Sans"/>
              </a:rPr>
              <a:t>Existing Copilot Business customers</a:t>
            </a:r>
            <a:r>
              <a:rPr sz="1200">
                <a:solidFill>
                  <a:srgbClr val="C9D1D9"/>
                </a:solidFill>
                <a:latin typeface="Mona Sans"/>
              </a:rPr>
              <a:t> → no action required; add seats and use all features as normal</a:t>
            </a:r>
          </a:p>
          <a:p>
            <a:pPr>
              <a:spcAft>
                <a:spcPts val="300"/>
              </a:spcAft>
            </a:pPr>
            <a:r>
              <a:rPr sz="1200">
                <a:solidFill>
                  <a:srgbClr val="F85449"/>
                </a:solidFill>
                <a:latin typeface="Mona Sans"/>
              </a:rPr>
              <a:t>•  </a:t>
            </a:r>
            <a:r>
              <a:rPr sz="1200" b="1">
                <a:solidFill>
                  <a:srgbClr val="E6EDF3"/>
                </a:solidFill>
                <a:latin typeface="Mona Sans"/>
              </a:rPr>
              <a:t>Enterprise customers</a:t>
            </a:r>
            <a:r>
              <a:rPr sz="1200">
                <a:solidFill>
                  <a:srgbClr val="C9D1D9"/>
                </a:solidFill>
                <a:latin typeface="Mona Sans"/>
              </a:rPr>
              <a:t> → not affected; Copilot Enterprise and enterprise-level Copilot Business continue normally</a:t>
            </a:r>
          </a:p>
          <a:p>
            <a:pPr>
              <a:spcBef>
                <a:spcPts val="1000"/>
              </a:spcBef>
              <a:spcAft>
                <a:spcPts val="300"/>
              </a:spcAft>
            </a:pPr>
            <a:r>
              <a:rPr sz="1000" b="1">
                <a:solidFill>
                  <a:srgbClr val="F85449"/>
                </a:solidFill>
                <a:latin typeface="Mona Sans"/>
              </a:rPr>
              <a:t>TIMELINE</a:t>
            </a:r>
          </a:p>
          <a:p>
            <a:pPr>
              <a:spcAft>
                <a:spcPts val="300"/>
              </a:spcAft>
            </a:pPr>
            <a:r>
              <a:rPr sz="1200">
                <a:solidFill>
                  <a:srgbClr val="F85449"/>
                </a:solidFill>
                <a:latin typeface="Mona Sans"/>
              </a:rPr>
              <a:t>•  </a:t>
            </a:r>
            <a:r>
              <a:rPr sz="1200" b="1">
                <a:solidFill>
                  <a:srgbClr val="E6EDF3"/>
                </a:solidFill>
                <a:latin typeface="Mona Sans"/>
              </a:rPr>
              <a:t>April 22, 2026</a:t>
            </a:r>
            <a:r>
              <a:rPr sz="1200">
                <a:solidFill>
                  <a:srgbClr val="C9D1D9"/>
                </a:solidFill>
                <a:latin typeface="Mona Sans"/>
              </a:rPr>
              <a:t> — self-serve signups paused for GitHub Free/Team plan organizations</a:t>
            </a:r>
          </a:p>
          <a:p>
            <a:pPr>
              <a:spcAft>
                <a:spcPts val="300"/>
              </a:spcAft>
            </a:pPr>
            <a:r>
              <a:rPr sz="1200">
                <a:solidFill>
                  <a:srgbClr val="F85449"/>
                </a:solidFill>
                <a:latin typeface="Mona Sans"/>
              </a:rPr>
              <a:t>•  </a:t>
            </a:r>
            <a:r>
              <a:rPr sz="1200" b="1">
                <a:solidFill>
                  <a:srgbClr val="E6EDF3"/>
                </a:solidFill>
                <a:latin typeface="Mona Sans"/>
              </a:rPr>
              <a:t>TBD</a:t>
            </a:r>
            <a:r>
              <a:rPr sz="1200">
                <a:solidFill>
                  <a:srgbClr val="C9D1D9"/>
                </a:solidFill>
                <a:latin typeface="Mona Sans"/>
              </a:rPr>
              <a:t> — GitHub will announce when signups resume</a:t>
            </a:r>
          </a:p>
        </p:txBody>
      </p:sp>
      <p:sp>
        <p:nvSpPr>
          <p:cNvPr id="8" name="TextBox 7"/>
          <p:cNvSpPr txBox="1"/>
          <p:nvPr/>
        </p:nvSpPr>
        <p:spPr>
          <a:xfrm>
            <a:off x="731520" y="6400800"/>
            <a:ext cx="10515600" cy="365760"/>
          </a:xfrm>
          <a:prstGeom prst="rect">
            <a:avLst/>
          </a:prstGeom>
          <a:noFill/>
        </p:spPr>
        <p:txBody>
          <a:bodyPr wrap="square">
            <a:spAutoFit/>
          </a:bodyPr>
          <a:lstStyle/>
          <a:p>
            <a:r>
              <a:rPr sz="1000">
                <a:solidFill>
                  <a:srgbClr val="C9D1D9"/>
                </a:solidFill>
                <a:latin typeface="Mona Sans"/>
              </a:rPr>
              <a:t>🔗 https://github.blog/changelog/2026-04-22-pausing-new-self-serve-signups-for-github-copilot-business/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